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4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60.xml" ContentType="application/vnd.openxmlformats-officedocument.presentationml.slide+xml"/>
  <Override PartName="/ppt/slides/slide18.xml" ContentType="application/vnd.openxmlformats-officedocument.presentationml.slide+xml"/>
  <Override PartName="/ppt/slides/slide61.xml" ContentType="application/vnd.openxmlformats-officedocument.presentationml.slide+xml"/>
  <Override PartName="/ppt/slides/slide19.xml" ContentType="application/vnd.openxmlformats-officedocument.presentationml.slide+xml"/>
  <Override PartName="/ppt/slides/slide62.xml" ContentType="application/vnd.openxmlformats-officedocument.presentationml.slide+xml"/>
  <Override PartName="/ppt/slides/slide26.xml" ContentType="application/vnd.openxmlformats-officedocument.presentationml.slide+xml"/>
  <Override PartName="/ppt/slides/slide63.xml" ContentType="application/vnd.openxmlformats-officedocument.presentationml.slide+xml"/>
  <Override PartName="/ppt/slides/slide76.xml" ContentType="application/vnd.openxmlformats-officedocument.presentationml.slide+xml"/>
  <Override PartName="/ppt/slides/slide27.xml" ContentType="application/vnd.openxmlformats-officedocument.presentationml.slide+xml"/>
  <Override PartName="/ppt/slides/slide64.xml" ContentType="application/vnd.openxmlformats-officedocument.presentationml.slide+xml"/>
  <Override PartName="/ppt/slides/slide75.xml" ContentType="application/vnd.openxmlformats-officedocument.presentationml.slide+xml"/>
  <Override PartName="/ppt/slides/slide74.xml" ContentType="application/vnd.openxmlformats-officedocument.presentationml.slide+xml"/>
  <Override PartName="/ppt/slides/slide73.xml" ContentType="application/vnd.openxmlformats-officedocument.presentationml.slide+xml"/>
  <Override PartName="/ppt/slides/slide72.xml" ContentType="application/vnd.openxmlformats-officedocument.presentationml.slide+xml"/>
  <Override PartName="/ppt/slides/_rels/slide35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13.xml.rels" ContentType="application/vnd.openxmlformats-package.relationships+xml"/>
  <Override PartName="/ppt/slides/_rels/slide59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5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48.xml.rels" ContentType="application/vnd.openxmlformats-package.relationships+xml"/>
  <Override PartName="/ppt/slides/_rels/slide11.xml.rels" ContentType="application/vnd.openxmlformats-package.relationships+xml"/>
  <Override PartName="/ppt/slides/_rels/slide57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60.xml.rels" ContentType="application/vnd.openxmlformats-package.relationships+xml"/>
  <Override PartName="/ppt/slides/_rels/slide18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46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56.xml.rels" ContentType="application/vnd.openxmlformats-package.relationships+xml"/>
  <Override PartName="/ppt/slides/_rels/slide2.xml.rels" ContentType="application/vnd.openxmlformats-package.relationships+xml"/>
  <Override PartName="/ppt/slides/_rels/slide44.xml.rels" ContentType="application/vnd.openxmlformats-package.relationships+xml"/>
  <Override PartName="/ppt/slides/_rels/slide55.xml.rels" ContentType="application/vnd.openxmlformats-package.relationships+xml"/>
  <Override PartName="/ppt/slides/_rels/slide43.xml.rels" ContentType="application/vnd.openxmlformats-package.relationships+xml"/>
  <Override PartName="/ppt/slides/_rels/slide54.xml.rels" ContentType="application/vnd.openxmlformats-package.relationships+xml"/>
  <Override PartName="/ppt/slides/_rels/slide42.xml.rels" ContentType="application/vnd.openxmlformats-package.relationships+xml"/>
  <Override PartName="/ppt/slides/_rels/slide16.xml.rels" ContentType="application/vnd.openxmlformats-package.relationships+xml"/>
  <Override PartName="/ppt/slides/_rels/slide53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15.xml.rels" ContentType="application/vnd.openxmlformats-package.relationships+xml"/>
  <Override PartName="/ppt/slides/_rels/slide52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14.xml.rels" ContentType="application/vnd.openxmlformats-package.relationships+xml"/>
  <Override PartName="/ppt/slides/_rels/slide51.xml.rels" ContentType="application/vnd.openxmlformats-package.relationships+xml"/>
  <Override PartName="/ppt/slides/_rels/slide50.xml.rels" ContentType="application/vnd.openxmlformats-package.relationships+xml"/>
  <Override PartName="/ppt/slides/_rels/slide45.xml.rels" ContentType="application/vnd.openxmlformats-package.relationships+xml"/>
  <Override PartName="/ppt/slides/_rels/slide61.xml.rels" ContentType="application/vnd.openxmlformats-package.relationships+xml"/>
  <Override PartName="/ppt/slides/_rels/slide19.xml.rels" ContentType="application/vnd.openxmlformats-package.relationships+xml"/>
  <Override PartName="/ppt/slides/_rels/slide62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63.xml.rels" ContentType="application/vnd.openxmlformats-package.relationships+xml"/>
  <Override PartName="/ppt/slides/_rels/slide76.xml.rels" ContentType="application/vnd.openxmlformats-package.relationships+xml"/>
  <Override PartName="/ppt/slides/_rels/slide27.xml.rels" ContentType="application/vnd.openxmlformats-package.relationships+xml"/>
  <Override PartName="/ppt/slides/_rels/slide64.xml.rels" ContentType="application/vnd.openxmlformats-package.relationships+xml"/>
  <Override PartName="/ppt/slides/_rels/slide75.xml.rels" ContentType="application/vnd.openxmlformats-package.relationships+xml"/>
  <Override PartName="/ppt/slides/_rels/slide74.xml.rels" ContentType="application/vnd.openxmlformats-package.relationships+xml"/>
  <Override PartName="/ppt/slides/_rels/slide73.xml.rels" ContentType="application/vnd.openxmlformats-package.relationships+xml"/>
  <Override PartName="/ppt/slides/_rels/slide72.xml.rels" ContentType="application/vnd.openxmlformats-package.relationships+xml"/>
  <Override PartName="/ppt/slides/_rels/slide71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69.xml.rels" ContentType="application/vnd.openxmlformats-package.relationships+xml"/>
  <Override PartName="/ppt/slides/_rels/slide32.xml.rels" ContentType="application/vnd.openxmlformats-package.relationships+xml"/>
  <Override PartName="/ppt/slides/_rels/slide70.xml.rels" ContentType="application/vnd.openxmlformats-package.relationships+xml"/>
  <Override PartName="/ppt/slides/_rels/slide28.xml.rels" ContentType="application/vnd.openxmlformats-package.relationships+xml"/>
  <Override PartName="/ppt/slides/_rels/slide68.xml.rels" ContentType="application/vnd.openxmlformats-package.relationships+xml"/>
  <Override PartName="/ppt/slides/_rels/slide31.xml.rels" ContentType="application/vnd.openxmlformats-package.relationships+xml"/>
  <Override PartName="/ppt/slides/_rels/slide67.xml.rels" ContentType="application/vnd.openxmlformats-package.relationships+xml"/>
  <Override PartName="/ppt/slides/_rels/slide30.xml.rels" ContentType="application/vnd.openxmlformats-package.relationships+xml"/>
  <Override PartName="/ppt/slides/_rels/slide66.xml.rels" ContentType="application/vnd.openxmlformats-package.relationships+xml"/>
  <Override PartName="/ppt/slides/_rels/slide65.xml.rels" ContentType="application/vnd.openxmlformats-package.relationships+xml"/>
  <Override PartName="/ppt/slides/_rels/slide10.xml.rels" ContentType="application/vnd.openxmlformats-package.relationships+xml"/>
  <Override PartName="/ppt/slides/_rels/slide47.xml.rels" ContentType="application/vnd.openxmlformats-package.relationships+xml"/>
  <Override PartName="/ppt/slides/_rels/slide17.xml.rels" ContentType="application/vnd.openxmlformats-package.relationships+xml"/>
  <Override PartName="/ppt/slides/slide71.xml" ContentType="application/vnd.openxmlformats-officedocument.presentationml.slide+xml"/>
  <Override PartName="/ppt/slides/slide29.xml" ContentType="application/vnd.openxmlformats-officedocument.presentationml.slide+xml"/>
  <Override PartName="/ppt/slides/slide69.xml" ContentType="application/vnd.openxmlformats-officedocument.presentationml.slide+xml"/>
  <Override PartName="/ppt/slides/slide32.xml" ContentType="application/vnd.openxmlformats-officedocument.presentationml.slide+xml"/>
  <Override PartName="/ppt/slides/slide70.xml" ContentType="application/vnd.openxmlformats-officedocument.presentationml.slide+xml"/>
  <Override PartName="/ppt/slides/slide28.xml" ContentType="application/vnd.openxmlformats-officedocument.presentationml.slide+xml"/>
  <Override PartName="/ppt/slides/slide68.xml" ContentType="application/vnd.openxmlformats-officedocument.presentationml.slide+xml"/>
  <Override PartName="/ppt/slides/slide31.xml" ContentType="application/vnd.openxmlformats-officedocument.presentationml.slide+xml"/>
  <Override PartName="/ppt/slides/slide67.xml" ContentType="application/vnd.openxmlformats-officedocument.presentationml.slide+xml"/>
  <Override PartName="/ppt/slides/slide30.xml" ContentType="application/vnd.openxmlformats-officedocument.presentationml.slide+xml"/>
  <Override PartName="/ppt/slides/slide66.xml" ContentType="application/vnd.openxmlformats-officedocument.presentationml.slide+xml"/>
  <Override PartName="/ppt/slides/slide65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charts/chart1.xml" ContentType="application/vnd.openxmlformats-officedocument.drawingml.chart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_rels/notesSlide34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56.xml.rels" ContentType="application/vnd.openxmlformats-package.relationships+xml"/>
  <Override PartName="/ppt/notesSlides/_rels/notesSlide48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74.xml.rels" ContentType="application/vnd.openxmlformats-package.relationships+xml"/>
  <Override PartName="/ppt/notesSlides/_rels/notesSlide55.xml.rels" ContentType="application/vnd.openxmlformats-package.relationships+xml"/>
  <Override PartName="/ppt/notesSlides/_rels/notesSlide47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73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49.xml.rels" ContentType="application/vnd.openxmlformats-package.relationships+xml"/>
  <Override PartName="/ppt/notesSlides/_rels/notesSlide58.xml.rels" ContentType="application/vnd.openxmlformats-package.relationships+xml"/>
  <Override PartName="/ppt/notesSlides/_rels/notesSlide59.xml.rels" ContentType="application/vnd.openxmlformats-package.relationships+xml"/>
  <Override PartName="/ppt/notesSlides/_rels/notesSlide6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72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54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3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52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1.xml.rels" ContentType="application/vnd.openxmlformats-package.relationships+xml"/>
  <Override PartName="/ppt/notesSlides/_rels/notesSlide50.xml.rels" ContentType="application/vnd.openxmlformats-package.relationships+xml"/>
  <Override PartName="/ppt/notesSlides/_rels/notesSlide76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46.xml.rels" ContentType="application/vnd.openxmlformats-package.relationships+xml"/>
  <Override PartName="/ppt/notesSlides/_rels/notesSlide45.xml.rels" ContentType="application/vnd.openxmlformats-package.relationships+xml"/>
  <Override PartName="/ppt/notesSlides/_rels/notesSlide44.xml.rels" ContentType="application/vnd.openxmlformats-package.relationships+xml"/>
  <Override PartName="/ppt/notesSlides/_rels/notesSlide4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60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7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69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70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68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67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66.xml.rels" ContentType="application/vnd.openxmlformats-package.relationships+xml"/>
  <Override PartName="/ppt/notesSlides/_rels/notesSlide65.xml.rels" ContentType="application/vnd.openxmlformats-package.relationships+xml"/>
  <Override PartName="/ppt/notesSlides/_rels/notesSlide6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6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6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57.xml.rels" ContentType="application/vnd.openxmlformats-package.relationships+xml"/>
  <Override PartName="/ppt/notesSlides/_rels/notesSlide75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2.xml.rels" ContentType="application/vnd.openxmlformats-package.relationships+xml"/>
  <Override PartName="/ppt/notesSlides/notesSlide7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200" spc="-1" strike="noStrike">
                <a:solidFill>
                  <a:srgbClr val="005587"/>
                </a:solidFill>
                <a:latin typeface="Calibri"/>
              </a:defRPr>
            </a:pPr>
            <a:r>
              <a:rPr b="0" sz="1200" spc="-1" strike="noStrike">
                <a:solidFill>
                  <a:srgbClr val="005587"/>
                </a:solidFill>
                <a:latin typeface="Calibri"/>
              </a:rPr>
              <a:t>Calc-chain throughput (k records/sec, 50k heterogeneous trades)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Throughput</c:v>
                </c:pt>
              </c:strCache>
            </c:strRef>
          </c:tx>
          <c:spPr>
            <a:solidFill>
              <a:srgbClr val="9cc3dd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9cc3dd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3f93c7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0079c1"/>
              </a:solidFill>
              <a:ln w="0">
                <a:noFill/>
              </a:ln>
            </c:spPr>
          </c:dPt>
          <c:dLbls>
            <c:numFmt formatCode="#,##0.0\k" sourceLinked="0"/>
            <c:dLbl>
              <c:idx val="0"/>
              <c:numFmt formatCode="#,##0.0\k" sourceLinked="0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5587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.0\k" sourceLinked="0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5587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.0\k" sourceLinked="0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5587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5587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Row</c:v>
                </c:pt>
                <c:pt idx="1">
                  <c:v>Array</c:v>
                </c:pt>
                <c:pt idx="2">
                  <c:v>Arrow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7.4</c:v>
                </c:pt>
                <c:pt idx="1">
                  <c:v>17</c:v>
                </c:pt>
                <c:pt idx="2">
                  <c:v>55</c:v>
                </c:pt>
              </c:numCache>
            </c:numRef>
          </c:val>
        </c:ser>
        <c:gapWidth val="150"/>
        <c:overlap val="0"/>
        <c:axId val="49785023"/>
        <c:axId val="23794392"/>
      </c:barChart>
      <c:catAx>
        <c:axId val="4978502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334155"/>
                </a:solidFill>
                <a:latin typeface="Calibri"/>
              </a:defRPr>
            </a:pPr>
          </a:p>
        </c:txPr>
        <c:crossAx val="23794392"/>
        <c:crosses val="autoZero"/>
        <c:auto val="1"/>
        <c:lblAlgn val="ctr"/>
        <c:lblOffset val="100"/>
        <c:noMultiLvlLbl val="0"/>
      </c:catAx>
      <c:valAx>
        <c:axId val="23794392"/>
        <c:scaling>
          <c:orientation val="minMax"/>
        </c:scaling>
        <c:delete val="0"/>
        <c:axPos val="l"/>
        <c:majorGridlines>
          <c:spPr>
            <a:ln w="6480">
              <a:solidFill>
                <a:srgbClr val="e8eef5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334155"/>
                </a:solidFill>
                <a:latin typeface="Calibri"/>
              </a:defRPr>
            </a:pPr>
          </a:p>
        </c:txPr>
        <c:crossAx val="49785023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4692584-ED77-4F41-A324-7127692F551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_rels/notesSlide72.xml.rels><?xml version="1.0" encoding="UTF-8"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
</Relationships>
</file>

<file path=ppt/notesSlides/_rels/notesSlide73.xml.rels><?xml version="1.0" encoding="UTF-8"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
</Relationships>
</file>

<file path=ppt/notesSlides/_rels/notesSlide74.xml.rels><?xml version="1.0" encoding="UTF-8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
</Relationships>
</file>

<file path=ppt/notesSlides/_rels/notesSlide75.xml.rels><?xml version="1.0" encoding="UTF-8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
</Relationships>
</file>

<file path=ppt/notesSlides/_rels/notesSlide76.xml.rels><?xml version="1.0" encoding="UTF-8"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DishtaYantra is a single-node, in-process reactive DAG compute server: connect to live sources, compute with reusable calculators, publish in real time — designed visually in the browser. This deck runs from the executive summary through architecture, connectors, calculators, the designer, security, operations, performance, and roadmap.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9B9ECC-BC53-4C96-BEE6-4532C9EAA37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6B5CA5-18BB-47EB-BD80-8E17ECD1004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300D20-9F0E-40D2-999A-74EBD6BFA31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D07267-8DB7-47EF-9A59-84A166FE6D6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D6FA81-CDFE-4998-8990-E8E8384111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AB02DD-FC09-479B-A3B4-5A860E9D408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7FC2D2-D0A3-4069-B945-E8BC8285937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9CAC8F-18E7-4A55-80C3-CC74C935018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D32339-31CB-4521-8A67-897D77CDD00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10D8CC-785A-443C-B2EE-89BE4E74D36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BA0913-764C-4B31-92C8-D9B73426275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6F3D22-3576-4D4E-AF4B-A3F421D2693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266ED4-0F42-421D-93D0-1A033368239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147004-13F3-4F4D-B755-68310326132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114259-5E2D-4A3F-93F2-E457CF32EFC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428E67-F4F5-4051-AC46-B2B6203C08C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B069C9-8627-4AD5-85DA-4360E487DD5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C37163-DD4B-4125-BB2D-D27352F9F67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D76E7B-AC12-4EE6-AF3F-6BEE4F36AD9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969EE5-6912-4F5D-AF9C-0F74672B449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1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B90426-C0C2-4EE6-8B50-0654934F607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4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5DBBB0-670B-4C07-B259-594BFFC3044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7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0232B2-EE9A-4C2C-9BD6-79868686AD3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0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BFB173-C091-4414-9553-57549A46D64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3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0D2291-84A5-4B32-9C96-9DB98824D80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6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0442E9-8BFB-4F50-9927-73809035EC5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9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74F996-3A1D-481F-ADDA-E7478D629F5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2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154EAC-B3A7-4B96-A0DB-9C7255130F8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5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517603-BF00-4536-8F7B-94BA3B48839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8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449C7A-13B6-4535-B48C-81D367DA180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1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2C8A79-80FD-4EBD-86B0-A841D315206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4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EB4078-548B-4412-8569-1649CF9F455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7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97BDF0-5772-47DD-A1EF-7379F7A6CC8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0FBA84-1083-4506-8D9A-48728F5C300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3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A87A0E-25C6-4189-837F-B4167E66AB1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6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42D326-88DC-49A1-873F-368BC79835E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9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156D75-47CC-4CF4-B674-4D7D3F0BDDF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2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9902C3-6E83-4940-A714-017E98B13CB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5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C971EB-3851-4BBB-AF2F-0B5F54BC849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8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426E56-8C07-4362-A656-634CAAC7D63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1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2BB79A-D64A-4DF7-B169-56FCEFF18B1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4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AB36DD-F1BC-4291-9320-3E5F681A285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7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E6B81B-4551-4B36-B06C-77EA7827C4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0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77800D-7357-493B-8827-173CBCB1C56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3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D41902-8764-40D5-BFE7-C7AB024D07D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6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F2B691-6321-4A57-AC68-B72183C69ED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9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B6F566-9916-4ADD-A602-28547277B9D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2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B19602-075A-41F1-AB10-9360544F793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5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5C67DA-EEEC-4DBD-A02C-BF1E8AF27B1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8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68F4AE-8AC5-41C1-B228-EA616A9E36F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1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C35A6D-7F77-4AF0-AB12-78716E6A98A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4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2DC2A9-6C41-497C-B06A-E865E5F827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7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80DB78-0505-4EC6-8903-E1121ECE49B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0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7C0945-F7E0-4E1B-BDFC-4CB10D677E0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3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F7D9A0-0276-4899-AD6C-63254B54D5A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6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3C716B-81D3-4E97-BD27-16DDBA59789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9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E75F41-4CBE-459E-AB19-532B88799D7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2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793009-EDCD-4ACA-9651-0B01FD3F45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5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6E87E3-DF19-422A-A9B8-C5CA3B29FC5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8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ED00A6-41E9-4FCF-9111-9EF777E20F1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1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B95B4F-1D79-4C14-81FF-C171A56A8CF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4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DEE525-37F3-4CFA-A9E9-CAF465BDFF8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7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C60683-6B00-490C-AA49-22B8C9CB8CB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0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A416BE-E7C9-48D0-8D44-961D933D3C1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3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6FEC31-0708-496B-8CFD-804782A48C7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6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36D272-28FC-4DB2-903F-E6840A4E292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9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7765DB-76A5-49DE-AA45-FDA5B0D7FC4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2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658D19-7FBE-48B4-851C-4A90C22C3C0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5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A6088E-9D56-4480-AFBB-B1BB77B7FA3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8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29B71B-9C49-4DE7-B671-E431E049912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1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ECEB12-0F85-4DE6-AD01-058AD631EC2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4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8303B0-22FD-4A64-B8AC-A9F1AA891ED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7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49720D-70DB-40FA-93A9-6A5647E7E91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0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47719A-FD58-4709-BEFF-06EAC2C96C9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3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137B40-BD3B-4A4E-BDBA-748B463D783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Close on the vision: DishtaYantra is the single instrument for governed real-time data. Invite a pilot conversation around a concrete use case and integration targets.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6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CC909E-C176-4406-A715-68AC06B4487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5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8595360" y="1188720"/>
            <a:ext cx="145800" cy="145800"/>
          </a:xfrm>
          <a:prstGeom prst="ellipse">
            <a:avLst/>
          </a:prstGeom>
          <a:solidFill>
            <a:srgbClr val="0e62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8595360" y="2834640"/>
            <a:ext cx="145800" cy="145800"/>
          </a:xfrm>
          <a:prstGeom prst="ellipse">
            <a:avLst/>
          </a:prstGeom>
          <a:solidFill>
            <a:srgbClr val="0e62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8595360" y="4480560"/>
            <a:ext cx="145800" cy="145800"/>
          </a:xfrm>
          <a:prstGeom prst="ellipse">
            <a:avLst/>
          </a:prstGeom>
          <a:solidFill>
            <a:srgbClr val="0e62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9418320" y="2011680"/>
            <a:ext cx="145800" cy="145800"/>
          </a:xfrm>
          <a:prstGeom prst="ellipse">
            <a:avLst/>
          </a:prstGeom>
          <a:solidFill>
            <a:srgbClr val="0e62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9418320" y="3657600"/>
            <a:ext cx="145800" cy="145800"/>
          </a:xfrm>
          <a:prstGeom prst="ellipse">
            <a:avLst/>
          </a:prstGeom>
          <a:solidFill>
            <a:srgbClr val="0e62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10241280" y="1188720"/>
            <a:ext cx="145800" cy="145800"/>
          </a:xfrm>
          <a:prstGeom prst="ellipse">
            <a:avLst/>
          </a:prstGeom>
          <a:solidFill>
            <a:srgbClr val="0e62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10241280" y="2834640"/>
            <a:ext cx="145800" cy="145800"/>
          </a:xfrm>
          <a:prstGeom prst="ellipse">
            <a:avLst/>
          </a:prstGeom>
          <a:solidFill>
            <a:srgbClr val="0e62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10241280" y="4480560"/>
            <a:ext cx="145800" cy="145800"/>
          </a:xfrm>
          <a:prstGeom prst="ellipse">
            <a:avLst/>
          </a:prstGeom>
          <a:solidFill>
            <a:srgbClr val="0e62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11064240" y="2011680"/>
            <a:ext cx="145800" cy="145800"/>
          </a:xfrm>
          <a:prstGeom prst="ellipse">
            <a:avLst/>
          </a:prstGeom>
          <a:solidFill>
            <a:srgbClr val="0e62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11064240" y="3657600"/>
            <a:ext cx="145800" cy="145800"/>
          </a:xfrm>
          <a:prstGeom prst="ellipse">
            <a:avLst/>
          </a:prstGeom>
          <a:solidFill>
            <a:srgbClr val="0e62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548640" y="54864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567000" y="17830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99" strike="noStrike">
                <a:solidFill>
                  <a:srgbClr val="5fb0e0"/>
                </a:solidFill>
                <a:latin typeface="Calibri"/>
                <a:ea typeface="Calibri"/>
              </a:rPr>
              <a:t>TECHNICAL &amp; EXECUTIVE OVERVIEW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548640" y="2240280"/>
            <a:ext cx="1024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567000" y="3611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900" spc="-1" strike="noStrike">
                <a:solidFill>
                  <a:srgbClr val="cfe3f2"/>
                </a:solidFill>
                <a:latin typeface="Calibri"/>
                <a:ea typeface="Calibri"/>
              </a:rPr>
              <a:t>A reactive compute platform for real-time data pipelines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594360" y="4343400"/>
            <a:ext cx="3108600" cy="270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567000" y="45720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Ashutosh Sinha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567000" y="49834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fc2dc"/>
                </a:solidFill>
                <a:latin typeface="Calibri"/>
                <a:ea typeface="Calibri"/>
              </a:rPr>
              <a:t>Version 5.25.1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6245280" y="63550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fc2dc"/>
                </a:solidFill>
                <a:latin typeface="Calibri"/>
                <a:ea typeface="Calibri"/>
              </a:rPr>
              <a:t>DishtaYantra  •  Ashutosh Sinha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Overview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TL;DR — Executive Summary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10"/>
          <p:cNvSpPr/>
          <p:nvPr/>
        </p:nvSpPr>
        <p:spPr>
          <a:xfrm>
            <a:off x="502920" y="1691640"/>
            <a:ext cx="11182680" cy="798840"/>
          </a:xfrm>
          <a:prstGeom prst="roundRect">
            <a:avLst>
              <a:gd name="adj" fmla="val 4577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1"/>
          <p:cNvSpPr/>
          <p:nvPr/>
        </p:nvSpPr>
        <p:spPr>
          <a:xfrm>
            <a:off x="777240" y="1691640"/>
            <a:ext cx="338292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What is it?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2"/>
          <p:cNvSpPr/>
          <p:nvPr/>
        </p:nvSpPr>
        <p:spPr>
          <a:xfrm>
            <a:off x="4343400" y="1737360"/>
            <a:ext cx="70678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A single-node, in-process reactive DAG compute server (FastAPI / Python). It runs computation graphs over live data — subscribe, compute, publish — defined visually in the browser.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3"/>
          <p:cNvSpPr/>
          <p:nvPr/>
        </p:nvSpPr>
        <p:spPr>
          <a:xfrm>
            <a:off x="502920" y="2619000"/>
            <a:ext cx="11182680" cy="798840"/>
          </a:xfrm>
          <a:prstGeom prst="roundRect">
            <a:avLst>
              <a:gd name="adj" fmla="val 4577"/>
            </a:avLst>
          </a:prstGeom>
          <a:solidFill>
            <a:srgbClr val="eaf1f8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4"/>
          <p:cNvSpPr/>
          <p:nvPr/>
        </p:nvSpPr>
        <p:spPr>
          <a:xfrm>
            <a:off x="777240" y="2619000"/>
            <a:ext cx="338292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What does it do?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5"/>
          <p:cNvSpPr/>
          <p:nvPr/>
        </p:nvSpPr>
        <p:spPr>
          <a:xfrm>
            <a:off x="4343400" y="2664720"/>
            <a:ext cx="70678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Connects 30+ source/sink types, transforms with reusable multi-language calculators, and publishes results in real time. Nodes recompute only when their inputs change.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16"/>
          <p:cNvSpPr/>
          <p:nvPr/>
        </p:nvSpPr>
        <p:spPr>
          <a:xfrm>
            <a:off x="502920" y="3546000"/>
            <a:ext cx="11182680" cy="798840"/>
          </a:xfrm>
          <a:prstGeom prst="roundRect">
            <a:avLst>
              <a:gd name="adj" fmla="val 4577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7"/>
          <p:cNvSpPr/>
          <p:nvPr/>
        </p:nvSpPr>
        <p:spPr>
          <a:xfrm>
            <a:off x="777240" y="3546000"/>
            <a:ext cx="338292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Why does it matter?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8"/>
          <p:cNvSpPr/>
          <p:nvPr/>
        </p:nvSpPr>
        <p:spPr>
          <a:xfrm>
            <a:off x="4343400" y="3591720"/>
            <a:ext cx="70678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Replaces bespoke pipeline code with one governed platform: faster delivery, lower infrastructure footprint, and built-in security, audit, and operations.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19"/>
          <p:cNvSpPr/>
          <p:nvPr/>
        </p:nvSpPr>
        <p:spPr>
          <a:xfrm>
            <a:off x="502920" y="4473360"/>
            <a:ext cx="11182680" cy="798840"/>
          </a:xfrm>
          <a:prstGeom prst="roundRect">
            <a:avLst>
              <a:gd name="adj" fmla="val 4577"/>
            </a:avLst>
          </a:prstGeom>
          <a:solidFill>
            <a:srgbClr val="eaf1f8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20"/>
          <p:cNvSpPr/>
          <p:nvPr/>
        </p:nvSpPr>
        <p:spPr>
          <a:xfrm>
            <a:off x="777240" y="4473360"/>
            <a:ext cx="338292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What can it do today?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1"/>
          <p:cNvSpPr/>
          <p:nvPr/>
        </p:nvSpPr>
        <p:spPr>
          <a:xfrm>
            <a:off x="4343400" y="4519080"/>
            <a:ext cx="70678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Kafka/cloud/SQL/MQ/REST connectors; Python, C++, Rust, JVM, Arrow &amp; WASM calculators; visual DAG Designer; RBAC, API keys, audit trail; admin CLI; Prometheus metrics.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22"/>
          <p:cNvSpPr/>
          <p:nvPr/>
        </p:nvSpPr>
        <p:spPr>
          <a:xfrm>
            <a:off x="502920" y="5400360"/>
            <a:ext cx="11182680" cy="798840"/>
          </a:xfrm>
          <a:prstGeom prst="roundRect">
            <a:avLst>
              <a:gd name="adj" fmla="val 4577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23"/>
          <p:cNvSpPr/>
          <p:nvPr/>
        </p:nvSpPr>
        <p:spPr>
          <a:xfrm>
            <a:off x="777240" y="5400360"/>
            <a:ext cx="338292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Where is it going?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4"/>
          <p:cNvSpPr/>
          <p:nvPr/>
        </p:nvSpPr>
        <p:spPr>
          <a:xfrm>
            <a:off x="4343400" y="5446080"/>
            <a:ext cx="70678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API-driven designer palette, broader connector catalog, managed key administration, and horizontal scale-out for the highest-volume workloads.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Overview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The Challenge — Real-Time Data Is Hard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Data is fragmented across brokers, databases, cloud services, and APIs — wiring them together is slow and brittle.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Batch and nightly jobs add latency; decisions increasingly need fresh data in seconds, not hours.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Every new pipeline means more bespoke code, more infrastructure to run, and more to secure and maintain.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Hand-built pipelines rarely come with access control, audit, or safe-operations baked in.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Re-computing everything on every event wastes compute and inflates cost and latency.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Organizations need a governed platform that turns live data into real-time results — without rebuilding plumbing for every use case.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Overview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What Is DishtaYantra?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A platform that executes computation graphs (DAGs) over streaming data, in a single in-process engine.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Each node wraps either a pub/sub connector (a source or sink) or a calculator (a unit of compute).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It is reactive: a node recomputes only when its inputs actually change — the equality gate.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Pipelines are designed, changed, and operated visually in a browser-based DAG Designer — no build pipeline.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Enterprise concerns — authentication, RBAC, audit, maintenance windows, durable delivery — are built in.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Connect anything, compute in any language, publish in real time — governed end to end.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Overview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Ten Principles Behind DishtaYantra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10"/>
          <p:cNvSpPr/>
          <p:nvPr/>
        </p:nvSpPr>
        <p:spPr>
          <a:xfrm>
            <a:off x="502920" y="171576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11"/>
          <p:cNvSpPr/>
          <p:nvPr/>
        </p:nvSpPr>
        <p:spPr>
          <a:xfrm>
            <a:off x="502920" y="171576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2"/>
          <p:cNvSpPr/>
          <p:nvPr/>
        </p:nvSpPr>
        <p:spPr>
          <a:xfrm>
            <a:off x="1097280" y="1710000"/>
            <a:ext cx="374868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Reactive by default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3"/>
          <p:cNvSpPr/>
          <p:nvPr/>
        </p:nvSpPr>
        <p:spPr>
          <a:xfrm>
            <a:off x="4983480" y="1710000"/>
            <a:ext cx="670212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Nodes recompute only on input change — predictable low latency, no wasted work.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4"/>
          <p:cNvSpPr/>
          <p:nvPr/>
        </p:nvSpPr>
        <p:spPr>
          <a:xfrm>
            <a:off x="502920" y="216684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502920" y="216684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6"/>
          <p:cNvSpPr/>
          <p:nvPr/>
        </p:nvSpPr>
        <p:spPr>
          <a:xfrm>
            <a:off x="1097280" y="2160720"/>
            <a:ext cx="374868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One graph, many sources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7"/>
          <p:cNvSpPr/>
          <p:nvPr/>
        </p:nvSpPr>
        <p:spPr>
          <a:xfrm>
            <a:off x="4983480" y="2160720"/>
            <a:ext cx="670212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A single DAG spans brokers, databases, cloud, and APIs through uniform connectors.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8"/>
          <p:cNvSpPr/>
          <p:nvPr/>
        </p:nvSpPr>
        <p:spPr>
          <a:xfrm>
            <a:off x="502920" y="261756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19"/>
          <p:cNvSpPr/>
          <p:nvPr/>
        </p:nvSpPr>
        <p:spPr>
          <a:xfrm>
            <a:off x="502920" y="261756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20"/>
          <p:cNvSpPr/>
          <p:nvPr/>
        </p:nvSpPr>
        <p:spPr>
          <a:xfrm>
            <a:off x="1097280" y="2611440"/>
            <a:ext cx="374868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Language-agnostic compute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21"/>
          <p:cNvSpPr/>
          <p:nvPr/>
        </p:nvSpPr>
        <p:spPr>
          <a:xfrm>
            <a:off x="4983480" y="2611440"/>
            <a:ext cx="670212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Calculators run in Python, C++, Rust, JVM, Arrow, or WASM — the right tool per job.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22"/>
          <p:cNvSpPr/>
          <p:nvPr/>
        </p:nvSpPr>
        <p:spPr>
          <a:xfrm>
            <a:off x="502920" y="306828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23"/>
          <p:cNvSpPr/>
          <p:nvPr/>
        </p:nvSpPr>
        <p:spPr>
          <a:xfrm>
            <a:off x="502920" y="30682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24"/>
          <p:cNvSpPr/>
          <p:nvPr/>
        </p:nvSpPr>
        <p:spPr>
          <a:xfrm>
            <a:off x="1097280" y="3062160"/>
            <a:ext cx="374868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Design visually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25"/>
          <p:cNvSpPr/>
          <p:nvPr/>
        </p:nvSpPr>
        <p:spPr>
          <a:xfrm>
            <a:off x="4983480" y="3062160"/>
            <a:ext cx="670212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Build and change pipelines in the browser; the graph is the program.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26"/>
          <p:cNvSpPr/>
          <p:nvPr/>
        </p:nvSpPr>
        <p:spPr>
          <a:xfrm>
            <a:off x="502920" y="351900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27"/>
          <p:cNvSpPr/>
          <p:nvPr/>
        </p:nvSpPr>
        <p:spPr>
          <a:xfrm>
            <a:off x="502920" y="35190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28"/>
          <p:cNvSpPr/>
          <p:nvPr/>
        </p:nvSpPr>
        <p:spPr>
          <a:xfrm>
            <a:off x="1097280" y="3513240"/>
            <a:ext cx="374868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No silent defaults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29"/>
          <p:cNvSpPr/>
          <p:nvPr/>
        </p:nvSpPr>
        <p:spPr>
          <a:xfrm>
            <a:off x="4983480" y="3513240"/>
            <a:ext cx="670212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Configuration is explicit; failures surface rather than being swallowed.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30"/>
          <p:cNvSpPr/>
          <p:nvPr/>
        </p:nvSpPr>
        <p:spPr>
          <a:xfrm>
            <a:off x="502920" y="396972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31"/>
          <p:cNvSpPr/>
          <p:nvPr/>
        </p:nvSpPr>
        <p:spPr>
          <a:xfrm>
            <a:off x="502920" y="396972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32"/>
          <p:cNvSpPr/>
          <p:nvPr/>
        </p:nvSpPr>
        <p:spPr>
          <a:xfrm>
            <a:off x="1097280" y="3963960"/>
            <a:ext cx="374868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Additive &amp; backward-compatible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33"/>
          <p:cNvSpPr/>
          <p:nvPr/>
        </p:nvSpPr>
        <p:spPr>
          <a:xfrm>
            <a:off x="4983480" y="3963960"/>
            <a:ext cx="670212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Changes never break existing pipelines — safe to evolve in production.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34"/>
          <p:cNvSpPr/>
          <p:nvPr/>
        </p:nvSpPr>
        <p:spPr>
          <a:xfrm>
            <a:off x="502920" y="442080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35"/>
          <p:cNvSpPr/>
          <p:nvPr/>
        </p:nvSpPr>
        <p:spPr>
          <a:xfrm>
            <a:off x="502920" y="44208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36"/>
          <p:cNvSpPr/>
          <p:nvPr/>
        </p:nvSpPr>
        <p:spPr>
          <a:xfrm>
            <a:off x="1097280" y="4414680"/>
            <a:ext cx="374868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Verified, not asserted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37"/>
          <p:cNvSpPr/>
          <p:nvPr/>
        </p:nvSpPr>
        <p:spPr>
          <a:xfrm>
            <a:off x="4983480" y="4414680"/>
            <a:ext cx="670212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Behavior is demonstrated by tests; every release runs a full suite.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38"/>
          <p:cNvSpPr/>
          <p:nvPr/>
        </p:nvSpPr>
        <p:spPr>
          <a:xfrm>
            <a:off x="502920" y="487152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39"/>
          <p:cNvSpPr/>
          <p:nvPr/>
        </p:nvSpPr>
        <p:spPr>
          <a:xfrm>
            <a:off x="502920" y="487152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40"/>
          <p:cNvSpPr/>
          <p:nvPr/>
        </p:nvSpPr>
        <p:spPr>
          <a:xfrm>
            <a:off x="1097280" y="4865400"/>
            <a:ext cx="374868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Secure &amp; governed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41"/>
          <p:cNvSpPr/>
          <p:nvPr/>
        </p:nvSpPr>
        <p:spPr>
          <a:xfrm>
            <a:off x="4983480" y="4865400"/>
            <a:ext cx="670212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RBAC, API keys, and an append-only audit trail are first-class.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42"/>
          <p:cNvSpPr/>
          <p:nvPr/>
        </p:nvSpPr>
        <p:spPr>
          <a:xfrm>
            <a:off x="502920" y="532224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43"/>
          <p:cNvSpPr/>
          <p:nvPr/>
        </p:nvSpPr>
        <p:spPr>
          <a:xfrm>
            <a:off x="502920" y="532224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9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44"/>
          <p:cNvSpPr/>
          <p:nvPr/>
        </p:nvSpPr>
        <p:spPr>
          <a:xfrm>
            <a:off x="1097280" y="5316480"/>
            <a:ext cx="374868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Operate safely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45"/>
          <p:cNvSpPr/>
          <p:nvPr/>
        </p:nvSpPr>
        <p:spPr>
          <a:xfrm>
            <a:off x="4983480" y="5316480"/>
            <a:ext cx="670212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Maintenance/drain windows and durable egress enable zero-loss operations.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46"/>
          <p:cNvSpPr/>
          <p:nvPr/>
        </p:nvSpPr>
        <p:spPr>
          <a:xfrm>
            <a:off x="502920" y="577296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47"/>
          <p:cNvSpPr/>
          <p:nvPr/>
        </p:nvSpPr>
        <p:spPr>
          <a:xfrm>
            <a:off x="502920" y="577296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10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48"/>
          <p:cNvSpPr/>
          <p:nvPr/>
        </p:nvSpPr>
        <p:spPr>
          <a:xfrm>
            <a:off x="1097280" y="5767200"/>
            <a:ext cx="374868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Efficient by design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49"/>
          <p:cNvSpPr/>
          <p:nvPr/>
        </p:nvSpPr>
        <p:spPr>
          <a:xfrm>
            <a:off x="4983480" y="5767200"/>
            <a:ext cx="670212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An in-process single-node engine does more per machine — lower cost to run.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Overview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The Core Idea — Connect, Compute, Publish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10"/>
          <p:cNvSpPr/>
          <p:nvPr/>
        </p:nvSpPr>
        <p:spPr>
          <a:xfrm>
            <a:off x="502920" y="1691640"/>
            <a:ext cx="3544560" cy="3638880"/>
          </a:xfrm>
          <a:prstGeom prst="roundRect">
            <a:avLst>
              <a:gd name="adj" fmla="val 103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1"/>
          <p:cNvSpPr/>
          <p:nvPr/>
        </p:nvSpPr>
        <p:spPr>
          <a:xfrm>
            <a:off x="758880" y="192924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12"/>
          <p:cNvSpPr/>
          <p:nvPr/>
        </p:nvSpPr>
        <p:spPr>
          <a:xfrm>
            <a:off x="75888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3"/>
          <p:cNvSpPr/>
          <p:nvPr/>
        </p:nvSpPr>
        <p:spPr>
          <a:xfrm>
            <a:off x="1371600" y="1911240"/>
            <a:ext cx="244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Connect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4"/>
          <p:cNvSpPr/>
          <p:nvPr/>
        </p:nvSpPr>
        <p:spPr>
          <a:xfrm>
            <a:off x="777240" y="2532960"/>
            <a:ext cx="2995920" cy="26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Subscribe to 30+ source types — Kafka, cloud queues, databases, message buses, REST. One uniform connector model.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5"/>
          <p:cNvSpPr/>
          <p:nvPr/>
        </p:nvSpPr>
        <p:spPr>
          <a:xfrm>
            <a:off x="4322160" y="1691640"/>
            <a:ext cx="3544560" cy="3638880"/>
          </a:xfrm>
          <a:prstGeom prst="roundRect">
            <a:avLst>
              <a:gd name="adj" fmla="val 103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16"/>
          <p:cNvSpPr/>
          <p:nvPr/>
        </p:nvSpPr>
        <p:spPr>
          <a:xfrm>
            <a:off x="4578120" y="1929240"/>
            <a:ext cx="456840" cy="456840"/>
          </a:xfrm>
          <a:prstGeom prst="ellipse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17"/>
          <p:cNvSpPr/>
          <p:nvPr/>
        </p:nvSpPr>
        <p:spPr>
          <a:xfrm>
            <a:off x="457812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8"/>
          <p:cNvSpPr/>
          <p:nvPr/>
        </p:nvSpPr>
        <p:spPr>
          <a:xfrm>
            <a:off x="5190840" y="1911240"/>
            <a:ext cx="244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Compute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9"/>
          <p:cNvSpPr/>
          <p:nvPr/>
        </p:nvSpPr>
        <p:spPr>
          <a:xfrm>
            <a:off x="4596480" y="2532960"/>
            <a:ext cx="2995920" cy="26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Chain reusable calculators in any language to validate, enrich, normalize, value, and score data as it flows.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0"/>
          <p:cNvSpPr/>
          <p:nvPr/>
        </p:nvSpPr>
        <p:spPr>
          <a:xfrm>
            <a:off x="8141040" y="1691640"/>
            <a:ext cx="3544560" cy="3638880"/>
          </a:xfrm>
          <a:prstGeom prst="roundRect">
            <a:avLst>
              <a:gd name="adj" fmla="val 103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21"/>
          <p:cNvSpPr/>
          <p:nvPr/>
        </p:nvSpPr>
        <p:spPr>
          <a:xfrm>
            <a:off x="8397360" y="192924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22"/>
          <p:cNvSpPr/>
          <p:nvPr/>
        </p:nvSpPr>
        <p:spPr>
          <a:xfrm>
            <a:off x="839736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23"/>
          <p:cNvSpPr/>
          <p:nvPr/>
        </p:nvSpPr>
        <p:spPr>
          <a:xfrm>
            <a:off x="9009720" y="1911240"/>
            <a:ext cx="244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Publish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24"/>
          <p:cNvSpPr/>
          <p:nvPr/>
        </p:nvSpPr>
        <p:spPr>
          <a:xfrm>
            <a:off x="8415360" y="2532960"/>
            <a:ext cx="2995920" cy="26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Deliver results to any destination, reliably and in real time — with write-ahead-log durability where needed.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25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26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The same three-step model scales from a single enrichment step to a full multi-stage ETL and risk pipeline.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Overview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Who It's For &amp; What Changes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10"/>
          <p:cNvSpPr/>
          <p:nvPr/>
        </p:nvSpPr>
        <p:spPr>
          <a:xfrm>
            <a:off x="502920" y="1691640"/>
            <a:ext cx="11182680" cy="798840"/>
          </a:xfrm>
          <a:prstGeom prst="roundRect">
            <a:avLst>
              <a:gd name="adj" fmla="val 4577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1"/>
          <p:cNvSpPr/>
          <p:nvPr/>
        </p:nvSpPr>
        <p:spPr>
          <a:xfrm>
            <a:off x="777240" y="1691640"/>
            <a:ext cx="338292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Data &amp; platform teams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2"/>
          <p:cNvSpPr/>
          <p:nvPr/>
        </p:nvSpPr>
        <p:spPr>
          <a:xfrm>
            <a:off x="4343400" y="1737360"/>
            <a:ext cx="70678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Stand up real-time pipelines without building bespoke plumbing for every integration.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3"/>
          <p:cNvSpPr/>
          <p:nvPr/>
        </p:nvSpPr>
        <p:spPr>
          <a:xfrm>
            <a:off x="502920" y="2619000"/>
            <a:ext cx="11182680" cy="798840"/>
          </a:xfrm>
          <a:prstGeom prst="roundRect">
            <a:avLst>
              <a:gd name="adj" fmla="val 4577"/>
            </a:avLst>
          </a:prstGeom>
          <a:solidFill>
            <a:srgbClr val="eaf1f8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4"/>
          <p:cNvSpPr/>
          <p:nvPr/>
        </p:nvSpPr>
        <p:spPr>
          <a:xfrm>
            <a:off x="777240" y="2619000"/>
            <a:ext cx="338292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Quant &amp; analytics teams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5"/>
          <p:cNvSpPr/>
          <p:nvPr/>
        </p:nvSpPr>
        <p:spPr>
          <a:xfrm>
            <a:off x="4343400" y="2664720"/>
            <a:ext cx="70678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Express domain logic as reusable calculators; iterate visually without redeploys.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16"/>
          <p:cNvSpPr/>
          <p:nvPr/>
        </p:nvSpPr>
        <p:spPr>
          <a:xfrm>
            <a:off x="502920" y="3546000"/>
            <a:ext cx="11182680" cy="798840"/>
          </a:xfrm>
          <a:prstGeom prst="roundRect">
            <a:avLst>
              <a:gd name="adj" fmla="val 4577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7"/>
          <p:cNvSpPr/>
          <p:nvPr/>
        </p:nvSpPr>
        <p:spPr>
          <a:xfrm>
            <a:off x="777240" y="3546000"/>
            <a:ext cx="338292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Operations &amp; SRE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18"/>
          <p:cNvSpPr/>
          <p:nvPr/>
        </p:nvSpPr>
        <p:spPr>
          <a:xfrm>
            <a:off x="4343400" y="3591720"/>
            <a:ext cx="70678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Run, freeze, drain, and observe pipelines with built-in controls and metrics.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9"/>
          <p:cNvSpPr/>
          <p:nvPr/>
        </p:nvSpPr>
        <p:spPr>
          <a:xfrm>
            <a:off x="502920" y="4473360"/>
            <a:ext cx="11182680" cy="798840"/>
          </a:xfrm>
          <a:prstGeom prst="roundRect">
            <a:avLst>
              <a:gd name="adj" fmla="val 4577"/>
            </a:avLst>
          </a:prstGeom>
          <a:solidFill>
            <a:srgbClr val="eaf1f8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20"/>
          <p:cNvSpPr/>
          <p:nvPr/>
        </p:nvSpPr>
        <p:spPr>
          <a:xfrm>
            <a:off x="777240" y="4473360"/>
            <a:ext cx="338292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Security &amp; governance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21"/>
          <p:cNvSpPr/>
          <p:nvPr/>
        </p:nvSpPr>
        <p:spPr>
          <a:xfrm>
            <a:off x="4343400" y="4519080"/>
            <a:ext cx="70678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Enforce access, mint and revoke API keys, and prove activity through the audit trail.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22"/>
          <p:cNvSpPr/>
          <p:nvPr/>
        </p:nvSpPr>
        <p:spPr>
          <a:xfrm>
            <a:off x="502920" y="5400360"/>
            <a:ext cx="11182680" cy="798840"/>
          </a:xfrm>
          <a:prstGeom prst="roundRect">
            <a:avLst>
              <a:gd name="adj" fmla="val 4577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23"/>
          <p:cNvSpPr/>
          <p:nvPr/>
        </p:nvSpPr>
        <p:spPr>
          <a:xfrm>
            <a:off x="777240" y="5400360"/>
            <a:ext cx="338292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The business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24"/>
          <p:cNvSpPr/>
          <p:nvPr/>
        </p:nvSpPr>
        <p:spPr>
          <a:xfrm>
            <a:off x="4343400" y="5446080"/>
            <a:ext cx="70678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Decisions on current data, lower infrastructure cost, and faster time-to-value.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Contents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What This Deck Covers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10"/>
          <p:cNvSpPr/>
          <p:nvPr/>
        </p:nvSpPr>
        <p:spPr>
          <a:xfrm>
            <a:off x="502920" y="1691640"/>
            <a:ext cx="2589840" cy="212580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1"/>
          <p:cNvSpPr/>
          <p:nvPr/>
        </p:nvSpPr>
        <p:spPr>
          <a:xfrm>
            <a:off x="758880" y="192924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12"/>
          <p:cNvSpPr/>
          <p:nvPr/>
        </p:nvSpPr>
        <p:spPr>
          <a:xfrm>
            <a:off x="75888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13"/>
          <p:cNvSpPr/>
          <p:nvPr/>
        </p:nvSpPr>
        <p:spPr>
          <a:xfrm>
            <a:off x="1371600" y="1911240"/>
            <a:ext cx="149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Architecture &amp; Engine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14"/>
          <p:cNvSpPr/>
          <p:nvPr/>
        </p:nvSpPr>
        <p:spPr>
          <a:xfrm>
            <a:off x="777240" y="2532960"/>
            <a:ext cx="2041200" cy="11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The reactive DAG model, nodes, the equality gate, execution, lifecycle.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5"/>
          <p:cNvSpPr/>
          <p:nvPr/>
        </p:nvSpPr>
        <p:spPr>
          <a:xfrm>
            <a:off x="3367440" y="1691640"/>
            <a:ext cx="2589840" cy="212580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16"/>
          <p:cNvSpPr/>
          <p:nvPr/>
        </p:nvSpPr>
        <p:spPr>
          <a:xfrm>
            <a:off x="3623400" y="1929240"/>
            <a:ext cx="456840" cy="456840"/>
          </a:xfrm>
          <a:prstGeom prst="ellipse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17"/>
          <p:cNvSpPr/>
          <p:nvPr/>
        </p:nvSpPr>
        <p:spPr>
          <a:xfrm>
            <a:off x="362340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8"/>
          <p:cNvSpPr/>
          <p:nvPr/>
        </p:nvSpPr>
        <p:spPr>
          <a:xfrm>
            <a:off x="4236120" y="1911240"/>
            <a:ext cx="149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Connectors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9"/>
          <p:cNvSpPr/>
          <p:nvPr/>
        </p:nvSpPr>
        <p:spPr>
          <a:xfrm>
            <a:off x="3641760" y="2532960"/>
            <a:ext cx="2041200" cy="11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Kafka, cloud, data stores, network, and enterprise message queues.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20"/>
          <p:cNvSpPr/>
          <p:nvPr/>
        </p:nvSpPr>
        <p:spPr>
          <a:xfrm>
            <a:off x="6231600" y="1691640"/>
            <a:ext cx="2589840" cy="212580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21"/>
          <p:cNvSpPr/>
          <p:nvPr/>
        </p:nvSpPr>
        <p:spPr>
          <a:xfrm>
            <a:off x="6487560" y="192924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22"/>
          <p:cNvSpPr/>
          <p:nvPr/>
        </p:nvSpPr>
        <p:spPr>
          <a:xfrm>
            <a:off x="648756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23"/>
          <p:cNvSpPr/>
          <p:nvPr/>
        </p:nvSpPr>
        <p:spPr>
          <a:xfrm>
            <a:off x="7100280" y="1911240"/>
            <a:ext cx="149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Calculators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24"/>
          <p:cNvSpPr/>
          <p:nvPr/>
        </p:nvSpPr>
        <p:spPr>
          <a:xfrm>
            <a:off x="6505920" y="2532960"/>
            <a:ext cx="2041200" cy="11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Multi-language compute, native gateways, the Apache Arrow lane.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5"/>
          <p:cNvSpPr/>
          <p:nvPr/>
        </p:nvSpPr>
        <p:spPr>
          <a:xfrm>
            <a:off x="9096120" y="1691640"/>
            <a:ext cx="2589840" cy="212580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26"/>
          <p:cNvSpPr/>
          <p:nvPr/>
        </p:nvSpPr>
        <p:spPr>
          <a:xfrm>
            <a:off x="9352080" y="1929240"/>
            <a:ext cx="456840" cy="456840"/>
          </a:xfrm>
          <a:prstGeom prst="ellipse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27"/>
          <p:cNvSpPr/>
          <p:nvPr/>
        </p:nvSpPr>
        <p:spPr>
          <a:xfrm>
            <a:off x="935208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28"/>
          <p:cNvSpPr/>
          <p:nvPr/>
        </p:nvSpPr>
        <p:spPr>
          <a:xfrm>
            <a:off x="9964800" y="1911240"/>
            <a:ext cx="149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The DAG Designer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29"/>
          <p:cNvSpPr/>
          <p:nvPr/>
        </p:nvSpPr>
        <p:spPr>
          <a:xfrm>
            <a:off x="9370440" y="2532960"/>
            <a:ext cx="2041200" cy="11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Visual authoring in the browser; palette and canvas model.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30"/>
          <p:cNvSpPr/>
          <p:nvPr/>
        </p:nvSpPr>
        <p:spPr>
          <a:xfrm>
            <a:off x="502920" y="4073760"/>
            <a:ext cx="2589840" cy="212580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31"/>
          <p:cNvSpPr/>
          <p:nvPr/>
        </p:nvSpPr>
        <p:spPr>
          <a:xfrm>
            <a:off x="758880" y="431136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32"/>
          <p:cNvSpPr/>
          <p:nvPr/>
        </p:nvSpPr>
        <p:spPr>
          <a:xfrm>
            <a:off x="758880" y="4311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33"/>
          <p:cNvSpPr/>
          <p:nvPr/>
        </p:nvSpPr>
        <p:spPr>
          <a:xfrm>
            <a:off x="1371600" y="4293000"/>
            <a:ext cx="149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Security &amp; Governance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34"/>
          <p:cNvSpPr/>
          <p:nvPr/>
        </p:nvSpPr>
        <p:spPr>
          <a:xfrm>
            <a:off x="777240" y="4915080"/>
            <a:ext cx="2041200" cy="11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Auth, API keys, RBAC, audit trail and retention, safe operations.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35"/>
          <p:cNvSpPr/>
          <p:nvPr/>
        </p:nvSpPr>
        <p:spPr>
          <a:xfrm>
            <a:off x="3367440" y="4073760"/>
            <a:ext cx="2589840" cy="212580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36"/>
          <p:cNvSpPr/>
          <p:nvPr/>
        </p:nvSpPr>
        <p:spPr>
          <a:xfrm>
            <a:off x="3623400" y="4311360"/>
            <a:ext cx="456840" cy="456840"/>
          </a:xfrm>
          <a:prstGeom prst="ellipse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37"/>
          <p:cNvSpPr/>
          <p:nvPr/>
        </p:nvSpPr>
        <p:spPr>
          <a:xfrm>
            <a:off x="3623400" y="4311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38"/>
          <p:cNvSpPr/>
          <p:nvPr/>
        </p:nvSpPr>
        <p:spPr>
          <a:xfrm>
            <a:off x="4236120" y="4293000"/>
            <a:ext cx="149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Operations &amp; Tooling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39"/>
          <p:cNvSpPr/>
          <p:nvPr/>
        </p:nvSpPr>
        <p:spPr>
          <a:xfrm>
            <a:off x="3641760" y="4915080"/>
            <a:ext cx="2041200" cy="11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Admin CLI, worker pool, observability, configuration, deployment.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40"/>
          <p:cNvSpPr/>
          <p:nvPr/>
        </p:nvSpPr>
        <p:spPr>
          <a:xfrm>
            <a:off x="6231600" y="4073760"/>
            <a:ext cx="2589840" cy="212580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41"/>
          <p:cNvSpPr/>
          <p:nvPr/>
        </p:nvSpPr>
        <p:spPr>
          <a:xfrm>
            <a:off x="6487560" y="431136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42"/>
          <p:cNvSpPr/>
          <p:nvPr/>
        </p:nvSpPr>
        <p:spPr>
          <a:xfrm>
            <a:off x="6487560" y="4311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43"/>
          <p:cNvSpPr/>
          <p:nvPr/>
        </p:nvSpPr>
        <p:spPr>
          <a:xfrm>
            <a:off x="7100280" y="4293000"/>
            <a:ext cx="149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Performance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44"/>
          <p:cNvSpPr/>
          <p:nvPr/>
        </p:nvSpPr>
        <p:spPr>
          <a:xfrm>
            <a:off x="6505920" y="4915080"/>
            <a:ext cx="2041200" cy="11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Execution lanes, benchmarks, efficiency, and quality.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45"/>
          <p:cNvSpPr/>
          <p:nvPr/>
        </p:nvSpPr>
        <p:spPr>
          <a:xfrm>
            <a:off x="9096120" y="4073760"/>
            <a:ext cx="2589840" cy="212580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46"/>
          <p:cNvSpPr/>
          <p:nvPr/>
        </p:nvSpPr>
        <p:spPr>
          <a:xfrm>
            <a:off x="9352080" y="4311360"/>
            <a:ext cx="456840" cy="456840"/>
          </a:xfrm>
          <a:prstGeom prst="ellipse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47"/>
          <p:cNvSpPr/>
          <p:nvPr/>
        </p:nvSpPr>
        <p:spPr>
          <a:xfrm>
            <a:off x="9352080" y="4311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48"/>
          <p:cNvSpPr/>
          <p:nvPr/>
        </p:nvSpPr>
        <p:spPr>
          <a:xfrm>
            <a:off x="9964800" y="4293000"/>
            <a:ext cx="149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Use Cases, Value &amp; Roadmap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49"/>
          <p:cNvSpPr/>
          <p:nvPr/>
        </p:nvSpPr>
        <p:spPr>
          <a:xfrm>
            <a:off x="9370440" y="4915080"/>
            <a:ext cx="2041200" cy="11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Where it delivers, the business case, and what's next.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5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2"/>
          <p:cNvSpPr/>
          <p:nvPr/>
        </p:nvSpPr>
        <p:spPr>
          <a:xfrm>
            <a:off x="548640" y="4572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3"/>
          <p:cNvSpPr/>
          <p:nvPr/>
        </p:nvSpPr>
        <p:spPr>
          <a:xfrm>
            <a:off x="7159680" y="4572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5fb0e0"/>
                </a:solidFill>
                <a:latin typeface="Calibri"/>
                <a:ea typeface="Calibri"/>
              </a:rPr>
              <a:t>SECTION 1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4"/>
          <p:cNvSpPr/>
          <p:nvPr/>
        </p:nvSpPr>
        <p:spPr>
          <a:xfrm>
            <a:off x="5225760" y="1737360"/>
            <a:ext cx="1737000" cy="17370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2e93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5"/>
          <p:cNvSpPr/>
          <p:nvPr/>
        </p:nvSpPr>
        <p:spPr>
          <a:xfrm>
            <a:off x="5225760" y="173736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6"/>
          <p:cNvSpPr/>
          <p:nvPr/>
        </p:nvSpPr>
        <p:spPr>
          <a:xfrm>
            <a:off x="914400" y="3794760"/>
            <a:ext cx="10359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Architecture &amp; Reactive Engine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7"/>
          <p:cNvSpPr/>
          <p:nvPr/>
        </p:nvSpPr>
        <p:spPr>
          <a:xfrm>
            <a:off x="1828800" y="4663440"/>
            <a:ext cx="8530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fe3f2"/>
                </a:solidFill>
                <a:latin typeface="Calibri"/>
                <a:ea typeface="Calibri"/>
              </a:rPr>
              <a:t>How DishtaYantra models, schedules, and runs computation over live data.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Architecture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System Architecture at a Glance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Shape 10"/>
          <p:cNvSpPr/>
          <p:nvPr/>
        </p:nvSpPr>
        <p:spPr>
          <a:xfrm>
            <a:off x="502920" y="1874520"/>
            <a:ext cx="3382920" cy="1828440"/>
          </a:xfrm>
          <a:prstGeom prst="roundRect">
            <a:avLst>
              <a:gd name="adj" fmla="val 2500"/>
            </a:avLst>
          </a:prstGeom>
          <a:solidFill>
            <a:srgbClr val="0079c1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11"/>
          <p:cNvSpPr/>
          <p:nvPr/>
        </p:nvSpPr>
        <p:spPr>
          <a:xfrm>
            <a:off x="685800" y="210312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Sources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12"/>
          <p:cNvSpPr/>
          <p:nvPr/>
        </p:nvSpPr>
        <p:spPr>
          <a:xfrm>
            <a:off x="777240" y="2743200"/>
            <a:ext cx="2834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6f0f8"/>
                </a:solidFill>
                <a:latin typeface="Calibri"/>
                <a:ea typeface="Calibri"/>
              </a:rPr>
              <a:t>Connectors subscribe to brokers, stores, cloud, and APIs.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13"/>
          <p:cNvSpPr/>
          <p:nvPr/>
        </p:nvSpPr>
        <p:spPr>
          <a:xfrm>
            <a:off x="3886200" y="1874520"/>
            <a:ext cx="516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079c1"/>
                </a:solidFill>
                <a:latin typeface="Calibri"/>
                <a:ea typeface="Calibri"/>
              </a:rPr>
              <a:t>→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14"/>
          <p:cNvSpPr/>
          <p:nvPr/>
        </p:nvSpPr>
        <p:spPr>
          <a:xfrm>
            <a:off x="4402800" y="1874520"/>
            <a:ext cx="3382920" cy="1828440"/>
          </a:xfrm>
          <a:prstGeom prst="roundRect">
            <a:avLst>
              <a:gd name="adj" fmla="val 2500"/>
            </a:avLst>
          </a:prstGeom>
          <a:solidFill>
            <a:srgbClr val="005587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15"/>
          <p:cNvSpPr/>
          <p:nvPr/>
        </p:nvSpPr>
        <p:spPr>
          <a:xfrm>
            <a:off x="4585680" y="210312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Reactive engine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16"/>
          <p:cNvSpPr/>
          <p:nvPr/>
        </p:nvSpPr>
        <p:spPr>
          <a:xfrm>
            <a:off x="4677120" y="2743200"/>
            <a:ext cx="2834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6f0f8"/>
                </a:solidFill>
                <a:latin typeface="Calibri"/>
                <a:ea typeface="Calibri"/>
              </a:rPr>
              <a:t>The DAG schedules and runs nodes; the equality gate gates recompute.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17"/>
          <p:cNvSpPr/>
          <p:nvPr/>
        </p:nvSpPr>
        <p:spPr>
          <a:xfrm>
            <a:off x="7786080" y="1874520"/>
            <a:ext cx="516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079c1"/>
                </a:solidFill>
                <a:latin typeface="Calibri"/>
                <a:ea typeface="Calibri"/>
              </a:rPr>
              <a:t>→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18"/>
          <p:cNvSpPr/>
          <p:nvPr/>
        </p:nvSpPr>
        <p:spPr>
          <a:xfrm>
            <a:off x="8302680" y="1874520"/>
            <a:ext cx="3382920" cy="1828440"/>
          </a:xfrm>
          <a:prstGeom prst="roundRect">
            <a:avLst>
              <a:gd name="adj" fmla="val 2500"/>
            </a:avLst>
          </a:prstGeom>
          <a:solidFill>
            <a:srgbClr val="0079c1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9"/>
          <p:cNvSpPr/>
          <p:nvPr/>
        </p:nvSpPr>
        <p:spPr>
          <a:xfrm>
            <a:off x="8485560" y="210312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Sinks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20"/>
          <p:cNvSpPr/>
          <p:nvPr/>
        </p:nvSpPr>
        <p:spPr>
          <a:xfrm>
            <a:off x="8577000" y="2743200"/>
            <a:ext cx="2834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6f0f8"/>
                </a:solidFill>
                <a:latin typeface="Calibri"/>
                <a:ea typeface="Calibri"/>
              </a:rPr>
              <a:t>Publishers deliver results, with WAL-backed durability where configured.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21"/>
          <p:cNvSpPr/>
          <p:nvPr/>
        </p:nvSpPr>
        <p:spPr>
          <a:xfrm>
            <a:off x="502920" y="4114800"/>
            <a:ext cx="1118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5587"/>
                </a:solidFill>
                <a:latin typeface="Calibri"/>
                <a:ea typeface="Calibri"/>
              </a:rPr>
              <a:t>Cross-cutting services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22"/>
          <p:cNvSpPr/>
          <p:nvPr/>
        </p:nvSpPr>
        <p:spPr>
          <a:xfrm>
            <a:off x="502920" y="4480560"/>
            <a:ext cx="2053440" cy="7311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23"/>
          <p:cNvSpPr/>
          <p:nvPr/>
        </p:nvSpPr>
        <p:spPr>
          <a:xfrm>
            <a:off x="594360" y="4480560"/>
            <a:ext cx="1870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34155"/>
                </a:solidFill>
                <a:latin typeface="Calibri"/>
                <a:ea typeface="Calibri"/>
              </a:rPr>
              <a:t>Auth · RBAC · API keys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24"/>
          <p:cNvSpPr/>
          <p:nvPr/>
        </p:nvSpPr>
        <p:spPr>
          <a:xfrm>
            <a:off x="2785320" y="4480560"/>
            <a:ext cx="2053440" cy="7311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25"/>
          <p:cNvSpPr/>
          <p:nvPr/>
        </p:nvSpPr>
        <p:spPr>
          <a:xfrm>
            <a:off x="2876760" y="4480560"/>
            <a:ext cx="1870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34155"/>
                </a:solidFill>
                <a:latin typeface="Calibri"/>
                <a:ea typeface="Calibri"/>
              </a:rPr>
              <a:t>Audit trail + retention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26"/>
          <p:cNvSpPr/>
          <p:nvPr/>
        </p:nvSpPr>
        <p:spPr>
          <a:xfrm>
            <a:off x="5067720" y="4480560"/>
            <a:ext cx="2053440" cy="7311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27"/>
          <p:cNvSpPr/>
          <p:nvPr/>
        </p:nvSpPr>
        <p:spPr>
          <a:xfrm>
            <a:off x="5159160" y="4480560"/>
            <a:ext cx="1870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34155"/>
                </a:solidFill>
                <a:latin typeface="Calibri"/>
                <a:ea typeface="Calibri"/>
              </a:rPr>
              <a:t>Maintenance / drain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28"/>
          <p:cNvSpPr/>
          <p:nvPr/>
        </p:nvSpPr>
        <p:spPr>
          <a:xfrm>
            <a:off x="7350120" y="4480560"/>
            <a:ext cx="2053440" cy="7311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29"/>
          <p:cNvSpPr/>
          <p:nvPr/>
        </p:nvSpPr>
        <p:spPr>
          <a:xfrm>
            <a:off x="7441560" y="4480560"/>
            <a:ext cx="1870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34155"/>
                </a:solidFill>
                <a:latin typeface="Calibri"/>
                <a:ea typeface="Calibri"/>
              </a:rPr>
              <a:t>Metrics &amp; observability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30"/>
          <p:cNvSpPr/>
          <p:nvPr/>
        </p:nvSpPr>
        <p:spPr>
          <a:xfrm>
            <a:off x="9632160" y="4480560"/>
            <a:ext cx="2053440" cy="7311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31"/>
          <p:cNvSpPr/>
          <p:nvPr/>
        </p:nvSpPr>
        <p:spPr>
          <a:xfrm>
            <a:off x="9723600" y="4480560"/>
            <a:ext cx="1870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34155"/>
                </a:solidFill>
                <a:latin typeface="Calibri"/>
                <a:ea typeface="Calibri"/>
              </a:rPr>
              <a:t>Config (properties / YAML)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Architecture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The Reactive DAG Model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10"/>
          <p:cNvSpPr/>
          <p:nvPr/>
        </p:nvSpPr>
        <p:spPr>
          <a:xfrm>
            <a:off x="502920" y="1691640"/>
            <a:ext cx="1118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666e80"/>
                </a:solidFill>
                <a:latin typeface="Calibri"/>
                <a:ea typeface="Calibri"/>
              </a:rPr>
              <a:t>A directed acyclic graph of nodes: sources feed calculators feed sinks. Data flows along edges; each node fires when its inputs change.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11"/>
          <p:cNvSpPr/>
          <p:nvPr/>
        </p:nvSpPr>
        <p:spPr>
          <a:xfrm>
            <a:off x="685800" y="23317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666e80"/>
                </a:solidFill>
                <a:latin typeface="Calibri"/>
                <a:ea typeface="Calibri"/>
              </a:rPr>
              <a:t>SOURCES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12"/>
          <p:cNvSpPr/>
          <p:nvPr/>
        </p:nvSpPr>
        <p:spPr>
          <a:xfrm>
            <a:off x="4709160" y="23317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666e80"/>
                </a:solidFill>
                <a:latin typeface="Calibri"/>
                <a:ea typeface="Calibri"/>
              </a:rPr>
              <a:t>CALCULATORS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13"/>
          <p:cNvSpPr/>
          <p:nvPr/>
        </p:nvSpPr>
        <p:spPr>
          <a:xfrm>
            <a:off x="8732520" y="23317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666e80"/>
                </a:solidFill>
                <a:latin typeface="Calibri"/>
                <a:ea typeface="Calibri"/>
              </a:rPr>
              <a:t>SINKS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14"/>
          <p:cNvSpPr/>
          <p:nvPr/>
        </p:nvSpPr>
        <p:spPr>
          <a:xfrm>
            <a:off x="3429000" y="3131640"/>
            <a:ext cx="1280160" cy="548640"/>
          </a:xfrm>
          <a:prstGeom prst="line">
            <a:avLst/>
          </a:prstGeom>
          <a:ln w="22225">
            <a:solidFill>
              <a:srgbClr val="9fb8c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15"/>
          <p:cNvSpPr/>
          <p:nvPr/>
        </p:nvSpPr>
        <p:spPr>
          <a:xfrm flipV="1">
            <a:off x="3429000" y="3680280"/>
            <a:ext cx="1280160" cy="548640"/>
          </a:xfrm>
          <a:prstGeom prst="line">
            <a:avLst/>
          </a:prstGeom>
          <a:ln w="22225">
            <a:solidFill>
              <a:srgbClr val="9fb8c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16"/>
          <p:cNvSpPr/>
          <p:nvPr/>
        </p:nvSpPr>
        <p:spPr>
          <a:xfrm flipV="1">
            <a:off x="7452360" y="3131640"/>
            <a:ext cx="1280160" cy="548640"/>
          </a:xfrm>
          <a:prstGeom prst="line">
            <a:avLst/>
          </a:prstGeom>
          <a:ln w="22225">
            <a:solidFill>
              <a:srgbClr val="9fb8c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17"/>
          <p:cNvSpPr/>
          <p:nvPr/>
        </p:nvSpPr>
        <p:spPr>
          <a:xfrm>
            <a:off x="7452360" y="3680280"/>
            <a:ext cx="1280160" cy="548640"/>
          </a:xfrm>
          <a:prstGeom prst="line">
            <a:avLst/>
          </a:prstGeom>
          <a:ln w="22225">
            <a:solidFill>
              <a:srgbClr val="9fb8c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18"/>
          <p:cNvSpPr/>
          <p:nvPr/>
        </p:nvSpPr>
        <p:spPr>
          <a:xfrm>
            <a:off x="685800" y="2743200"/>
            <a:ext cx="2742840" cy="7768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19"/>
          <p:cNvSpPr/>
          <p:nvPr/>
        </p:nvSpPr>
        <p:spPr>
          <a:xfrm>
            <a:off x="777240" y="2743200"/>
            <a:ext cx="2559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5587"/>
                </a:solidFill>
                <a:latin typeface="Calibri"/>
                <a:ea typeface="Calibri"/>
              </a:rPr>
              <a:t>Kafka topic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20"/>
          <p:cNvSpPr/>
          <p:nvPr/>
        </p:nvSpPr>
        <p:spPr>
          <a:xfrm>
            <a:off x="685800" y="3840480"/>
            <a:ext cx="2742840" cy="7768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21"/>
          <p:cNvSpPr/>
          <p:nvPr/>
        </p:nvSpPr>
        <p:spPr>
          <a:xfrm>
            <a:off x="777240" y="3840480"/>
            <a:ext cx="2559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5587"/>
                </a:solidFill>
                <a:latin typeface="Calibri"/>
                <a:ea typeface="Calibri"/>
              </a:rPr>
              <a:t>Market-data feed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22"/>
          <p:cNvSpPr/>
          <p:nvPr/>
        </p:nvSpPr>
        <p:spPr>
          <a:xfrm>
            <a:off x="4709160" y="3291840"/>
            <a:ext cx="2742840" cy="776880"/>
          </a:xfrm>
          <a:prstGeom prst="roundRect">
            <a:avLst>
              <a:gd name="adj" fmla="val 5882"/>
            </a:avLst>
          </a:prstGeom>
          <a:solidFill>
            <a:srgbClr val="0079c1"/>
          </a:solidFill>
          <a:ln w="12700">
            <a:solidFill>
              <a:srgbClr val="0079c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23"/>
          <p:cNvSpPr/>
          <p:nvPr/>
        </p:nvSpPr>
        <p:spPr>
          <a:xfrm>
            <a:off x="4800600" y="3291840"/>
            <a:ext cx="2559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Enrich · Normalize · Score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24"/>
          <p:cNvSpPr/>
          <p:nvPr/>
        </p:nvSpPr>
        <p:spPr>
          <a:xfrm>
            <a:off x="8732520" y="2743200"/>
            <a:ext cx="2742840" cy="7768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25"/>
          <p:cNvSpPr/>
          <p:nvPr/>
        </p:nvSpPr>
        <p:spPr>
          <a:xfrm>
            <a:off x="8823960" y="2743200"/>
            <a:ext cx="2559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5587"/>
                </a:solidFill>
                <a:latin typeface="Calibri"/>
                <a:ea typeface="Calibri"/>
              </a:rPr>
              <a:t>Database / cache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26"/>
          <p:cNvSpPr/>
          <p:nvPr/>
        </p:nvSpPr>
        <p:spPr>
          <a:xfrm>
            <a:off x="8732520" y="3840480"/>
            <a:ext cx="2742840" cy="7768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27"/>
          <p:cNvSpPr/>
          <p:nvPr/>
        </p:nvSpPr>
        <p:spPr>
          <a:xfrm>
            <a:off x="8823960" y="3840480"/>
            <a:ext cx="2559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5587"/>
                </a:solidFill>
                <a:latin typeface="Calibri"/>
                <a:ea typeface="Calibri"/>
              </a:rPr>
              <a:t>Downstream topic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28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29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The graph is the program: change the wiring in the designer and the running pipeline changes with it.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Architecture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Three Kinds of Nodes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Shape 10"/>
          <p:cNvSpPr/>
          <p:nvPr/>
        </p:nvSpPr>
        <p:spPr>
          <a:xfrm>
            <a:off x="502920" y="1691640"/>
            <a:ext cx="3544560" cy="3638880"/>
          </a:xfrm>
          <a:prstGeom prst="roundRect">
            <a:avLst>
              <a:gd name="adj" fmla="val 103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11"/>
          <p:cNvSpPr/>
          <p:nvPr/>
        </p:nvSpPr>
        <p:spPr>
          <a:xfrm>
            <a:off x="758880" y="192924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12"/>
          <p:cNvSpPr/>
          <p:nvPr/>
        </p:nvSpPr>
        <p:spPr>
          <a:xfrm>
            <a:off x="75888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13"/>
          <p:cNvSpPr/>
          <p:nvPr/>
        </p:nvSpPr>
        <p:spPr>
          <a:xfrm>
            <a:off x="1371600" y="1911240"/>
            <a:ext cx="244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Subscribers (sources)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14"/>
          <p:cNvSpPr/>
          <p:nvPr/>
        </p:nvSpPr>
        <p:spPr>
          <a:xfrm>
            <a:off x="777240" y="2532960"/>
            <a:ext cx="2995920" cy="26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Wrap an inbound connector — Kafka, queue, store, REST. They feed external data into the graph as edge values.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15"/>
          <p:cNvSpPr/>
          <p:nvPr/>
        </p:nvSpPr>
        <p:spPr>
          <a:xfrm>
            <a:off x="4322160" y="1691640"/>
            <a:ext cx="3544560" cy="3638880"/>
          </a:xfrm>
          <a:prstGeom prst="roundRect">
            <a:avLst>
              <a:gd name="adj" fmla="val 103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16"/>
          <p:cNvSpPr/>
          <p:nvPr/>
        </p:nvSpPr>
        <p:spPr>
          <a:xfrm>
            <a:off x="4578120" y="1929240"/>
            <a:ext cx="456840" cy="456840"/>
          </a:xfrm>
          <a:prstGeom prst="ellipse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 17"/>
          <p:cNvSpPr/>
          <p:nvPr/>
        </p:nvSpPr>
        <p:spPr>
          <a:xfrm>
            <a:off x="457812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18"/>
          <p:cNvSpPr/>
          <p:nvPr/>
        </p:nvSpPr>
        <p:spPr>
          <a:xfrm>
            <a:off x="5190840" y="1911240"/>
            <a:ext cx="244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Calculators (compute)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19"/>
          <p:cNvSpPr/>
          <p:nvPr/>
        </p:nvSpPr>
        <p:spPr>
          <a:xfrm>
            <a:off x="4596480" y="2532960"/>
            <a:ext cx="2995920" cy="26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Pure-ish compute units that transform inputs to outputs. Reusable, language-agnostic, and composable into chains.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20"/>
          <p:cNvSpPr/>
          <p:nvPr/>
        </p:nvSpPr>
        <p:spPr>
          <a:xfrm>
            <a:off x="8141040" y="1691640"/>
            <a:ext cx="3544560" cy="3638880"/>
          </a:xfrm>
          <a:prstGeom prst="roundRect">
            <a:avLst>
              <a:gd name="adj" fmla="val 103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21"/>
          <p:cNvSpPr/>
          <p:nvPr/>
        </p:nvSpPr>
        <p:spPr>
          <a:xfrm>
            <a:off x="8397360" y="192924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22"/>
          <p:cNvSpPr/>
          <p:nvPr/>
        </p:nvSpPr>
        <p:spPr>
          <a:xfrm>
            <a:off x="839736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23"/>
          <p:cNvSpPr/>
          <p:nvPr/>
        </p:nvSpPr>
        <p:spPr>
          <a:xfrm>
            <a:off x="9009720" y="1911240"/>
            <a:ext cx="244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Publishers (sinks)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24"/>
          <p:cNvSpPr/>
          <p:nvPr/>
        </p:nvSpPr>
        <p:spPr>
          <a:xfrm>
            <a:off x="8415360" y="2532960"/>
            <a:ext cx="2995920" cy="26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Wrap an outbound connector. They deliver computed results to destinations, optionally through a durable WAL.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25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26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Every node shares one contract, so sources, compute, and sinks wire together uniformly on the canvas.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Architecture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The Equality Gate — Recompute Only on Change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Each node compares incoming inputs against the last values it processed.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If nothing material changed, the node does not recompute — and does not propagate downstream.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This eliminates redundant work and keeps latency predictable under bursty inputs.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It also makes pipelines deterministic: the same inputs always yield the same firing behavior.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The equality gate is non-negotiable — it is core to the engine's efficiency and correctness.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Doing less work, exactly when it matters, is what makes a single node go a long way.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Architecture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Execution Model — Threads &amp; Scheduling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One dedicated compute thread per DAG drives node evaluation in dependency order.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Each subscriber runs on its own thread, decoupling inbound I/O from compute.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Publishers can run inline or through an asynchronous, WAL-backed egress path.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Work is gated by the equality check, so threads spend cycles only on real changes.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The single-node, in-process design avoids cross-process serialization overhead.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Predictable threading plus the equality gate is how the engine sustains high throughput on one machine.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Architecture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dagState — The Authoritative Graph Model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dagState is the single source of truth for a pipeline's structure and node configuration.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The visual canvas is purely a view over dagState — never the other way around.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Edits flow into dagState first, then render; this keeps the model and view consistent.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Because the model is authoritative, pipelines are portable and reproducible.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Runtime state (inputs, outputs, last-fired) is layered on top for inspection and debugging.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Separating the authoritative model from the view keeps the system predictable as pipelines grow.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Architecture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Edge Values &amp; Payloads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Shape 10"/>
          <p:cNvSpPr/>
          <p:nvPr/>
        </p:nvSpPr>
        <p:spPr>
          <a:xfrm>
            <a:off x="502920" y="1691640"/>
            <a:ext cx="11182680" cy="798840"/>
          </a:xfrm>
          <a:prstGeom prst="roundRect">
            <a:avLst>
              <a:gd name="adj" fmla="val 4577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11"/>
          <p:cNvSpPr/>
          <p:nvPr/>
        </p:nvSpPr>
        <p:spPr>
          <a:xfrm>
            <a:off x="777240" y="1691640"/>
            <a:ext cx="338292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Scalars &amp; dicts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12"/>
          <p:cNvSpPr/>
          <p:nvPr/>
        </p:nvSpPr>
        <p:spPr>
          <a:xfrm>
            <a:off x="4343400" y="1737360"/>
            <a:ext cx="70678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The common case: JSON-like records flow between nodes as plain values.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13"/>
          <p:cNvSpPr/>
          <p:nvPr/>
        </p:nvSpPr>
        <p:spPr>
          <a:xfrm>
            <a:off x="502920" y="2619000"/>
            <a:ext cx="11182680" cy="798840"/>
          </a:xfrm>
          <a:prstGeom prst="roundRect">
            <a:avLst>
              <a:gd name="adj" fmla="val 4577"/>
            </a:avLst>
          </a:prstGeom>
          <a:solidFill>
            <a:srgbClr val="eaf1f8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14"/>
          <p:cNvSpPr/>
          <p:nvPr/>
        </p:nvSpPr>
        <p:spPr>
          <a:xfrm>
            <a:off x="777240" y="2619000"/>
            <a:ext cx="338292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Record batches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 15"/>
          <p:cNvSpPr/>
          <p:nvPr/>
        </p:nvSpPr>
        <p:spPr>
          <a:xfrm>
            <a:off x="4343400" y="2664720"/>
            <a:ext cx="70678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Columnar Apache Arrow batches move many rows at once for high throughput.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16"/>
          <p:cNvSpPr/>
          <p:nvPr/>
        </p:nvSpPr>
        <p:spPr>
          <a:xfrm>
            <a:off x="502920" y="3546000"/>
            <a:ext cx="11182680" cy="798840"/>
          </a:xfrm>
          <a:prstGeom prst="roundRect">
            <a:avLst>
              <a:gd name="adj" fmla="val 4577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17"/>
          <p:cNvSpPr/>
          <p:nvPr/>
        </p:nvSpPr>
        <p:spPr>
          <a:xfrm>
            <a:off x="777240" y="3546000"/>
            <a:ext cx="338292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DataAwarePayload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18"/>
          <p:cNvSpPr/>
          <p:nvPr/>
        </p:nvSpPr>
        <p:spPr>
          <a:xfrm>
            <a:off x="4343400" y="3591720"/>
            <a:ext cx="70678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A wrapper that can carry a destination/topic with the data for routing at the sink.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19"/>
          <p:cNvSpPr/>
          <p:nvPr/>
        </p:nvSpPr>
        <p:spPr>
          <a:xfrm>
            <a:off x="502920" y="4473360"/>
            <a:ext cx="11182680" cy="798840"/>
          </a:xfrm>
          <a:prstGeom prst="roundRect">
            <a:avLst>
              <a:gd name="adj" fmla="val 4577"/>
            </a:avLst>
          </a:prstGeom>
          <a:solidFill>
            <a:srgbClr val="eaf1f8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20"/>
          <p:cNvSpPr/>
          <p:nvPr/>
        </p:nvSpPr>
        <p:spPr>
          <a:xfrm>
            <a:off x="777240" y="4473360"/>
            <a:ext cx="338292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Heterogeneous sources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 21"/>
          <p:cNvSpPr/>
          <p:nvPr/>
        </p:nvSpPr>
        <p:spPr>
          <a:xfrm>
            <a:off x="4343400" y="4519080"/>
            <a:ext cx="70678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A normalizing subscription maps mixed inbound shapes into a stable core schema.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22"/>
          <p:cNvSpPr/>
          <p:nvPr/>
        </p:nvSpPr>
        <p:spPr>
          <a:xfrm>
            <a:off x="502920" y="5400360"/>
            <a:ext cx="11182680" cy="798840"/>
          </a:xfrm>
          <a:prstGeom prst="roundRect">
            <a:avLst>
              <a:gd name="adj" fmla="val 4577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 23"/>
          <p:cNvSpPr/>
          <p:nvPr/>
        </p:nvSpPr>
        <p:spPr>
          <a:xfrm>
            <a:off x="777240" y="5400360"/>
            <a:ext cx="338292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Safe serialization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24"/>
          <p:cNvSpPr/>
          <p:nvPr/>
        </p:nvSpPr>
        <p:spPr>
          <a:xfrm>
            <a:off x="4343400" y="5446080"/>
            <a:ext cx="70678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State views coerce non-serializable values (e.g., batches) into previews for inspection.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Architecture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Backpressure &amp; Flow Control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An opt-in, credit-based flow-control mechanism bounds in-flight work between stages.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When a downstream stage is busy, upstream production is throttled rather than dropped.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Queue depths for subscribers and publishers are observable per DAG.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Bounded queues protect memory and keep latency stable under load spikes.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Flow control is configured explicitly — no hidden buffering or silent loss.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Backpressure keeps a fast source from overwhelming a slower sink — without losing data.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Architecture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DAG Lifecycle — From Load to Reload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Shape 10"/>
          <p:cNvSpPr/>
          <p:nvPr/>
        </p:nvSpPr>
        <p:spPr>
          <a:xfrm>
            <a:off x="502920" y="181260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11"/>
          <p:cNvSpPr/>
          <p:nvPr/>
        </p:nvSpPr>
        <p:spPr>
          <a:xfrm>
            <a:off x="502920" y="18126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12"/>
          <p:cNvSpPr/>
          <p:nvPr/>
        </p:nvSpPr>
        <p:spPr>
          <a:xfrm>
            <a:off x="1097280" y="1710000"/>
            <a:ext cx="374868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Load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 13"/>
          <p:cNvSpPr/>
          <p:nvPr/>
        </p:nvSpPr>
        <p:spPr>
          <a:xfrm>
            <a:off x="4983480" y="1710000"/>
            <a:ext cx="670212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The engine reads pipeline definitions and reconciles them into dagState.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14"/>
          <p:cNvSpPr/>
          <p:nvPr/>
        </p:nvSpPr>
        <p:spPr>
          <a:xfrm>
            <a:off x="502920" y="245664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15"/>
          <p:cNvSpPr/>
          <p:nvPr/>
        </p:nvSpPr>
        <p:spPr>
          <a:xfrm>
            <a:off x="502920" y="245664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16"/>
          <p:cNvSpPr/>
          <p:nvPr/>
        </p:nvSpPr>
        <p:spPr>
          <a:xfrm>
            <a:off x="1097280" y="2354040"/>
            <a:ext cx="374868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Start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17"/>
          <p:cNvSpPr/>
          <p:nvPr/>
        </p:nvSpPr>
        <p:spPr>
          <a:xfrm>
            <a:off x="4983480" y="2354040"/>
            <a:ext cx="670212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Subscriber threads connect; the compute thread begins evaluating on input.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18"/>
          <p:cNvSpPr/>
          <p:nvPr/>
        </p:nvSpPr>
        <p:spPr>
          <a:xfrm>
            <a:off x="502920" y="310032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 19"/>
          <p:cNvSpPr/>
          <p:nvPr/>
        </p:nvSpPr>
        <p:spPr>
          <a:xfrm>
            <a:off x="502920" y="310032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 20"/>
          <p:cNvSpPr/>
          <p:nvPr/>
        </p:nvSpPr>
        <p:spPr>
          <a:xfrm>
            <a:off x="1097280" y="2998080"/>
            <a:ext cx="374868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Suspend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21"/>
          <p:cNvSpPr/>
          <p:nvPr/>
        </p:nvSpPr>
        <p:spPr>
          <a:xfrm>
            <a:off x="4983480" y="2998080"/>
            <a:ext cx="670212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Processing pauses while connections and state are retained.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22"/>
          <p:cNvSpPr/>
          <p:nvPr/>
        </p:nvSpPr>
        <p:spPr>
          <a:xfrm>
            <a:off x="502920" y="374436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23"/>
          <p:cNvSpPr/>
          <p:nvPr/>
        </p:nvSpPr>
        <p:spPr>
          <a:xfrm>
            <a:off x="502920" y="374436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24"/>
          <p:cNvSpPr/>
          <p:nvPr/>
        </p:nvSpPr>
        <p:spPr>
          <a:xfrm>
            <a:off x="1097280" y="3641760"/>
            <a:ext cx="374868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Resume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25"/>
          <p:cNvSpPr/>
          <p:nvPr/>
        </p:nvSpPr>
        <p:spPr>
          <a:xfrm>
            <a:off x="4983480" y="3641760"/>
            <a:ext cx="670212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Evaluation continues from the retained state.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26"/>
          <p:cNvSpPr/>
          <p:nvPr/>
        </p:nvSpPr>
        <p:spPr>
          <a:xfrm>
            <a:off x="502920" y="438840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Text 27"/>
          <p:cNvSpPr/>
          <p:nvPr/>
        </p:nvSpPr>
        <p:spPr>
          <a:xfrm>
            <a:off x="502920" y="43884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28"/>
          <p:cNvSpPr/>
          <p:nvPr/>
        </p:nvSpPr>
        <p:spPr>
          <a:xfrm>
            <a:off x="1097280" y="4285800"/>
            <a:ext cx="374868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Stop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 29"/>
          <p:cNvSpPr/>
          <p:nvPr/>
        </p:nvSpPr>
        <p:spPr>
          <a:xfrm>
            <a:off x="4983480" y="4285800"/>
            <a:ext cx="670212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The DAG is halted; threads and connections are released cleanly.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30"/>
          <p:cNvSpPr/>
          <p:nvPr/>
        </p:nvSpPr>
        <p:spPr>
          <a:xfrm>
            <a:off x="502920" y="503244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31"/>
          <p:cNvSpPr/>
          <p:nvPr/>
        </p:nvSpPr>
        <p:spPr>
          <a:xfrm>
            <a:off x="502920" y="503244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 32"/>
          <p:cNvSpPr/>
          <p:nvPr/>
        </p:nvSpPr>
        <p:spPr>
          <a:xfrm>
            <a:off x="1097280" y="4929840"/>
            <a:ext cx="374868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Reload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 33"/>
          <p:cNvSpPr/>
          <p:nvPr/>
        </p:nvSpPr>
        <p:spPr>
          <a:xfrm>
            <a:off x="4983480" y="4929840"/>
            <a:ext cx="670212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Folders are re-scanned and changes reconciled without a full restart.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34"/>
          <p:cNvSpPr/>
          <p:nvPr/>
        </p:nvSpPr>
        <p:spPr>
          <a:xfrm>
            <a:off x="502920" y="567648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Text 35"/>
          <p:cNvSpPr/>
          <p:nvPr/>
        </p:nvSpPr>
        <p:spPr>
          <a:xfrm>
            <a:off x="502920" y="56764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 36"/>
          <p:cNvSpPr/>
          <p:nvPr/>
        </p:nvSpPr>
        <p:spPr>
          <a:xfrm>
            <a:off x="1097280" y="5573880"/>
            <a:ext cx="374868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Freeze / drain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37"/>
          <p:cNvSpPr/>
          <p:nvPr/>
        </p:nvSpPr>
        <p:spPr>
          <a:xfrm>
            <a:off x="4983480" y="5573880"/>
            <a:ext cx="670212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Subscribers are frozen and queues drained for safe maintenance.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5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 2"/>
          <p:cNvSpPr/>
          <p:nvPr/>
        </p:nvSpPr>
        <p:spPr>
          <a:xfrm>
            <a:off x="548640" y="4572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 3"/>
          <p:cNvSpPr/>
          <p:nvPr/>
        </p:nvSpPr>
        <p:spPr>
          <a:xfrm>
            <a:off x="7159680" y="4572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5fb0e0"/>
                </a:solidFill>
                <a:latin typeface="Calibri"/>
                <a:ea typeface="Calibri"/>
              </a:rPr>
              <a:t>SECTION 2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Shape 4"/>
          <p:cNvSpPr/>
          <p:nvPr/>
        </p:nvSpPr>
        <p:spPr>
          <a:xfrm>
            <a:off x="5225760" y="1737360"/>
            <a:ext cx="1737000" cy="17370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2e93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 5"/>
          <p:cNvSpPr/>
          <p:nvPr/>
        </p:nvSpPr>
        <p:spPr>
          <a:xfrm>
            <a:off x="5225760" y="173736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Text 6"/>
          <p:cNvSpPr/>
          <p:nvPr/>
        </p:nvSpPr>
        <p:spPr>
          <a:xfrm>
            <a:off x="914400" y="3794760"/>
            <a:ext cx="10359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Connectors — Connect Anything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 7"/>
          <p:cNvSpPr/>
          <p:nvPr/>
        </p:nvSpPr>
        <p:spPr>
          <a:xfrm>
            <a:off x="1828800" y="4663440"/>
            <a:ext cx="8530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fe3f2"/>
                </a:solidFill>
                <a:latin typeface="Calibri"/>
                <a:ea typeface="Calibri"/>
              </a:rPr>
              <a:t>A uniform pub/sub model spanning brokers, cloud, data stores, the network, and enterprise message queues.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Connectors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The Connector Catalog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Shape 10"/>
          <p:cNvSpPr/>
          <p:nvPr/>
        </p:nvSpPr>
        <p:spPr>
          <a:xfrm>
            <a:off x="502920" y="2148840"/>
            <a:ext cx="3513960" cy="2011320"/>
          </a:xfrm>
          <a:prstGeom prst="roundRect">
            <a:avLst>
              <a:gd name="adj" fmla="val 2273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11"/>
          <p:cNvSpPr/>
          <p:nvPr/>
        </p:nvSpPr>
        <p:spPr>
          <a:xfrm>
            <a:off x="685800" y="2468880"/>
            <a:ext cx="3148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079c1"/>
                </a:solidFill>
                <a:latin typeface="Calibri"/>
                <a:ea typeface="Calibri"/>
              </a:rPr>
              <a:t>30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 12"/>
          <p:cNvSpPr/>
          <p:nvPr/>
        </p:nvSpPr>
        <p:spPr>
          <a:xfrm>
            <a:off x="685800" y="3383280"/>
            <a:ext cx="3148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publisher (sink) connector types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13"/>
          <p:cNvSpPr/>
          <p:nvPr/>
        </p:nvSpPr>
        <p:spPr>
          <a:xfrm>
            <a:off x="4337280" y="2148840"/>
            <a:ext cx="3513960" cy="2011320"/>
          </a:xfrm>
          <a:prstGeom prst="roundRect">
            <a:avLst>
              <a:gd name="adj" fmla="val 2273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Text 14"/>
          <p:cNvSpPr/>
          <p:nvPr/>
        </p:nvSpPr>
        <p:spPr>
          <a:xfrm>
            <a:off x="4520160" y="2468880"/>
            <a:ext cx="3148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079c1"/>
                </a:solidFill>
                <a:latin typeface="Calibri"/>
                <a:ea typeface="Calibri"/>
              </a:rPr>
              <a:t>26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Text 15"/>
          <p:cNvSpPr/>
          <p:nvPr/>
        </p:nvSpPr>
        <p:spPr>
          <a:xfrm>
            <a:off x="4520160" y="3383280"/>
            <a:ext cx="3148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subscriber (source) connector types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16"/>
          <p:cNvSpPr/>
          <p:nvPr/>
        </p:nvSpPr>
        <p:spPr>
          <a:xfrm>
            <a:off x="8171640" y="2148840"/>
            <a:ext cx="3513960" cy="2011320"/>
          </a:xfrm>
          <a:prstGeom prst="roundRect">
            <a:avLst>
              <a:gd name="adj" fmla="val 2273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 17"/>
          <p:cNvSpPr/>
          <p:nvPr/>
        </p:nvSpPr>
        <p:spPr>
          <a:xfrm>
            <a:off x="8354520" y="2468880"/>
            <a:ext cx="3148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079c1"/>
                </a:solidFill>
                <a:latin typeface="Calibri"/>
                <a:ea typeface="Calibri"/>
              </a:rPr>
              <a:t>8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 18"/>
          <p:cNvSpPr/>
          <p:nvPr/>
        </p:nvSpPr>
        <p:spPr>
          <a:xfrm>
            <a:off x="8354520" y="3383280"/>
            <a:ext cx="3148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connector families across the stack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 19"/>
          <p:cNvSpPr/>
          <p:nvPr/>
        </p:nvSpPr>
        <p:spPr>
          <a:xfrm>
            <a:off x="502920" y="4526280"/>
            <a:ext cx="1118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66e80"/>
                </a:solidFill>
                <a:latin typeface="Calibri"/>
                <a:ea typeface="Calibri"/>
              </a:rPr>
              <a:t>One uniform connector contract — so any source can feed any calculator and reach any sink.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Connectors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Message Broker Connectors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Shape 10"/>
          <p:cNvSpPr/>
          <p:nvPr/>
        </p:nvSpPr>
        <p:spPr>
          <a:xfrm>
            <a:off x="502920" y="1691640"/>
            <a:ext cx="5454000" cy="1691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11"/>
          <p:cNvSpPr/>
          <p:nvPr/>
        </p:nvSpPr>
        <p:spPr>
          <a:xfrm>
            <a:off x="758880" y="192924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 12"/>
          <p:cNvSpPr/>
          <p:nvPr/>
        </p:nvSpPr>
        <p:spPr>
          <a:xfrm>
            <a:off x="75888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 13"/>
          <p:cNvSpPr/>
          <p:nvPr/>
        </p:nvSpPr>
        <p:spPr>
          <a:xfrm>
            <a:off x="1371600" y="1911240"/>
            <a:ext cx="4356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Apache Kafka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 14"/>
          <p:cNvSpPr/>
          <p:nvPr/>
        </p:nvSpPr>
        <p:spPr>
          <a:xfrm>
            <a:off x="777240" y="2532960"/>
            <a:ext cx="4905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First-class support via kafka-python and confluent-kafka; keyed partitioning and durable egress.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15"/>
          <p:cNvSpPr/>
          <p:nvPr/>
        </p:nvSpPr>
        <p:spPr>
          <a:xfrm>
            <a:off x="6231600" y="1691640"/>
            <a:ext cx="5454000" cy="1691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16"/>
          <p:cNvSpPr/>
          <p:nvPr/>
        </p:nvSpPr>
        <p:spPr>
          <a:xfrm>
            <a:off x="6487560" y="1929240"/>
            <a:ext cx="456840" cy="456840"/>
          </a:xfrm>
          <a:prstGeom prst="ellipse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 17"/>
          <p:cNvSpPr/>
          <p:nvPr/>
        </p:nvSpPr>
        <p:spPr>
          <a:xfrm>
            <a:off x="648756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 18"/>
          <p:cNvSpPr/>
          <p:nvPr/>
        </p:nvSpPr>
        <p:spPr>
          <a:xfrm>
            <a:off x="7100280" y="1911240"/>
            <a:ext cx="4356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TibcoEMS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 19"/>
          <p:cNvSpPr/>
          <p:nvPr/>
        </p:nvSpPr>
        <p:spPr>
          <a:xfrm>
            <a:off x="6505920" y="2532960"/>
            <a:ext cx="4905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Enterprise JMS-style messaging for established financial and trading estates.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20"/>
          <p:cNvSpPr/>
          <p:nvPr/>
        </p:nvSpPr>
        <p:spPr>
          <a:xfrm>
            <a:off x="502920" y="3639240"/>
            <a:ext cx="5454000" cy="1691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21"/>
          <p:cNvSpPr/>
          <p:nvPr/>
        </p:nvSpPr>
        <p:spPr>
          <a:xfrm>
            <a:off x="758880" y="387720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 22"/>
          <p:cNvSpPr/>
          <p:nvPr/>
        </p:nvSpPr>
        <p:spPr>
          <a:xfrm>
            <a:off x="758880" y="3877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 23"/>
          <p:cNvSpPr/>
          <p:nvPr/>
        </p:nvSpPr>
        <p:spPr>
          <a:xfrm>
            <a:off x="1371600" y="3858840"/>
            <a:ext cx="4356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IBM WebSphere MQ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Text 24"/>
          <p:cNvSpPr/>
          <p:nvPr/>
        </p:nvSpPr>
        <p:spPr>
          <a:xfrm>
            <a:off x="777240" y="4480560"/>
            <a:ext cx="4905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Reliable enterprise queuing for mission-critical integration.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25"/>
          <p:cNvSpPr/>
          <p:nvPr/>
        </p:nvSpPr>
        <p:spPr>
          <a:xfrm>
            <a:off x="6231600" y="3639240"/>
            <a:ext cx="5454000" cy="1691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26"/>
          <p:cNvSpPr/>
          <p:nvPr/>
        </p:nvSpPr>
        <p:spPr>
          <a:xfrm>
            <a:off x="6487560" y="3877200"/>
            <a:ext cx="456840" cy="456840"/>
          </a:xfrm>
          <a:prstGeom prst="ellipse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Text 27"/>
          <p:cNvSpPr/>
          <p:nvPr/>
        </p:nvSpPr>
        <p:spPr>
          <a:xfrm>
            <a:off x="6487560" y="3877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Text 28"/>
          <p:cNvSpPr/>
          <p:nvPr/>
        </p:nvSpPr>
        <p:spPr>
          <a:xfrm>
            <a:off x="7100280" y="3858840"/>
            <a:ext cx="4356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In-memory &amp; local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 29"/>
          <p:cNvSpPr/>
          <p:nvPr/>
        </p:nvSpPr>
        <p:spPr>
          <a:xfrm>
            <a:off x="6505920" y="4480560"/>
            <a:ext cx="4905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In-process broker and local transports for development and single-box pipelines.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30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 31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Broker connectors share the same node contract, so swapping a transport doesn't change the graph.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Connectors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Kafka Deep-Dive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Choose the client library per deployment: kafka-python or confluent-kafka.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The publisher serializes values (and keys) and lets Kafka's partitioner place messages.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A configurable partition_key names the message field used as the Kafka key.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Same key → same partition: preserves per-key ordering and enables co-partitioned joins.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Durable delivery is available through the write-ahead-log–backed egress path.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Kafka support is built for real workloads — keyed routing, multiple libraries, and durability.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Connectors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Publisher Partitioning Done Right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Shape 10"/>
          <p:cNvSpPr/>
          <p:nvPr/>
        </p:nvSpPr>
        <p:spPr>
          <a:xfrm>
            <a:off x="502920" y="1691640"/>
            <a:ext cx="11182680" cy="456840"/>
          </a:xfrm>
          <a:prstGeom prst="roundRect">
            <a:avLst>
              <a:gd name="adj" fmla="val 6000"/>
            </a:avLst>
          </a:prstGeom>
          <a:solidFill>
            <a:srgbClr val="e27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Text 11"/>
          <p:cNvSpPr/>
          <p:nvPr/>
        </p:nvSpPr>
        <p:spPr>
          <a:xfrm>
            <a:off x="502920" y="1691640"/>
            <a:ext cx="1118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Principle — the producer provides the key, Kafka decides the partition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12"/>
          <p:cNvSpPr/>
          <p:nvPr/>
        </p:nvSpPr>
        <p:spPr>
          <a:xfrm>
            <a:off x="502920" y="2240280"/>
            <a:ext cx="11182680" cy="3958920"/>
          </a:xfrm>
          <a:prstGeom prst="roundRect">
            <a:avLst>
              <a:gd name="adj" fmla="val 693"/>
            </a:avLst>
          </a:prstGeom>
          <a:solidFill>
            <a:srgbClr val="0e22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Text 13"/>
          <p:cNvSpPr/>
          <p:nvPr/>
        </p:nvSpPr>
        <p:spPr>
          <a:xfrm>
            <a:off x="822960" y="2423160"/>
            <a:ext cx="10542600" cy="363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d7e6f0"/>
                </a:solidFill>
                <a:latin typeface="Courier New"/>
                <a:ea typeface="Courier New"/>
              </a:rPr>
              <a:t># Configure only the field to key on: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8fb7cf"/>
                </a:solidFill>
                <a:latin typeface="Courier New"/>
                <a:ea typeface="Courier New"/>
              </a:rPr>
              <a:t>  </a:t>
            </a:r>
            <a:r>
              <a:rPr b="0" lang="en-US" sz="1250" spc="-1" strike="noStrike">
                <a:solidFill>
                  <a:srgbClr val="8fb7cf"/>
                </a:solidFill>
                <a:latin typeface="Courier New"/>
                <a:ea typeface="Courier New"/>
              </a:rPr>
              <a:t>partition_key: "symbol"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d7e6f0"/>
                </a:solidFill>
                <a:latin typeface="Courier New"/>
                <a:ea typeface="Courier New"/>
              </a:rPr>
              <a:t># The publisher sends:  send(topic, value=record, key=record['symbol'])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d7e6f0"/>
                </a:solidFill>
                <a:latin typeface="Courier New"/>
                <a:ea typeface="Courier New"/>
              </a:rPr>
              <a:t>#   - it NEVER computes a partition number itself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d7e6f0"/>
                </a:solidFill>
                <a:latin typeface="Courier New"/>
                <a:ea typeface="Courier New"/>
              </a:rPr>
              <a:t>#   - same key  -&gt; same partition (Kafka hashes the key)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d7e6f0"/>
                </a:solidFill>
                <a:latin typeface="Courier New"/>
                <a:ea typeface="Courier New"/>
              </a:rPr>
              <a:t>#   - works for any topic partition count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d7e6f0"/>
                </a:solidFill>
                <a:latin typeface="Courier New"/>
                <a:ea typeface="Courier New"/>
              </a:rPr>
              <a:t># Unset -&gt; no key -&gt; Kafka's default partitioner spreads messages (unchanged).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Connectors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Cloud Connectors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Shape 10"/>
          <p:cNvSpPr/>
          <p:nvPr/>
        </p:nvSpPr>
        <p:spPr>
          <a:xfrm>
            <a:off x="502920" y="1691640"/>
            <a:ext cx="3544560" cy="3638880"/>
          </a:xfrm>
          <a:prstGeom prst="roundRect">
            <a:avLst>
              <a:gd name="adj" fmla="val 103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Shape 11"/>
          <p:cNvSpPr/>
          <p:nvPr/>
        </p:nvSpPr>
        <p:spPr>
          <a:xfrm>
            <a:off x="758880" y="192924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 12"/>
          <p:cNvSpPr/>
          <p:nvPr/>
        </p:nvSpPr>
        <p:spPr>
          <a:xfrm>
            <a:off x="75888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 13"/>
          <p:cNvSpPr/>
          <p:nvPr/>
        </p:nvSpPr>
        <p:spPr>
          <a:xfrm>
            <a:off x="1371600" y="1911240"/>
            <a:ext cx="244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Amazon Web Services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 14"/>
          <p:cNvSpPr/>
          <p:nvPr/>
        </p:nvSpPr>
        <p:spPr>
          <a:xfrm>
            <a:off x="777240" y="2532960"/>
            <a:ext cx="2995920" cy="26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Connect to AWS messaging and storage services as graph sources and sinks.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15"/>
          <p:cNvSpPr/>
          <p:nvPr/>
        </p:nvSpPr>
        <p:spPr>
          <a:xfrm>
            <a:off x="4322160" y="1691640"/>
            <a:ext cx="3544560" cy="3638880"/>
          </a:xfrm>
          <a:prstGeom prst="roundRect">
            <a:avLst>
              <a:gd name="adj" fmla="val 103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16"/>
          <p:cNvSpPr/>
          <p:nvPr/>
        </p:nvSpPr>
        <p:spPr>
          <a:xfrm>
            <a:off x="4578120" y="1929240"/>
            <a:ext cx="456840" cy="456840"/>
          </a:xfrm>
          <a:prstGeom prst="ellipse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Text 17"/>
          <p:cNvSpPr/>
          <p:nvPr/>
        </p:nvSpPr>
        <p:spPr>
          <a:xfrm>
            <a:off x="457812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Text 18"/>
          <p:cNvSpPr/>
          <p:nvPr/>
        </p:nvSpPr>
        <p:spPr>
          <a:xfrm>
            <a:off x="5190840" y="1911240"/>
            <a:ext cx="244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Microsoft Azure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Text 19"/>
          <p:cNvSpPr/>
          <p:nvPr/>
        </p:nvSpPr>
        <p:spPr>
          <a:xfrm>
            <a:off x="4596480" y="2532960"/>
            <a:ext cx="2995920" cy="26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Integrate Azure messaging and data services through the same node model.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20"/>
          <p:cNvSpPr/>
          <p:nvPr/>
        </p:nvSpPr>
        <p:spPr>
          <a:xfrm>
            <a:off x="8141040" y="1691640"/>
            <a:ext cx="3544560" cy="3638880"/>
          </a:xfrm>
          <a:prstGeom prst="roundRect">
            <a:avLst>
              <a:gd name="adj" fmla="val 103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21"/>
          <p:cNvSpPr/>
          <p:nvPr/>
        </p:nvSpPr>
        <p:spPr>
          <a:xfrm>
            <a:off x="8397360" y="192924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Text 22"/>
          <p:cNvSpPr/>
          <p:nvPr/>
        </p:nvSpPr>
        <p:spPr>
          <a:xfrm>
            <a:off x="839736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 23"/>
          <p:cNvSpPr/>
          <p:nvPr/>
        </p:nvSpPr>
        <p:spPr>
          <a:xfrm>
            <a:off x="9009720" y="1911240"/>
            <a:ext cx="244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Google Cloud Platform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Text 24"/>
          <p:cNvSpPr/>
          <p:nvPr/>
        </p:nvSpPr>
        <p:spPr>
          <a:xfrm>
            <a:off x="8415360" y="2532960"/>
            <a:ext cx="2995920" cy="26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Subscribe to and publish to GCP services without bespoke glue code.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Shape 25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 26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Cloud services are first-class nodes — multi-cloud pipelines without provider lock-in in the graph.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Connectors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Data Store Connectors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Shape 10"/>
          <p:cNvSpPr/>
          <p:nvPr/>
        </p:nvSpPr>
        <p:spPr>
          <a:xfrm>
            <a:off x="502920" y="1691640"/>
            <a:ext cx="5454000" cy="1691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11"/>
          <p:cNvSpPr/>
          <p:nvPr/>
        </p:nvSpPr>
        <p:spPr>
          <a:xfrm>
            <a:off x="758880" y="192924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 12"/>
          <p:cNvSpPr/>
          <p:nvPr/>
        </p:nvSpPr>
        <p:spPr>
          <a:xfrm>
            <a:off x="75888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 13"/>
          <p:cNvSpPr/>
          <p:nvPr/>
        </p:nvSpPr>
        <p:spPr>
          <a:xfrm>
            <a:off x="1371600" y="1911240"/>
            <a:ext cx="4356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SQL databases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Text 14"/>
          <p:cNvSpPr/>
          <p:nvPr/>
        </p:nvSpPr>
        <p:spPr>
          <a:xfrm>
            <a:off x="777240" y="2532960"/>
            <a:ext cx="4905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Read from and write to relational stores as graph sources and sinks.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15"/>
          <p:cNvSpPr/>
          <p:nvPr/>
        </p:nvSpPr>
        <p:spPr>
          <a:xfrm>
            <a:off x="6231600" y="1691640"/>
            <a:ext cx="5454000" cy="1691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16"/>
          <p:cNvSpPr/>
          <p:nvPr/>
        </p:nvSpPr>
        <p:spPr>
          <a:xfrm>
            <a:off x="6487560" y="1929240"/>
            <a:ext cx="456840" cy="456840"/>
          </a:xfrm>
          <a:prstGeom prst="ellipse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Text 17"/>
          <p:cNvSpPr/>
          <p:nvPr/>
        </p:nvSpPr>
        <p:spPr>
          <a:xfrm>
            <a:off x="648756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Text 18"/>
          <p:cNvSpPr/>
          <p:nvPr/>
        </p:nvSpPr>
        <p:spPr>
          <a:xfrm>
            <a:off x="7100280" y="1911240"/>
            <a:ext cx="4356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LMDB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Text 19"/>
          <p:cNvSpPr/>
          <p:nvPr/>
        </p:nvSpPr>
        <p:spPr>
          <a:xfrm>
            <a:off x="6505920" y="2532960"/>
            <a:ext cx="4905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Fast embedded key-value persistence for local, high-throughput state.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20"/>
          <p:cNvSpPr/>
          <p:nvPr/>
        </p:nvSpPr>
        <p:spPr>
          <a:xfrm>
            <a:off x="502920" y="3639240"/>
            <a:ext cx="5454000" cy="1691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21"/>
          <p:cNvSpPr/>
          <p:nvPr/>
        </p:nvSpPr>
        <p:spPr>
          <a:xfrm>
            <a:off x="758880" y="387720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Text 22"/>
          <p:cNvSpPr/>
          <p:nvPr/>
        </p:nvSpPr>
        <p:spPr>
          <a:xfrm>
            <a:off x="758880" y="3877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Text 23"/>
          <p:cNvSpPr/>
          <p:nvPr/>
        </p:nvSpPr>
        <p:spPr>
          <a:xfrm>
            <a:off x="1371600" y="3858840"/>
            <a:ext cx="4356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In-memory store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Text 24"/>
          <p:cNvSpPr/>
          <p:nvPr/>
        </p:nvSpPr>
        <p:spPr>
          <a:xfrm>
            <a:off x="777240" y="4480560"/>
            <a:ext cx="4905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An in-process store (incl. a Redis-style clone) for caching and fast lookups.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25"/>
          <p:cNvSpPr/>
          <p:nvPr/>
        </p:nvSpPr>
        <p:spPr>
          <a:xfrm>
            <a:off x="6231600" y="3639240"/>
            <a:ext cx="5454000" cy="1691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26"/>
          <p:cNvSpPr/>
          <p:nvPr/>
        </p:nvSpPr>
        <p:spPr>
          <a:xfrm>
            <a:off x="6487560" y="3877200"/>
            <a:ext cx="456840" cy="456840"/>
          </a:xfrm>
          <a:prstGeom prst="ellipse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Text 27"/>
          <p:cNvSpPr/>
          <p:nvPr/>
        </p:nvSpPr>
        <p:spPr>
          <a:xfrm>
            <a:off x="6487560" y="3877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Text 28"/>
          <p:cNvSpPr/>
          <p:nvPr/>
        </p:nvSpPr>
        <p:spPr>
          <a:xfrm>
            <a:off x="7100280" y="3858840"/>
            <a:ext cx="4356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Write-ahead log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Text 29"/>
          <p:cNvSpPr/>
          <p:nvPr/>
        </p:nvSpPr>
        <p:spPr>
          <a:xfrm>
            <a:off x="6505920" y="4480560"/>
            <a:ext cx="4905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Durable egress staging that protects in-flight results before delivery.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30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Text 31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From embedded key-value to relational, stores plug in through the same uniform contract.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Connectors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Network Connectors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Shape 10"/>
          <p:cNvSpPr/>
          <p:nvPr/>
        </p:nvSpPr>
        <p:spPr>
          <a:xfrm>
            <a:off x="502920" y="1691640"/>
            <a:ext cx="3544560" cy="3638880"/>
          </a:xfrm>
          <a:prstGeom prst="roundRect">
            <a:avLst>
              <a:gd name="adj" fmla="val 103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11"/>
          <p:cNvSpPr/>
          <p:nvPr/>
        </p:nvSpPr>
        <p:spPr>
          <a:xfrm>
            <a:off x="758880" y="192924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Text 12"/>
          <p:cNvSpPr/>
          <p:nvPr/>
        </p:nvSpPr>
        <p:spPr>
          <a:xfrm>
            <a:off x="75888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Text 13"/>
          <p:cNvSpPr/>
          <p:nvPr/>
        </p:nvSpPr>
        <p:spPr>
          <a:xfrm>
            <a:off x="1371600" y="1911240"/>
            <a:ext cx="244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REST / HTTP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 14"/>
          <p:cNvSpPr/>
          <p:nvPr/>
        </p:nvSpPr>
        <p:spPr>
          <a:xfrm>
            <a:off x="777240" y="2532960"/>
            <a:ext cx="2995920" cy="26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Poll or receive over HTTP and publish results to HTTP endpoints.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15"/>
          <p:cNvSpPr/>
          <p:nvPr/>
        </p:nvSpPr>
        <p:spPr>
          <a:xfrm>
            <a:off x="4322160" y="1691640"/>
            <a:ext cx="3544560" cy="3638880"/>
          </a:xfrm>
          <a:prstGeom prst="roundRect">
            <a:avLst>
              <a:gd name="adj" fmla="val 103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16"/>
          <p:cNvSpPr/>
          <p:nvPr/>
        </p:nvSpPr>
        <p:spPr>
          <a:xfrm>
            <a:off x="4578120" y="1929240"/>
            <a:ext cx="456840" cy="456840"/>
          </a:xfrm>
          <a:prstGeom prst="ellipse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Text 17"/>
          <p:cNvSpPr/>
          <p:nvPr/>
        </p:nvSpPr>
        <p:spPr>
          <a:xfrm>
            <a:off x="457812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Text 18"/>
          <p:cNvSpPr/>
          <p:nvPr/>
        </p:nvSpPr>
        <p:spPr>
          <a:xfrm>
            <a:off x="5190840" y="1911240"/>
            <a:ext cx="244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WebSocket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Text 19"/>
          <p:cNvSpPr/>
          <p:nvPr/>
        </p:nvSpPr>
        <p:spPr>
          <a:xfrm>
            <a:off x="4596480" y="2532960"/>
            <a:ext cx="2995920" cy="26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Full-duplex streaming for low-latency, push-based integration.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20"/>
          <p:cNvSpPr/>
          <p:nvPr/>
        </p:nvSpPr>
        <p:spPr>
          <a:xfrm>
            <a:off x="8141040" y="1691640"/>
            <a:ext cx="3544560" cy="3638880"/>
          </a:xfrm>
          <a:prstGeom prst="roundRect">
            <a:avLst>
              <a:gd name="adj" fmla="val 103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21"/>
          <p:cNvSpPr/>
          <p:nvPr/>
        </p:nvSpPr>
        <p:spPr>
          <a:xfrm>
            <a:off x="8397360" y="192924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Text 22"/>
          <p:cNvSpPr/>
          <p:nvPr/>
        </p:nvSpPr>
        <p:spPr>
          <a:xfrm>
            <a:off x="839736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Text 23"/>
          <p:cNvSpPr/>
          <p:nvPr/>
        </p:nvSpPr>
        <p:spPr>
          <a:xfrm>
            <a:off x="9009720" y="1911240"/>
            <a:ext cx="244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Webhooks &amp; APIs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Text 24"/>
          <p:cNvSpPr/>
          <p:nvPr/>
        </p:nvSpPr>
        <p:spPr>
          <a:xfrm>
            <a:off x="8415360" y="2532960"/>
            <a:ext cx="2995920" cy="26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Bridge external SaaS and internal services into the graph as nodes.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Shape 25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 26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Network connectors bring the long tail of APIs and services into the same reactive model.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7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Connectors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Enterprise Messaging — Designed for Real Estates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Shape 10"/>
          <p:cNvSpPr/>
          <p:nvPr/>
        </p:nvSpPr>
        <p:spPr>
          <a:xfrm>
            <a:off x="502920" y="1691640"/>
            <a:ext cx="11182680" cy="1030680"/>
          </a:xfrm>
          <a:prstGeom prst="roundRect">
            <a:avLst>
              <a:gd name="adj" fmla="val 3548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Text 11"/>
          <p:cNvSpPr/>
          <p:nvPr/>
        </p:nvSpPr>
        <p:spPr>
          <a:xfrm>
            <a:off x="777240" y="1691640"/>
            <a:ext cx="3382920" cy="103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TibcoEMS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Text 12"/>
          <p:cNvSpPr/>
          <p:nvPr/>
        </p:nvSpPr>
        <p:spPr>
          <a:xfrm>
            <a:off x="4343400" y="1737360"/>
            <a:ext cx="7067880" cy="93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Connects to existing EMS infrastructure common in trading and risk systems.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13"/>
          <p:cNvSpPr/>
          <p:nvPr/>
        </p:nvSpPr>
        <p:spPr>
          <a:xfrm>
            <a:off x="502920" y="2850480"/>
            <a:ext cx="11182680" cy="1030680"/>
          </a:xfrm>
          <a:prstGeom prst="roundRect">
            <a:avLst>
              <a:gd name="adj" fmla="val 3548"/>
            </a:avLst>
          </a:prstGeom>
          <a:solidFill>
            <a:srgbClr val="eaf1f8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Text 14"/>
          <p:cNvSpPr/>
          <p:nvPr/>
        </p:nvSpPr>
        <p:spPr>
          <a:xfrm>
            <a:off x="777240" y="2850480"/>
            <a:ext cx="3382920" cy="103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IBM WebSphere MQ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 15"/>
          <p:cNvSpPr/>
          <p:nvPr/>
        </p:nvSpPr>
        <p:spPr>
          <a:xfrm>
            <a:off x="4343400" y="2896200"/>
            <a:ext cx="7067880" cy="93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Reliable, transactional queuing for mission-critical enterprise flows.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16"/>
          <p:cNvSpPr/>
          <p:nvPr/>
        </p:nvSpPr>
        <p:spPr>
          <a:xfrm>
            <a:off x="502920" y="4009680"/>
            <a:ext cx="11182680" cy="1030680"/>
          </a:xfrm>
          <a:prstGeom prst="roundRect">
            <a:avLst>
              <a:gd name="adj" fmla="val 3548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 17"/>
          <p:cNvSpPr/>
          <p:nvPr/>
        </p:nvSpPr>
        <p:spPr>
          <a:xfrm>
            <a:off x="777240" y="4009680"/>
            <a:ext cx="3382920" cy="103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Uniform contract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 18"/>
          <p:cNvSpPr/>
          <p:nvPr/>
        </p:nvSpPr>
        <p:spPr>
          <a:xfrm>
            <a:off x="4343400" y="4055400"/>
            <a:ext cx="7067880" cy="93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Enterprise queues are nodes like any other — no special-casing in the graph.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19"/>
          <p:cNvSpPr/>
          <p:nvPr/>
        </p:nvSpPr>
        <p:spPr>
          <a:xfrm>
            <a:off x="502920" y="5168520"/>
            <a:ext cx="11182680" cy="1030680"/>
          </a:xfrm>
          <a:prstGeom prst="roundRect">
            <a:avLst>
              <a:gd name="adj" fmla="val 3548"/>
            </a:avLst>
          </a:prstGeom>
          <a:solidFill>
            <a:srgbClr val="eaf1f8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Text 20"/>
          <p:cNvSpPr/>
          <p:nvPr/>
        </p:nvSpPr>
        <p:spPr>
          <a:xfrm>
            <a:off x="777240" y="5168520"/>
            <a:ext cx="3382920" cy="103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Durable egress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 21"/>
          <p:cNvSpPr/>
          <p:nvPr/>
        </p:nvSpPr>
        <p:spPr>
          <a:xfrm>
            <a:off x="4343400" y="5214240"/>
            <a:ext cx="7067880" cy="93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WAL-backed publication protects messages in flight to these destinations.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5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Text 2"/>
          <p:cNvSpPr/>
          <p:nvPr/>
        </p:nvSpPr>
        <p:spPr>
          <a:xfrm>
            <a:off x="548640" y="4572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1" name="Text 3"/>
          <p:cNvSpPr/>
          <p:nvPr/>
        </p:nvSpPr>
        <p:spPr>
          <a:xfrm>
            <a:off x="7159680" y="4572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5fb0e0"/>
                </a:solidFill>
                <a:latin typeface="Calibri"/>
                <a:ea typeface="Calibri"/>
              </a:rPr>
              <a:t>SECTION 3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2" name="Shape 4"/>
          <p:cNvSpPr/>
          <p:nvPr/>
        </p:nvSpPr>
        <p:spPr>
          <a:xfrm>
            <a:off x="5225760" y="1737360"/>
            <a:ext cx="1737000" cy="17370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2e93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3" name="Text 5"/>
          <p:cNvSpPr/>
          <p:nvPr/>
        </p:nvSpPr>
        <p:spPr>
          <a:xfrm>
            <a:off x="5225760" y="173736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4" name="Text 6"/>
          <p:cNvSpPr/>
          <p:nvPr/>
        </p:nvSpPr>
        <p:spPr>
          <a:xfrm>
            <a:off x="914400" y="3794760"/>
            <a:ext cx="10359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Calculators — Compute in Any Language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5" name="Text 7"/>
          <p:cNvSpPr/>
          <p:nvPr/>
        </p:nvSpPr>
        <p:spPr>
          <a:xfrm>
            <a:off x="1828800" y="4663440"/>
            <a:ext cx="8530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fe3f2"/>
                </a:solidFill>
                <a:latin typeface="Calibri"/>
                <a:ea typeface="Calibri"/>
              </a:rPr>
              <a:t>Reusable units of computation that turn raw inputs into enriched, valued, and scored results.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7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8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Calculators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The Calculator Model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A calculator is a reusable unit of compute: defined inputs in, defined outputs out.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Calculators compose into chains — each stage adds validation, enrichment, or scoring.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They are language-agnostic: the engine bridges to native runtimes through gateways.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Because they're reusable, the same logic powers row-, array-, and Arrow-based lanes.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Calculators are gated by the equality check, so they fire only on real input changes.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Express domain logic once as a calculator, then reuse it across pipelines and execution lanes.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0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Calculators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5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Compute in Any Language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9" name="Shape 10"/>
          <p:cNvSpPr/>
          <p:nvPr/>
        </p:nvSpPr>
        <p:spPr>
          <a:xfrm>
            <a:off x="502920" y="1691640"/>
            <a:ext cx="3544560" cy="1691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11"/>
          <p:cNvSpPr/>
          <p:nvPr/>
        </p:nvSpPr>
        <p:spPr>
          <a:xfrm>
            <a:off x="758880" y="192924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1" name="Text 12"/>
          <p:cNvSpPr/>
          <p:nvPr/>
        </p:nvSpPr>
        <p:spPr>
          <a:xfrm>
            <a:off x="75888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Text 13"/>
          <p:cNvSpPr/>
          <p:nvPr/>
        </p:nvSpPr>
        <p:spPr>
          <a:xfrm>
            <a:off x="1371600" y="1911240"/>
            <a:ext cx="244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Python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Text 14"/>
          <p:cNvSpPr/>
          <p:nvPr/>
        </p:nvSpPr>
        <p:spPr>
          <a:xfrm>
            <a:off x="777240" y="2532960"/>
            <a:ext cx="2995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The default lane — fast to author, ideal for business and analytics logic.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Shape 15"/>
          <p:cNvSpPr/>
          <p:nvPr/>
        </p:nvSpPr>
        <p:spPr>
          <a:xfrm>
            <a:off x="4322160" y="1691640"/>
            <a:ext cx="3544560" cy="1691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16"/>
          <p:cNvSpPr/>
          <p:nvPr/>
        </p:nvSpPr>
        <p:spPr>
          <a:xfrm>
            <a:off x="4578120" y="1929240"/>
            <a:ext cx="456840" cy="456840"/>
          </a:xfrm>
          <a:prstGeom prst="ellipse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6" name="Text 17"/>
          <p:cNvSpPr/>
          <p:nvPr/>
        </p:nvSpPr>
        <p:spPr>
          <a:xfrm>
            <a:off x="457812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Text 18"/>
          <p:cNvSpPr/>
          <p:nvPr/>
        </p:nvSpPr>
        <p:spPr>
          <a:xfrm>
            <a:off x="5190840" y="1911240"/>
            <a:ext cx="244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C++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Text 19"/>
          <p:cNvSpPr/>
          <p:nvPr/>
        </p:nvSpPr>
        <p:spPr>
          <a:xfrm>
            <a:off x="4596480" y="2532960"/>
            <a:ext cx="2995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Native performance for hot paths via a managed C++ gateway.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20"/>
          <p:cNvSpPr/>
          <p:nvPr/>
        </p:nvSpPr>
        <p:spPr>
          <a:xfrm>
            <a:off x="8141040" y="1691640"/>
            <a:ext cx="3544560" cy="1691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21"/>
          <p:cNvSpPr/>
          <p:nvPr/>
        </p:nvSpPr>
        <p:spPr>
          <a:xfrm>
            <a:off x="8397360" y="192924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1" name="Text 22"/>
          <p:cNvSpPr/>
          <p:nvPr/>
        </p:nvSpPr>
        <p:spPr>
          <a:xfrm>
            <a:off x="839736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Text 23"/>
          <p:cNvSpPr/>
          <p:nvPr/>
        </p:nvSpPr>
        <p:spPr>
          <a:xfrm>
            <a:off x="9009720" y="1911240"/>
            <a:ext cx="244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Rust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Text 24"/>
          <p:cNvSpPr/>
          <p:nvPr/>
        </p:nvSpPr>
        <p:spPr>
          <a:xfrm>
            <a:off x="8415360" y="2532960"/>
            <a:ext cx="2995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Safe, high-performance native calculators with modern tooling.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25"/>
          <p:cNvSpPr/>
          <p:nvPr/>
        </p:nvSpPr>
        <p:spPr>
          <a:xfrm>
            <a:off x="502920" y="3639240"/>
            <a:ext cx="3544560" cy="1691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26"/>
          <p:cNvSpPr/>
          <p:nvPr/>
        </p:nvSpPr>
        <p:spPr>
          <a:xfrm>
            <a:off x="758880" y="3877200"/>
            <a:ext cx="456840" cy="456840"/>
          </a:xfrm>
          <a:prstGeom prst="ellipse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6" name="Text 27"/>
          <p:cNvSpPr/>
          <p:nvPr/>
        </p:nvSpPr>
        <p:spPr>
          <a:xfrm>
            <a:off x="758880" y="3877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Text 28"/>
          <p:cNvSpPr/>
          <p:nvPr/>
        </p:nvSpPr>
        <p:spPr>
          <a:xfrm>
            <a:off x="1371600" y="3858840"/>
            <a:ext cx="244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JVM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Text 29"/>
          <p:cNvSpPr/>
          <p:nvPr/>
        </p:nvSpPr>
        <p:spPr>
          <a:xfrm>
            <a:off x="777240" y="4480560"/>
            <a:ext cx="2995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Reuse existing Java/Scala/Kotlin libraries through a JVM gateway.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30"/>
          <p:cNvSpPr/>
          <p:nvPr/>
        </p:nvSpPr>
        <p:spPr>
          <a:xfrm>
            <a:off x="4322160" y="3639240"/>
            <a:ext cx="3544560" cy="1691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Shape 31"/>
          <p:cNvSpPr/>
          <p:nvPr/>
        </p:nvSpPr>
        <p:spPr>
          <a:xfrm>
            <a:off x="4578120" y="387720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1" name="Text 32"/>
          <p:cNvSpPr/>
          <p:nvPr/>
        </p:nvSpPr>
        <p:spPr>
          <a:xfrm>
            <a:off x="4578120" y="3877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Text 33"/>
          <p:cNvSpPr/>
          <p:nvPr/>
        </p:nvSpPr>
        <p:spPr>
          <a:xfrm>
            <a:off x="5190840" y="3858840"/>
            <a:ext cx="244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Apache Arrow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Text 34"/>
          <p:cNvSpPr/>
          <p:nvPr/>
        </p:nvSpPr>
        <p:spPr>
          <a:xfrm>
            <a:off x="4596480" y="4480560"/>
            <a:ext cx="2995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Columnar, vectorized compute for maximum throughput.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Shape 35"/>
          <p:cNvSpPr/>
          <p:nvPr/>
        </p:nvSpPr>
        <p:spPr>
          <a:xfrm>
            <a:off x="8141040" y="3639240"/>
            <a:ext cx="3544560" cy="1691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36"/>
          <p:cNvSpPr/>
          <p:nvPr/>
        </p:nvSpPr>
        <p:spPr>
          <a:xfrm>
            <a:off x="8397360" y="3877200"/>
            <a:ext cx="456840" cy="456840"/>
          </a:xfrm>
          <a:prstGeom prst="ellipse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6" name="Text 37"/>
          <p:cNvSpPr/>
          <p:nvPr/>
        </p:nvSpPr>
        <p:spPr>
          <a:xfrm>
            <a:off x="8397360" y="3877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Text 38"/>
          <p:cNvSpPr/>
          <p:nvPr/>
        </p:nvSpPr>
        <p:spPr>
          <a:xfrm>
            <a:off x="9009720" y="3858840"/>
            <a:ext cx="244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WASM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Text 39"/>
          <p:cNvSpPr/>
          <p:nvPr/>
        </p:nvSpPr>
        <p:spPr>
          <a:xfrm>
            <a:off x="8415360" y="4480560"/>
            <a:ext cx="2995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Portable, sandboxed compute modules that run anywhere.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40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Text 41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Pick the right tool per stage — and keep one consistent interface across all of them.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2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3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4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Calculators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7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Native Calculators &amp; Gateways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1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JVM, C++, and Rust calculators run through managed gateways the engine controls.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Each gateway exposes status, the calculators it hosts, and the modules it has loaded.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Modules can be loaded, unloaded, reloaded, and built without restarting the server.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Gateways can be restarted, stopped, and reconnected independently for resilience.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Configuration can be reloaded at runtime, keeping native lanes operable in production.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Native speed where you need it, with operational control over every runtime.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5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6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7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Calculators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0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The Apache Arrow Lane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4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Arrow moves data as columnar record batches instead of row-by-row dictionaries.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Vectorized operations process many rows at once, slashing per-record overhead.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The same calculator logic is expressed against batches for dramatic speedups.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Heterogeneous inputs are normalized into a stable columnar schema before compute.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Arrow is the highest-throughput lane for large, uniform workloads.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On a 50k heterogeneous-trade benchmark, the Arrow lane ran ~7.4× faster than the baseline.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8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9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0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Calculators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3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Heterogeneous Sources &amp; Normalization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7" name="Shape 10"/>
          <p:cNvSpPr/>
          <p:nvPr/>
        </p:nvSpPr>
        <p:spPr>
          <a:xfrm>
            <a:off x="502920" y="1691640"/>
            <a:ext cx="11182680" cy="798840"/>
          </a:xfrm>
          <a:prstGeom prst="roundRect">
            <a:avLst>
              <a:gd name="adj" fmla="val 4577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Text 11"/>
          <p:cNvSpPr/>
          <p:nvPr/>
        </p:nvSpPr>
        <p:spPr>
          <a:xfrm>
            <a:off x="777240" y="1691640"/>
            <a:ext cx="338292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The problem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Text 12"/>
          <p:cNvSpPr/>
          <p:nvPr/>
        </p:nvSpPr>
        <p:spPr>
          <a:xfrm>
            <a:off x="4343400" y="1737360"/>
            <a:ext cx="70678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Real feeds mix shapes, fields, and types — naive pipelines break or branch endlessly.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13"/>
          <p:cNvSpPr/>
          <p:nvPr/>
        </p:nvSpPr>
        <p:spPr>
          <a:xfrm>
            <a:off x="502920" y="2619000"/>
            <a:ext cx="11182680" cy="798840"/>
          </a:xfrm>
          <a:prstGeom prst="roundRect">
            <a:avLst>
              <a:gd name="adj" fmla="val 4577"/>
            </a:avLst>
          </a:prstGeom>
          <a:solidFill>
            <a:srgbClr val="eaf1f8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Text 14"/>
          <p:cNvSpPr/>
          <p:nvPr/>
        </p:nvSpPr>
        <p:spPr>
          <a:xfrm>
            <a:off x="777240" y="2619000"/>
            <a:ext cx="338292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Core schema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Text 15"/>
          <p:cNvSpPr/>
          <p:nvPr/>
        </p:nvSpPr>
        <p:spPr>
          <a:xfrm>
            <a:off x="4343400" y="2664720"/>
            <a:ext cx="70678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A normalizing subscription maps mixed inputs into a stable set of core fields.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Shape 16"/>
          <p:cNvSpPr/>
          <p:nvPr/>
        </p:nvSpPr>
        <p:spPr>
          <a:xfrm>
            <a:off x="502920" y="3546000"/>
            <a:ext cx="11182680" cy="798840"/>
          </a:xfrm>
          <a:prstGeom prst="roundRect">
            <a:avLst>
              <a:gd name="adj" fmla="val 4577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Text 17"/>
          <p:cNvSpPr/>
          <p:nvPr/>
        </p:nvSpPr>
        <p:spPr>
          <a:xfrm>
            <a:off x="777240" y="3546000"/>
            <a:ext cx="338292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Extras preserved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Text 18"/>
          <p:cNvSpPr/>
          <p:nvPr/>
        </p:nvSpPr>
        <p:spPr>
          <a:xfrm>
            <a:off x="4343400" y="3591720"/>
            <a:ext cx="70678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Non-core fields are retained alongside the core schema, not discarded.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19"/>
          <p:cNvSpPr/>
          <p:nvPr/>
        </p:nvSpPr>
        <p:spPr>
          <a:xfrm>
            <a:off x="502920" y="4473360"/>
            <a:ext cx="11182680" cy="798840"/>
          </a:xfrm>
          <a:prstGeom prst="roundRect">
            <a:avLst>
              <a:gd name="adj" fmla="val 4577"/>
            </a:avLst>
          </a:prstGeom>
          <a:solidFill>
            <a:srgbClr val="eaf1f8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Text 20"/>
          <p:cNvSpPr/>
          <p:nvPr/>
        </p:nvSpPr>
        <p:spPr>
          <a:xfrm>
            <a:off x="777240" y="4473360"/>
            <a:ext cx="338292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One downstream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Text 21"/>
          <p:cNvSpPr/>
          <p:nvPr/>
        </p:nvSpPr>
        <p:spPr>
          <a:xfrm>
            <a:off x="4343400" y="4519080"/>
            <a:ext cx="70678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Calculators then operate on a predictable shape, regardless of source variety.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Shape 22"/>
          <p:cNvSpPr/>
          <p:nvPr/>
        </p:nvSpPr>
        <p:spPr>
          <a:xfrm>
            <a:off x="502920" y="5400360"/>
            <a:ext cx="11182680" cy="798840"/>
          </a:xfrm>
          <a:prstGeom prst="roundRect">
            <a:avLst>
              <a:gd name="adj" fmla="val 4577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Text 23"/>
          <p:cNvSpPr/>
          <p:nvPr/>
        </p:nvSpPr>
        <p:spPr>
          <a:xfrm>
            <a:off x="777240" y="5400360"/>
            <a:ext cx="338292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Lane-ready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Text 24"/>
          <p:cNvSpPr/>
          <p:nvPr/>
        </p:nvSpPr>
        <p:spPr>
          <a:xfrm>
            <a:off x="4343400" y="5446080"/>
            <a:ext cx="70678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Normalized data feeds the row, array, or Arrow lane without rework.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3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4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Calculators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8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Worked Example — A Trade ETL &amp; Risk Chain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2" name="Shape 10"/>
          <p:cNvSpPr/>
          <p:nvPr/>
        </p:nvSpPr>
        <p:spPr>
          <a:xfrm>
            <a:off x="502920" y="181260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3" name="Text 11"/>
          <p:cNvSpPr/>
          <p:nvPr/>
        </p:nvSpPr>
        <p:spPr>
          <a:xfrm>
            <a:off x="502920" y="18126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Text 12"/>
          <p:cNvSpPr/>
          <p:nvPr/>
        </p:nvSpPr>
        <p:spPr>
          <a:xfrm>
            <a:off x="1097280" y="1710000"/>
            <a:ext cx="374868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Validate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Text 13"/>
          <p:cNvSpPr/>
          <p:nvPr/>
        </p:nvSpPr>
        <p:spPr>
          <a:xfrm>
            <a:off x="4983480" y="1710000"/>
            <a:ext cx="670212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Check required fields and types; reject or quarantine malformed trades.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14"/>
          <p:cNvSpPr/>
          <p:nvPr/>
        </p:nvSpPr>
        <p:spPr>
          <a:xfrm>
            <a:off x="502920" y="245664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7" name="Text 15"/>
          <p:cNvSpPr/>
          <p:nvPr/>
        </p:nvSpPr>
        <p:spPr>
          <a:xfrm>
            <a:off x="502920" y="245664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Text 16"/>
          <p:cNvSpPr/>
          <p:nvPr/>
        </p:nvSpPr>
        <p:spPr>
          <a:xfrm>
            <a:off x="1097280" y="2354040"/>
            <a:ext cx="374868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Normalize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Text 17"/>
          <p:cNvSpPr/>
          <p:nvPr/>
        </p:nvSpPr>
        <p:spPr>
          <a:xfrm>
            <a:off x="4983480" y="2354040"/>
            <a:ext cx="670212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Map heterogeneous inbound trades onto the core schema.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18"/>
          <p:cNvSpPr/>
          <p:nvPr/>
        </p:nvSpPr>
        <p:spPr>
          <a:xfrm>
            <a:off x="502920" y="310032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1" name="Text 19"/>
          <p:cNvSpPr/>
          <p:nvPr/>
        </p:nvSpPr>
        <p:spPr>
          <a:xfrm>
            <a:off x="502920" y="310032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Text 20"/>
          <p:cNvSpPr/>
          <p:nvPr/>
        </p:nvSpPr>
        <p:spPr>
          <a:xfrm>
            <a:off x="1097280" y="2998080"/>
            <a:ext cx="374868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FX convert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Text 21"/>
          <p:cNvSpPr/>
          <p:nvPr/>
        </p:nvSpPr>
        <p:spPr>
          <a:xfrm>
            <a:off x="4983480" y="2998080"/>
            <a:ext cx="670212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Convert notional and prices to a common currency.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Shape 22"/>
          <p:cNvSpPr/>
          <p:nvPr/>
        </p:nvSpPr>
        <p:spPr>
          <a:xfrm>
            <a:off x="502920" y="374436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5" name="Text 23"/>
          <p:cNvSpPr/>
          <p:nvPr/>
        </p:nvSpPr>
        <p:spPr>
          <a:xfrm>
            <a:off x="502920" y="374436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Text 24"/>
          <p:cNvSpPr/>
          <p:nvPr/>
        </p:nvSpPr>
        <p:spPr>
          <a:xfrm>
            <a:off x="1097280" y="3641760"/>
            <a:ext cx="374868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Notional &amp; fees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Text 25"/>
          <p:cNvSpPr/>
          <p:nvPr/>
        </p:nvSpPr>
        <p:spPr>
          <a:xfrm>
            <a:off x="4983480" y="3641760"/>
            <a:ext cx="670212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Compute notional value and apply fee schedules.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hape 26"/>
          <p:cNvSpPr/>
          <p:nvPr/>
        </p:nvSpPr>
        <p:spPr>
          <a:xfrm>
            <a:off x="502920" y="438840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9" name="Text 27"/>
          <p:cNvSpPr/>
          <p:nvPr/>
        </p:nvSpPr>
        <p:spPr>
          <a:xfrm>
            <a:off x="502920" y="43884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Text 28"/>
          <p:cNvSpPr/>
          <p:nvPr/>
        </p:nvSpPr>
        <p:spPr>
          <a:xfrm>
            <a:off x="1097280" y="4285800"/>
            <a:ext cx="374868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Risk score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Text 29"/>
          <p:cNvSpPr/>
          <p:nvPr/>
        </p:nvSpPr>
        <p:spPr>
          <a:xfrm>
            <a:off x="4983480" y="4285800"/>
            <a:ext cx="670212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Derive volatility-based risk and anomaly signals.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hape 30"/>
          <p:cNvSpPr/>
          <p:nvPr/>
        </p:nvSpPr>
        <p:spPr>
          <a:xfrm>
            <a:off x="502920" y="503244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3" name="Text 31"/>
          <p:cNvSpPr/>
          <p:nvPr/>
        </p:nvSpPr>
        <p:spPr>
          <a:xfrm>
            <a:off x="502920" y="503244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Text 32"/>
          <p:cNvSpPr/>
          <p:nvPr/>
        </p:nvSpPr>
        <p:spPr>
          <a:xfrm>
            <a:off x="1097280" y="4929840"/>
            <a:ext cx="374868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Classify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Text 33"/>
          <p:cNvSpPr/>
          <p:nvPr/>
        </p:nvSpPr>
        <p:spPr>
          <a:xfrm>
            <a:off x="4983480" y="4929840"/>
            <a:ext cx="670212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Tag each trade by risk band and category.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Shape 34"/>
          <p:cNvSpPr/>
          <p:nvPr/>
        </p:nvSpPr>
        <p:spPr>
          <a:xfrm>
            <a:off x="502920" y="567648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7" name="Text 35"/>
          <p:cNvSpPr/>
          <p:nvPr/>
        </p:nvSpPr>
        <p:spPr>
          <a:xfrm>
            <a:off x="502920" y="56764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Text 36"/>
          <p:cNvSpPr/>
          <p:nvPr/>
        </p:nvSpPr>
        <p:spPr>
          <a:xfrm>
            <a:off x="1097280" y="5573880"/>
            <a:ext cx="374868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Summarize &amp; publish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Text 37"/>
          <p:cNvSpPr/>
          <p:nvPr/>
        </p:nvSpPr>
        <p:spPr>
          <a:xfrm>
            <a:off x="4983480" y="5573880"/>
            <a:ext cx="670212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Aggregate outputs and deliver to downstream sinks.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5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1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" name="Text 2"/>
          <p:cNvSpPr/>
          <p:nvPr/>
        </p:nvSpPr>
        <p:spPr>
          <a:xfrm>
            <a:off x="548640" y="4572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Text 3"/>
          <p:cNvSpPr/>
          <p:nvPr/>
        </p:nvSpPr>
        <p:spPr>
          <a:xfrm>
            <a:off x="7159680" y="4572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5fb0e0"/>
                </a:solidFill>
                <a:latin typeface="Calibri"/>
                <a:ea typeface="Calibri"/>
              </a:rPr>
              <a:t>SECTION 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Shape 4"/>
          <p:cNvSpPr/>
          <p:nvPr/>
        </p:nvSpPr>
        <p:spPr>
          <a:xfrm>
            <a:off x="5225760" y="1737360"/>
            <a:ext cx="1737000" cy="17370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2e93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5" name="Text 5"/>
          <p:cNvSpPr/>
          <p:nvPr/>
        </p:nvSpPr>
        <p:spPr>
          <a:xfrm>
            <a:off x="5225760" y="173736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6" name="Text 6"/>
          <p:cNvSpPr/>
          <p:nvPr/>
        </p:nvSpPr>
        <p:spPr>
          <a:xfrm>
            <a:off x="914400" y="3794760"/>
            <a:ext cx="10359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The Visual DAG Designer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7" name="Text 7"/>
          <p:cNvSpPr/>
          <p:nvPr/>
        </p:nvSpPr>
        <p:spPr>
          <a:xfrm>
            <a:off x="1828800" y="4663440"/>
            <a:ext cx="8530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fe3f2"/>
                </a:solidFill>
                <a:latin typeface="Calibri"/>
                <a:ea typeface="Calibri"/>
              </a:rPr>
              <a:t>Author, change, and operate pipelines in the browser — the graph is the program.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9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0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1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Designer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Design in the Browser — No Build Pipeline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8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Pipelines are assembled visually by dropping nodes onto a canvas and wiring edges.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There is no compile/build/redeploy cycle — changes take effect against the model directly.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The palette offers every connector and calculator type available to the engine.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Designers see structure and, at runtime, inspect each node's inputs and outputs.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The same designer is used to build new pipelines and to evolve running ones.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Lowering the cost of change is what lets teams iterate on pipelines at the speed of the business.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2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3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4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Designer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7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The Palette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1" name="Shape 10"/>
          <p:cNvSpPr/>
          <p:nvPr/>
        </p:nvSpPr>
        <p:spPr>
          <a:xfrm>
            <a:off x="502920" y="2148840"/>
            <a:ext cx="3513960" cy="2011320"/>
          </a:xfrm>
          <a:prstGeom prst="roundRect">
            <a:avLst>
              <a:gd name="adj" fmla="val 2273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Text 11"/>
          <p:cNvSpPr/>
          <p:nvPr/>
        </p:nvSpPr>
        <p:spPr>
          <a:xfrm>
            <a:off x="685800" y="2468880"/>
            <a:ext cx="3148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079c1"/>
                </a:solidFill>
                <a:latin typeface="Calibri"/>
                <a:ea typeface="Calibri"/>
              </a:rPr>
              <a:t>26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Text 12"/>
          <p:cNvSpPr/>
          <p:nvPr/>
        </p:nvSpPr>
        <p:spPr>
          <a:xfrm>
            <a:off x="685800" y="3383280"/>
            <a:ext cx="3148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subscriber types to drag in as sources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13"/>
          <p:cNvSpPr/>
          <p:nvPr/>
        </p:nvSpPr>
        <p:spPr>
          <a:xfrm>
            <a:off x="4337280" y="2148840"/>
            <a:ext cx="3513960" cy="2011320"/>
          </a:xfrm>
          <a:prstGeom prst="roundRect">
            <a:avLst>
              <a:gd name="adj" fmla="val 2273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Text 14"/>
          <p:cNvSpPr/>
          <p:nvPr/>
        </p:nvSpPr>
        <p:spPr>
          <a:xfrm>
            <a:off x="4520160" y="2468880"/>
            <a:ext cx="3148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079c1"/>
                </a:solidFill>
                <a:latin typeface="Calibri"/>
                <a:ea typeface="Calibri"/>
              </a:rPr>
              <a:t>30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Text 15"/>
          <p:cNvSpPr/>
          <p:nvPr/>
        </p:nvSpPr>
        <p:spPr>
          <a:xfrm>
            <a:off x="4520160" y="3383280"/>
            <a:ext cx="3148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publisher types to drag in as sinks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16"/>
          <p:cNvSpPr/>
          <p:nvPr/>
        </p:nvSpPr>
        <p:spPr>
          <a:xfrm>
            <a:off x="8171640" y="2148840"/>
            <a:ext cx="3513960" cy="2011320"/>
          </a:xfrm>
          <a:prstGeom prst="roundRect">
            <a:avLst>
              <a:gd name="adj" fmla="val 2273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Text 17"/>
          <p:cNvSpPr/>
          <p:nvPr/>
        </p:nvSpPr>
        <p:spPr>
          <a:xfrm>
            <a:off x="8354520" y="2468880"/>
            <a:ext cx="3148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079c1"/>
                </a:solidFill>
                <a:latin typeface="Calibri"/>
                <a:ea typeface="Calibri"/>
              </a:rPr>
              <a:t>6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Text 18"/>
          <p:cNvSpPr/>
          <p:nvPr/>
        </p:nvSpPr>
        <p:spPr>
          <a:xfrm>
            <a:off x="8354520" y="3383280"/>
            <a:ext cx="3148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calculator languages to compute with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Text 19"/>
          <p:cNvSpPr/>
          <p:nvPr/>
        </p:nvSpPr>
        <p:spPr>
          <a:xfrm>
            <a:off x="502920" y="4526280"/>
            <a:ext cx="1118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66e80"/>
                </a:solidFill>
                <a:latin typeface="Calibri"/>
                <a:ea typeface="Calibri"/>
              </a:rPr>
              <a:t>Everything the engine can do is one drag away on the canvas.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2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3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4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Designer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7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Canvas &amp; Model — One Source of Truth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1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The canvas is rendered with a mature graph-visualization engine for large DAGs.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dagState remains authoritative; the canvas is a view that reflects it.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Edits update the model first, then re-render — model and view never diverge.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Node styling and labels are driven by concrete, resolved values for reliable rendering.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Bulk graph updates are batched and finalized so large pipelines render cleanly.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A robust canvas over an authoritative model keeps even large pipelines understandable.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5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6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7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Designer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0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From Canvas to Running Pipeline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4" name="Shape 10"/>
          <p:cNvSpPr/>
          <p:nvPr/>
        </p:nvSpPr>
        <p:spPr>
          <a:xfrm>
            <a:off x="502920" y="186624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5" name="Text 11"/>
          <p:cNvSpPr/>
          <p:nvPr/>
        </p:nvSpPr>
        <p:spPr>
          <a:xfrm>
            <a:off x="502920" y="186624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Text 12"/>
          <p:cNvSpPr/>
          <p:nvPr/>
        </p:nvSpPr>
        <p:spPr>
          <a:xfrm>
            <a:off x="1097280" y="1710000"/>
            <a:ext cx="374868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Compose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Text 13"/>
          <p:cNvSpPr/>
          <p:nvPr/>
        </p:nvSpPr>
        <p:spPr>
          <a:xfrm>
            <a:off x="4983480" y="1710000"/>
            <a:ext cx="670212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Drag sources, calculators, and sinks; wire the edges.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Shape 14"/>
          <p:cNvSpPr/>
          <p:nvPr/>
        </p:nvSpPr>
        <p:spPr>
          <a:xfrm>
            <a:off x="502920" y="261756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9" name="Text 15"/>
          <p:cNvSpPr/>
          <p:nvPr/>
        </p:nvSpPr>
        <p:spPr>
          <a:xfrm>
            <a:off x="502920" y="261756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Text 16"/>
          <p:cNvSpPr/>
          <p:nvPr/>
        </p:nvSpPr>
        <p:spPr>
          <a:xfrm>
            <a:off x="1097280" y="2461320"/>
            <a:ext cx="374868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Configure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Text 17"/>
          <p:cNvSpPr/>
          <p:nvPr/>
        </p:nvSpPr>
        <p:spPr>
          <a:xfrm>
            <a:off x="4983480" y="2461320"/>
            <a:ext cx="670212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Set each node's connection and parameters explicitly.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Shape 18"/>
          <p:cNvSpPr/>
          <p:nvPr/>
        </p:nvSpPr>
        <p:spPr>
          <a:xfrm>
            <a:off x="502920" y="336888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3" name="Text 19"/>
          <p:cNvSpPr/>
          <p:nvPr/>
        </p:nvSpPr>
        <p:spPr>
          <a:xfrm>
            <a:off x="502920" y="33688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Text 20"/>
          <p:cNvSpPr/>
          <p:nvPr/>
        </p:nvSpPr>
        <p:spPr>
          <a:xfrm>
            <a:off x="1097280" y="3212640"/>
            <a:ext cx="374868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Validate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Text 21"/>
          <p:cNvSpPr/>
          <p:nvPr/>
        </p:nvSpPr>
        <p:spPr>
          <a:xfrm>
            <a:off x="4983480" y="3212640"/>
            <a:ext cx="670212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The engine checks the graph builds and is acyclic.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Shape 22"/>
          <p:cNvSpPr/>
          <p:nvPr/>
        </p:nvSpPr>
        <p:spPr>
          <a:xfrm>
            <a:off x="502920" y="412020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7" name="Text 23"/>
          <p:cNvSpPr/>
          <p:nvPr/>
        </p:nvSpPr>
        <p:spPr>
          <a:xfrm>
            <a:off x="502920" y="41202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Text 24"/>
          <p:cNvSpPr/>
          <p:nvPr/>
        </p:nvSpPr>
        <p:spPr>
          <a:xfrm>
            <a:off x="1097280" y="3963960"/>
            <a:ext cx="374868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Persist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Text 25"/>
          <p:cNvSpPr/>
          <p:nvPr/>
        </p:nvSpPr>
        <p:spPr>
          <a:xfrm>
            <a:off x="4983480" y="3963960"/>
            <a:ext cx="670212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The pipeline is saved as the authoritative dagState model.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Shape 26"/>
          <p:cNvSpPr/>
          <p:nvPr/>
        </p:nvSpPr>
        <p:spPr>
          <a:xfrm>
            <a:off x="502920" y="487152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1" name="Text 27"/>
          <p:cNvSpPr/>
          <p:nvPr/>
        </p:nvSpPr>
        <p:spPr>
          <a:xfrm>
            <a:off x="502920" y="487152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Text 28"/>
          <p:cNvSpPr/>
          <p:nvPr/>
        </p:nvSpPr>
        <p:spPr>
          <a:xfrm>
            <a:off x="1097280" y="4715280"/>
            <a:ext cx="374868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Run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Text 29"/>
          <p:cNvSpPr/>
          <p:nvPr/>
        </p:nvSpPr>
        <p:spPr>
          <a:xfrm>
            <a:off x="4983480" y="4715280"/>
            <a:ext cx="670212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Start the DAG; subscribers connect and compute begins on change.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Shape 30"/>
          <p:cNvSpPr/>
          <p:nvPr/>
        </p:nvSpPr>
        <p:spPr>
          <a:xfrm>
            <a:off x="502920" y="562284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5" name="Text 31"/>
          <p:cNvSpPr/>
          <p:nvPr/>
        </p:nvSpPr>
        <p:spPr>
          <a:xfrm>
            <a:off x="502920" y="562284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Text 32"/>
          <p:cNvSpPr/>
          <p:nvPr/>
        </p:nvSpPr>
        <p:spPr>
          <a:xfrm>
            <a:off x="1097280" y="5466600"/>
            <a:ext cx="374868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Operate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Text 33"/>
          <p:cNvSpPr/>
          <p:nvPr/>
        </p:nvSpPr>
        <p:spPr>
          <a:xfrm>
            <a:off x="4983480" y="5466600"/>
            <a:ext cx="670212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Inspect, freeze, drain, reload — all from the same surface.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5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9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0" name="Text 2"/>
          <p:cNvSpPr/>
          <p:nvPr/>
        </p:nvSpPr>
        <p:spPr>
          <a:xfrm>
            <a:off x="548640" y="4572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1" name="Text 3"/>
          <p:cNvSpPr/>
          <p:nvPr/>
        </p:nvSpPr>
        <p:spPr>
          <a:xfrm>
            <a:off x="7159680" y="4572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5fb0e0"/>
                </a:solidFill>
                <a:latin typeface="Calibri"/>
                <a:ea typeface="Calibri"/>
              </a:rPr>
              <a:t>SECTION 5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2" name="Shape 4"/>
          <p:cNvSpPr/>
          <p:nvPr/>
        </p:nvSpPr>
        <p:spPr>
          <a:xfrm>
            <a:off x="5225760" y="1737360"/>
            <a:ext cx="1737000" cy="17370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2e93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3" name="Text 5"/>
          <p:cNvSpPr/>
          <p:nvPr/>
        </p:nvSpPr>
        <p:spPr>
          <a:xfrm>
            <a:off x="5225760" y="173736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4" name="Text 6"/>
          <p:cNvSpPr/>
          <p:nvPr/>
        </p:nvSpPr>
        <p:spPr>
          <a:xfrm>
            <a:off x="914400" y="3794760"/>
            <a:ext cx="10359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Security, Governance &amp; Operations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5" name="Text 7"/>
          <p:cNvSpPr/>
          <p:nvPr/>
        </p:nvSpPr>
        <p:spPr>
          <a:xfrm>
            <a:off x="1828800" y="4663440"/>
            <a:ext cx="8530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fe3f2"/>
                </a:solidFill>
                <a:latin typeface="Calibri"/>
                <a:ea typeface="Calibri"/>
              </a:rPr>
              <a:t>Control who does what, prove what happened, and operate without data loss.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7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8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9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Security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2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Authentication — Session and API Keys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6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The web UI authenticates with a signed-cookie session after username/password login.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Programmatic clients authenticate with API keys — no shared passwords in automation.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Keys are accepted via the Authorization: Bearer header or an X-API-Key header.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The request guards accept either method, fully backward-compatible with sessions.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A key inherits the roles of its owning user — an admin user's key grants admin access.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One auth model serves browsers and automation alike — sessions for people, keys for machines.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0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2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Security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5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API-Key Management UI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9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Admins create, list, and revoke API keys from a dedicated page in the web UI.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Creation takes a user, a key name, and an optional expiry in days.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The clear key is shown exactly once and is never stored in retrievable form.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Keys are persisted as salted hashes, matched to the owning user.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Revocation is immediate — a revoked or expired key is rejected at the guard.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Self-service key management means automation can be granted and revoked without server access.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4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5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Security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8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Minting Keys — UI or Command Line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2" name="Shape 10"/>
          <p:cNvSpPr/>
          <p:nvPr/>
        </p:nvSpPr>
        <p:spPr>
          <a:xfrm>
            <a:off x="502920" y="1691640"/>
            <a:ext cx="11182680" cy="456840"/>
          </a:xfrm>
          <a:prstGeom prst="roundRect">
            <a:avLst>
              <a:gd name="adj" fmla="val 6000"/>
            </a:avLst>
          </a:prstGeom>
          <a:solidFill>
            <a:srgbClr val="e27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3" name="Text 11"/>
          <p:cNvSpPr/>
          <p:nvPr/>
        </p:nvSpPr>
        <p:spPr>
          <a:xfrm>
            <a:off x="502920" y="1691640"/>
            <a:ext cx="1118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Two ways to issue a key; the clear value is shown once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Shape 12"/>
          <p:cNvSpPr/>
          <p:nvPr/>
        </p:nvSpPr>
        <p:spPr>
          <a:xfrm>
            <a:off x="502920" y="2240280"/>
            <a:ext cx="11182680" cy="3958920"/>
          </a:xfrm>
          <a:prstGeom prst="roundRect">
            <a:avLst>
              <a:gd name="adj" fmla="val 693"/>
            </a:avLst>
          </a:prstGeom>
          <a:solidFill>
            <a:srgbClr val="0e22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5" name="Text 13"/>
          <p:cNvSpPr/>
          <p:nvPr/>
        </p:nvSpPr>
        <p:spPr>
          <a:xfrm>
            <a:off x="822960" y="2423160"/>
            <a:ext cx="10542600" cy="363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d7e6f0"/>
                </a:solidFill>
                <a:latin typeface="Courier New"/>
                <a:ea typeface="Courier New"/>
              </a:rPr>
              <a:t># Web UI:  Admin -&gt; API Keys -&gt; Create  (select user, name, optional expiry)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d7e6f0"/>
                </a:solidFill>
                <a:latin typeface="Courier New"/>
                <a:ea typeface="Courier New"/>
              </a:rPr>
              <a:t># Or on the server host, with dyapikey: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8fb7cf"/>
                </a:solidFill>
                <a:latin typeface="Courier New"/>
                <a:ea typeface="Courier New"/>
              </a:rPr>
              <a:t>  </a:t>
            </a:r>
            <a:r>
              <a:rPr b="0" lang="en-US" sz="1250" spc="-1" strike="noStrike">
                <a:solidFill>
                  <a:srgbClr val="8fb7cf"/>
                </a:solidFill>
                <a:latin typeface="Courier New"/>
                <a:ea typeface="Courier New"/>
              </a:rPr>
              <a:t>python tools/dyapikey.py create admin ci-runner --expires-days 90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8fb7cf"/>
                </a:solidFill>
                <a:latin typeface="Courier New"/>
                <a:ea typeface="Courier New"/>
              </a:rPr>
              <a:t>  </a:t>
            </a:r>
            <a:r>
              <a:rPr b="0" lang="en-US" sz="1250" spc="-1" strike="noStrike">
                <a:solidFill>
                  <a:srgbClr val="8fb7cf"/>
                </a:solidFill>
                <a:latin typeface="Courier New"/>
                <a:ea typeface="Courier New"/>
              </a:rPr>
              <a:t>python tools/dyapikey.py list admin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8fb7cf"/>
                </a:solidFill>
                <a:latin typeface="Courier New"/>
                <a:ea typeface="Courier New"/>
              </a:rPr>
              <a:t>  </a:t>
            </a:r>
            <a:r>
              <a:rPr b="0" lang="en-US" sz="1250" spc="-1" strike="noStrike">
                <a:solidFill>
                  <a:srgbClr val="8fb7cf"/>
                </a:solidFill>
                <a:latin typeface="Courier New"/>
                <a:ea typeface="Courier New"/>
              </a:rPr>
              <a:t>python tools/dyapikey.py revoke 4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d7e6f0"/>
                </a:solidFill>
                <a:latin typeface="Courier New"/>
                <a:ea typeface="Courier New"/>
              </a:rPr>
              <a:t># Then use it from any client: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8fb7cf"/>
                </a:solidFill>
                <a:latin typeface="Courier New"/>
                <a:ea typeface="Courier New"/>
              </a:rPr>
              <a:t>  </a:t>
            </a:r>
            <a:r>
              <a:rPr b="0" lang="en-US" sz="1250" spc="-1" strike="noStrike">
                <a:solidFill>
                  <a:srgbClr val="8fb7cf"/>
                </a:solidFill>
                <a:latin typeface="Courier New"/>
                <a:ea typeface="Courier New"/>
              </a:rPr>
              <a:t>curl -H "Authorization: Bearer $DY_API_KEY" https://host/admin/maintenance/status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7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8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9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Security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2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Role-Based Access Control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Users hold roles; roles gate every administrative action in the platform.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A bootstrap admin is created on first run so the system is operable from the start.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User create, update, and delete operations are restricted to administrators.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Roles flow through both session and API-key authentication consistently.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Least-privilege is the default posture for non-admin accounts.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RBAC ensures that sensitive operations are performed only by authorized identities.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0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1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2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Security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Audit Trail — Who Did What, When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949" name="Table 0"/>
          <p:cNvGraphicFramePr/>
          <p:nvPr/>
        </p:nvGraphicFramePr>
        <p:xfrm>
          <a:off x="502920" y="1691640"/>
          <a:ext cx="11182680" cy="363888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  <a:gridCol w="3136320"/>
              </a:tblGrid>
              <a:tr h="72756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Action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Recorded when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Captured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005587"/>
                    </a:solidFill>
                  </a:tcPr>
                </a:tc>
              </a:tr>
              <a:tr h="72756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auth.login / logout / login_failed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A user signs in, out, or fails to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Actor, time, source IP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756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apikey.create / apikey.revoke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A key is issued or revoked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Actor, target, prefix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72756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user.create / update / delete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An account changes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Actor, target user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756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(extensible)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New code paths call audit(...)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Action, actor, detail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50" name="Shape 10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Text 11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Every security-relevant action is captured append-only — rows are never updated or deleted.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3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4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5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Security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8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Audit Retention — Bounded by Policy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2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A background sweep deletes audit events older than a configured number of days.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The default retention is 15 days; it is fully configurable.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The sweep runs once at startup and then on a configurable interval.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Setting retention to zero (or less) disables purging and keeps events indefinitely.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The retention sweep is defensive — a failure is logged and never crashes the server.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Retention keeps the audit trail useful and bounded — compliant without unbounded growth.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6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7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8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Operations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Maintenance &amp; Drain Windows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4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5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Subscribers can be frozen to stop accepting new inbound work.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In-flight queues are drained so nothing is left half-processed.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Freeze/drain can be scoped to a single DAG or applied globally.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Drain status is observable — operators know exactly when it is safe to proceed.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Pipelines resume cleanly once maintenance is complete.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Freeze, drain, act, resume — safe, zero-loss operations on live pipelines.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9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0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1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Operations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4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Durable Delivery — WAL-Backed Egress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8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Outbound results can be staged through a write-ahead log before delivery.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If a sink is briefly unavailable, in-flight results are protected, not lost.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Asynchronous egress decouples compute from slow or bursty destinations.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Pending WAL depth is observable per DAG for operational confidence.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Durability is opt-in per publisher — pay the cost only where it matters.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Durable egress turns 'fire and hope' into 'stage and confirm' for critical sinks.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5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2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3" name="Text 2"/>
          <p:cNvSpPr/>
          <p:nvPr/>
        </p:nvSpPr>
        <p:spPr>
          <a:xfrm>
            <a:off x="548640" y="4572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4" name="Text 3"/>
          <p:cNvSpPr/>
          <p:nvPr/>
        </p:nvSpPr>
        <p:spPr>
          <a:xfrm>
            <a:off x="7159680" y="4572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5fb0e0"/>
                </a:solidFill>
                <a:latin typeface="Calibri"/>
                <a:ea typeface="Calibri"/>
              </a:rPr>
              <a:t>SECTION 6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5" name="Shape 4"/>
          <p:cNvSpPr/>
          <p:nvPr/>
        </p:nvSpPr>
        <p:spPr>
          <a:xfrm>
            <a:off x="5225760" y="1737360"/>
            <a:ext cx="1737000" cy="17370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2e93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6" name="Text 5"/>
          <p:cNvSpPr/>
          <p:nvPr/>
        </p:nvSpPr>
        <p:spPr>
          <a:xfrm>
            <a:off x="5225760" y="173736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7" name="Text 6"/>
          <p:cNvSpPr/>
          <p:nvPr/>
        </p:nvSpPr>
        <p:spPr>
          <a:xfrm>
            <a:off x="914400" y="3794760"/>
            <a:ext cx="10359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Operations &amp; Tooling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8" name="Text 7"/>
          <p:cNvSpPr/>
          <p:nvPr/>
        </p:nvSpPr>
        <p:spPr>
          <a:xfrm>
            <a:off x="1828800" y="4663440"/>
            <a:ext cx="8530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fe3f2"/>
                </a:solidFill>
                <a:latin typeface="Calibri"/>
                <a:ea typeface="Calibri"/>
              </a:rPr>
              <a:t>Run, observe, and control the platform from the browser or the command line.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0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1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2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Operations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5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Admin CLI — dyadmin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009" name="Table 0"/>
          <p:cNvGraphicFramePr/>
          <p:nvPr/>
        </p:nvGraphicFramePr>
        <p:xfrm>
          <a:off x="502920" y="1691640"/>
          <a:ext cx="11182680" cy="3638880"/>
        </p:xfrm>
        <a:graphic>
          <a:graphicData uri="http://schemas.openxmlformats.org/drawingml/2006/table">
            <a:tbl>
              <a:tblPr/>
              <a:tblGrid>
                <a:gridCol w="2377440"/>
                <a:gridCol w="5394960"/>
                <a:gridCol w="3410640"/>
              </a:tblGrid>
              <a:tr h="51984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Group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What it does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Examples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005587"/>
                    </a:solidFill>
                  </a:tcPr>
                </a:tc>
              </a:tr>
              <a:tr h="51984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monitor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System metrics &amp; free-threading status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dyadmin monitor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984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dag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List / start / stop / suspend / resume / reload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dyadmin dag stop my_dag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1984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maintenance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Drain status, freeze, unfreeze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dyadmin maintenance freeze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984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logging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Set runtime log levels (live)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dyadmin logging set ...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1984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workers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Pool status &amp; control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dyadmin workers status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984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native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JVM / C++ / Rust modules &amp; gateways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dyadmin native status jvm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10" name="Shape 10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Text 11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Every admin function in the web UI is scriptable over HTTP — authenticated by session or API key.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3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4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5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Operations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8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dyadmin — Usage Patterns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2" name="Shape 10"/>
          <p:cNvSpPr/>
          <p:nvPr/>
        </p:nvSpPr>
        <p:spPr>
          <a:xfrm>
            <a:off x="502920" y="1691640"/>
            <a:ext cx="11182680" cy="456840"/>
          </a:xfrm>
          <a:prstGeom prst="roundRect">
            <a:avLst>
              <a:gd name="adj" fmla="val 6000"/>
            </a:avLst>
          </a:prstGeom>
          <a:solidFill>
            <a:srgbClr val="e27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3" name="Text 11"/>
          <p:cNvSpPr/>
          <p:nvPr/>
        </p:nvSpPr>
        <p:spPr>
          <a:xfrm>
            <a:off x="502920" y="1691640"/>
            <a:ext cx="1118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Connect with an API key; drive any admin function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Shape 12"/>
          <p:cNvSpPr/>
          <p:nvPr/>
        </p:nvSpPr>
        <p:spPr>
          <a:xfrm>
            <a:off x="502920" y="2240280"/>
            <a:ext cx="11182680" cy="3958920"/>
          </a:xfrm>
          <a:prstGeom prst="roundRect">
            <a:avLst>
              <a:gd name="adj" fmla="val 693"/>
            </a:avLst>
          </a:prstGeom>
          <a:solidFill>
            <a:srgbClr val="0e22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5" name="Text 13"/>
          <p:cNvSpPr/>
          <p:nvPr/>
        </p:nvSpPr>
        <p:spPr>
          <a:xfrm>
            <a:off x="822960" y="2423160"/>
            <a:ext cx="10542600" cy="363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d7e6f0"/>
                </a:solidFill>
                <a:latin typeface="Courier New"/>
                <a:ea typeface="Courier New"/>
              </a:rPr>
              <a:t>export DY_URL=http://host:5002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d7e6f0"/>
                </a:solidFill>
                <a:latin typeface="Courier New"/>
                <a:ea typeface="Courier New"/>
              </a:rPr>
              <a:t>export DY_API_KEY=dyk_...            # minted with dyapikey or the UI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d7e6f0"/>
                </a:solidFill>
                <a:latin typeface="Courier New"/>
                <a:ea typeface="Courier New"/>
              </a:rPr>
              <a:t>dyadmin monitor                      # system metrics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d7e6f0"/>
                </a:solidFill>
                <a:latin typeface="Courier New"/>
                <a:ea typeface="Courier New"/>
              </a:rPr>
              <a:t>dyadmin dag list                     # DAGs with drain/freeze state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d7e6f0"/>
                </a:solidFill>
                <a:latin typeface="Courier New"/>
                <a:ea typeface="Courier New"/>
              </a:rPr>
              <a:t>dyadmin maintenance freeze --scope global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d7e6f0"/>
                </a:solidFill>
                <a:latin typeface="Courier New"/>
                <a:ea typeface="Courier New"/>
              </a:rPr>
              <a:t>dyadmin maintenance status           # repeat until all_drained: true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d7e6f0"/>
                </a:solidFill>
                <a:latin typeface="Courier New"/>
                <a:ea typeface="Courier New"/>
              </a:rPr>
              <a:t>dyadmin dag stop perftest_trade_etl_arrow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d7e6f0"/>
                </a:solidFill>
                <a:latin typeface="Courier New"/>
                <a:ea typeface="Courier New"/>
              </a:rPr>
              <a:t>dyadmin --dry-run maintenance unfreeze --scope global   # preview, don't send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7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8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9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Operations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2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4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Worker Pool Management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6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A worker pool can distribute DAG execution across worker processes.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Operators can view pool status, assignments, and per-worker load.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Workers can be started, stopped, and restarted individually.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A DAG can be migrated from one worker to another for rebalancing.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All of this is available from the admin CLI and the web UI.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Worker controls give operators levers to balance load and recover from faults.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0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1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2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Operations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4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5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6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Observability — Metrics &amp; Monitoring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9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System and pipeline metrics are exposed for live monitoring.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Prometheus-style metrics integrate with standard observability stacks.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Per-DAG queue depths, freeze/drain state, and WAL backlog are visible.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Runtime logging levels can be changed live and broadcast to workers.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Logs are viewable and downloadable from the admin surface.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0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If you can't see it, you can't operate it — observability is built in, not bolted on.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4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5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Operations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8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Configuration Model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062" name="Table 0"/>
          <p:cNvGraphicFramePr/>
          <p:nvPr/>
        </p:nvGraphicFramePr>
        <p:xfrm>
          <a:off x="502920" y="1691640"/>
          <a:ext cx="11182680" cy="363888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233600"/>
              </a:tblGrid>
              <a:tr h="60624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Area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Example keys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Notes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005587"/>
                    </a:solidFill>
                  </a:tcPr>
                </a:tc>
              </a:tr>
              <a:tr h="60624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Versioning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app.version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Informational; core/version.py is authoritative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24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Logging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logging.format, logging.level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Text or JSON; live-adjustable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0624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Backpressure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backpressure.*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Opt-in credit-based flow control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24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Egress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egress.async.*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WAL-backed asynchronous publication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0624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Audit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audit.retention_days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Default 15; &lt;= 0 disables purging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3" name="Shape 10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Text 11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Configuration is explicit across application.properties / application.yaml — no silent defaults.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6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7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8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Operations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1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Deployment — Single Node, Anywhere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5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DishtaYantra runs as a single in-process FastAPI/uvicorn server.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Fewer moving parts than a distributed stack — simpler to deploy and operate.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Storage and reload abstractions keep behavior identical across environments.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Run it on a laptop for development or on a server/VM for production.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Configuration, not code changes, adapts it to each environment.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6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One deployable unit that behaves the same from laptop to production lowers operational risk.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9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1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Operations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4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High Availability — Primary / Secondary Failover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8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Any node can be deployed as a primary with a secondary hot standby — two simple single-process instances.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The secondary mirrors the primary's subscriptions and warmed state, ready to take over instantly.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A heartbeat monitors health; if the primary fails, the secondary is promoted to active automatically.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Sources and sinks see uninterrupted service — failover is transparent to the rest of the pipeline.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WAL-backed egress protects in-flight results across the switch, so nothing already in flight is lost.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High availability without a cluster — one active node, one standby, automatic promotion on failure.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2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3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4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Operations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7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Horizontal Scale-Out by Pipelining Data Streams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0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1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Rather than make one process distributed, run many single-process nodes — each owning a slice of the stream.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Pipeline the stream into parallel lanes: shard by Kafka partition, by key range, or by destination.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Each node is an independent reactive engine on its shard; add nodes to add throughput, near-linearly.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Publishers set the key and let Kafka route, so the same key always lands on the same node — per-key ordering holds across the fleet.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No node ever becomes distributed or complex — the single-process model is preserved everywhere.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3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Scale out by adding processes, not by adding complexity to any one process.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5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6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7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Operations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9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0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Deployment Pattern — Paired, Pipelined, Horizontally Scaled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4" name="Text 10"/>
          <p:cNvSpPr/>
          <p:nvPr/>
        </p:nvSpPr>
        <p:spPr>
          <a:xfrm>
            <a:off x="502920" y="1874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7" strike="noStrike">
                <a:solidFill>
                  <a:srgbClr val="666e80"/>
                </a:solidFill>
                <a:latin typeface="Calibri"/>
                <a:ea typeface="Calibri"/>
              </a:rPr>
              <a:t>KAFKA TOPIC (PARTITIONED)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" name="Text 11"/>
          <p:cNvSpPr/>
          <p:nvPr/>
        </p:nvSpPr>
        <p:spPr>
          <a:xfrm>
            <a:off x="3657600" y="187452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7" strike="noStrike">
                <a:solidFill>
                  <a:srgbClr val="666e80"/>
                </a:solidFill>
                <a:latin typeface="Calibri"/>
                <a:ea typeface="Calibri"/>
              </a:rPr>
              <a:t>SINGLE-PROCESS NODE PAIRS  (ONE PER SHARD)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Text 12"/>
          <p:cNvSpPr/>
          <p:nvPr/>
        </p:nvSpPr>
        <p:spPr>
          <a:xfrm>
            <a:off x="9052560" y="18745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7" strike="noStrike">
                <a:solidFill>
                  <a:srgbClr val="666e80"/>
                </a:solidFill>
                <a:latin typeface="Calibri"/>
                <a:ea typeface="Calibri"/>
              </a:rPr>
              <a:t>DESTINATIONS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Shape 13"/>
          <p:cNvSpPr/>
          <p:nvPr/>
        </p:nvSpPr>
        <p:spPr>
          <a:xfrm>
            <a:off x="640080" y="2487240"/>
            <a:ext cx="2102760" cy="603000"/>
          </a:xfrm>
          <a:prstGeom prst="roundRect">
            <a:avLst>
              <a:gd name="adj" fmla="val 6061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" name="Text 14"/>
          <p:cNvSpPr/>
          <p:nvPr/>
        </p:nvSpPr>
        <p:spPr>
          <a:xfrm>
            <a:off x="640080" y="2487240"/>
            <a:ext cx="21027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Partition </a:t>
            </a:r>
            <a:r>
              <a:rPr b="1" lang="en-US" sz="1250" spc="-1" strike="noStrike">
                <a:solidFill>
                  <a:srgbClr val="005587"/>
                </a:solidFill>
                <a:latin typeface="Calibri"/>
                <a:ea typeface="Calibri"/>
              </a:rPr>
              <a:t>P0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Shape 15"/>
          <p:cNvSpPr/>
          <p:nvPr/>
        </p:nvSpPr>
        <p:spPr>
          <a:xfrm>
            <a:off x="3931920" y="2221920"/>
            <a:ext cx="3931560" cy="529920"/>
          </a:xfrm>
          <a:prstGeom prst="roundRect">
            <a:avLst>
              <a:gd name="adj" fmla="val 8621"/>
            </a:avLst>
          </a:prstGeom>
          <a:solidFill>
            <a:srgbClr val="005587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0" name="Text 16"/>
          <p:cNvSpPr/>
          <p:nvPr/>
        </p:nvSpPr>
        <p:spPr>
          <a:xfrm>
            <a:off x="3931920" y="2221920"/>
            <a:ext cx="3931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Node P0 </a:t>
            </a:r>
            <a:r>
              <a:rPr b="0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— primary (active)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1" name="Shape 17"/>
          <p:cNvSpPr/>
          <p:nvPr/>
        </p:nvSpPr>
        <p:spPr>
          <a:xfrm>
            <a:off x="4160520" y="2853000"/>
            <a:ext cx="3474360" cy="456840"/>
          </a:xfrm>
          <a:prstGeom prst="roundRect">
            <a:avLst>
              <a:gd name="adj" fmla="val 10000"/>
            </a:avLst>
          </a:prstGeom>
          <a:solidFill>
            <a:srgbClr val="e7eef6"/>
          </a:solidFill>
          <a:ln w="12700">
            <a:solidFill>
              <a:srgbClr val="0055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Text 18"/>
          <p:cNvSpPr/>
          <p:nvPr/>
        </p:nvSpPr>
        <p:spPr>
          <a:xfrm>
            <a:off x="4160520" y="285300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5587"/>
                </a:solidFill>
                <a:latin typeface="Calibri"/>
                <a:ea typeface="Calibri"/>
              </a:rPr>
              <a:t>secondary — hot standby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3" name="Shape 19"/>
          <p:cNvSpPr/>
          <p:nvPr/>
        </p:nvSpPr>
        <p:spPr>
          <a:xfrm>
            <a:off x="9326880" y="2496240"/>
            <a:ext cx="2102760" cy="585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4" name="Text 20"/>
          <p:cNvSpPr/>
          <p:nvPr/>
        </p:nvSpPr>
        <p:spPr>
          <a:xfrm>
            <a:off x="9326880" y="2496240"/>
            <a:ext cx="21027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5587"/>
                </a:solidFill>
                <a:latin typeface="Calibri"/>
                <a:ea typeface="Calibri"/>
              </a:rPr>
              <a:t>Sink / topic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Shape 21"/>
          <p:cNvSpPr/>
          <p:nvPr/>
        </p:nvSpPr>
        <p:spPr>
          <a:xfrm flipV="1">
            <a:off x="2743200" y="2486880"/>
            <a:ext cx="1188720" cy="302040"/>
          </a:xfrm>
          <a:prstGeom prst="line">
            <a:avLst/>
          </a:prstGeom>
          <a:ln w="22225">
            <a:solidFill>
              <a:srgbClr val="9fb8c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6" name="Shape 22"/>
          <p:cNvSpPr/>
          <p:nvPr/>
        </p:nvSpPr>
        <p:spPr>
          <a:xfrm>
            <a:off x="7863840" y="2486880"/>
            <a:ext cx="1463040" cy="302040"/>
          </a:xfrm>
          <a:prstGeom prst="line">
            <a:avLst/>
          </a:prstGeom>
          <a:ln w="22225">
            <a:solidFill>
              <a:srgbClr val="9fb8c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7" name="Shape 23"/>
          <p:cNvSpPr/>
          <p:nvPr/>
        </p:nvSpPr>
        <p:spPr>
          <a:xfrm>
            <a:off x="640080" y="4224600"/>
            <a:ext cx="2102760" cy="603000"/>
          </a:xfrm>
          <a:prstGeom prst="roundRect">
            <a:avLst>
              <a:gd name="adj" fmla="val 6061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Text 24"/>
          <p:cNvSpPr/>
          <p:nvPr/>
        </p:nvSpPr>
        <p:spPr>
          <a:xfrm>
            <a:off x="640080" y="4224600"/>
            <a:ext cx="21027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Partition </a:t>
            </a:r>
            <a:r>
              <a:rPr b="1" lang="en-US" sz="1250" spc="-1" strike="noStrike">
                <a:solidFill>
                  <a:srgbClr val="005587"/>
                </a:solidFill>
                <a:latin typeface="Calibri"/>
                <a:ea typeface="Calibri"/>
              </a:rPr>
              <a:t>P1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9" name="Shape 25"/>
          <p:cNvSpPr/>
          <p:nvPr/>
        </p:nvSpPr>
        <p:spPr>
          <a:xfrm>
            <a:off x="3931920" y="3959280"/>
            <a:ext cx="3931560" cy="529920"/>
          </a:xfrm>
          <a:prstGeom prst="roundRect">
            <a:avLst>
              <a:gd name="adj" fmla="val 8621"/>
            </a:avLst>
          </a:prstGeom>
          <a:solidFill>
            <a:srgbClr val="005587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0" name="Text 26"/>
          <p:cNvSpPr/>
          <p:nvPr/>
        </p:nvSpPr>
        <p:spPr>
          <a:xfrm>
            <a:off x="3931920" y="3959280"/>
            <a:ext cx="3931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Node P1 </a:t>
            </a:r>
            <a:r>
              <a:rPr b="0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— primary (active)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1" name="Shape 27"/>
          <p:cNvSpPr/>
          <p:nvPr/>
        </p:nvSpPr>
        <p:spPr>
          <a:xfrm>
            <a:off x="4160520" y="4590360"/>
            <a:ext cx="3474360" cy="456840"/>
          </a:xfrm>
          <a:prstGeom prst="roundRect">
            <a:avLst>
              <a:gd name="adj" fmla="val 10000"/>
            </a:avLst>
          </a:prstGeom>
          <a:solidFill>
            <a:srgbClr val="e7eef6"/>
          </a:solidFill>
          <a:ln w="12700">
            <a:solidFill>
              <a:srgbClr val="0055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" name="Text 28"/>
          <p:cNvSpPr/>
          <p:nvPr/>
        </p:nvSpPr>
        <p:spPr>
          <a:xfrm>
            <a:off x="4160520" y="459036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5587"/>
                </a:solidFill>
                <a:latin typeface="Calibri"/>
                <a:ea typeface="Calibri"/>
              </a:rPr>
              <a:t>secondary — hot standby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3" name="Shape 29"/>
          <p:cNvSpPr/>
          <p:nvPr/>
        </p:nvSpPr>
        <p:spPr>
          <a:xfrm>
            <a:off x="9326880" y="4233600"/>
            <a:ext cx="2102760" cy="585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Text 30"/>
          <p:cNvSpPr/>
          <p:nvPr/>
        </p:nvSpPr>
        <p:spPr>
          <a:xfrm>
            <a:off x="9326880" y="4233600"/>
            <a:ext cx="21027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5587"/>
                </a:solidFill>
                <a:latin typeface="Calibri"/>
                <a:ea typeface="Calibri"/>
              </a:rPr>
              <a:t>Sink / topic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5" name="Shape 31"/>
          <p:cNvSpPr/>
          <p:nvPr/>
        </p:nvSpPr>
        <p:spPr>
          <a:xfrm flipV="1">
            <a:off x="2743200" y="4224240"/>
            <a:ext cx="1188720" cy="302040"/>
          </a:xfrm>
          <a:prstGeom prst="line">
            <a:avLst/>
          </a:prstGeom>
          <a:ln w="22225">
            <a:solidFill>
              <a:srgbClr val="9fb8c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6" name="Shape 32"/>
          <p:cNvSpPr/>
          <p:nvPr/>
        </p:nvSpPr>
        <p:spPr>
          <a:xfrm>
            <a:off x="7863840" y="4224240"/>
            <a:ext cx="1463040" cy="302040"/>
          </a:xfrm>
          <a:prstGeom prst="line">
            <a:avLst/>
          </a:prstGeom>
          <a:ln w="22225">
            <a:solidFill>
              <a:srgbClr val="9fb8c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" name="Text 33"/>
          <p:cNvSpPr/>
          <p:nvPr/>
        </p:nvSpPr>
        <p:spPr>
          <a:xfrm>
            <a:off x="3657600" y="51390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0079c1"/>
                </a:solidFill>
                <a:latin typeface="Calibri"/>
                <a:ea typeface="Calibri"/>
              </a:rPr>
              <a:t>+  add a node pair per partition to scale throughput horizontally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8" name="Shape 34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9" name="Text 35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Sharding gives scale, pairing gives availability — a horizontally scalable, highly available system built from simple single-process parts.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5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1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2" name="Text 2"/>
          <p:cNvSpPr/>
          <p:nvPr/>
        </p:nvSpPr>
        <p:spPr>
          <a:xfrm>
            <a:off x="548640" y="4572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3" name="Text 3"/>
          <p:cNvSpPr/>
          <p:nvPr/>
        </p:nvSpPr>
        <p:spPr>
          <a:xfrm>
            <a:off x="7159680" y="4572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5fb0e0"/>
                </a:solidFill>
                <a:latin typeface="Calibri"/>
                <a:ea typeface="Calibri"/>
              </a:rPr>
              <a:t>SECTION 7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4" name="Shape 4"/>
          <p:cNvSpPr/>
          <p:nvPr/>
        </p:nvSpPr>
        <p:spPr>
          <a:xfrm>
            <a:off x="5225760" y="1737360"/>
            <a:ext cx="1737000" cy="17370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2e93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5" name="Text 5"/>
          <p:cNvSpPr/>
          <p:nvPr/>
        </p:nvSpPr>
        <p:spPr>
          <a:xfrm>
            <a:off x="5225760" y="173736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  <a:ea typeface="Calibri"/>
              </a:rPr>
              <a:t>7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6" name="Text 6"/>
          <p:cNvSpPr/>
          <p:nvPr/>
        </p:nvSpPr>
        <p:spPr>
          <a:xfrm>
            <a:off x="914400" y="3794760"/>
            <a:ext cx="10359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Performance &amp; Efficiency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7" name="Text 7"/>
          <p:cNvSpPr/>
          <p:nvPr/>
        </p:nvSpPr>
        <p:spPr>
          <a:xfrm>
            <a:off x="1828800" y="4663440"/>
            <a:ext cx="8530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fe3f2"/>
                </a:solidFill>
                <a:latin typeface="Calibri"/>
                <a:ea typeface="Calibri"/>
              </a:rPr>
              <a:t>Do more per machine — choose the execution lane that fits the workload.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9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0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1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Performance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3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4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5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6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Three Execution Lanes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7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8" name="Text 10"/>
          <p:cNvSpPr/>
          <p:nvPr/>
        </p:nvSpPr>
        <p:spPr>
          <a:xfrm>
            <a:off x="502920" y="1691640"/>
            <a:ext cx="1118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666e80"/>
                </a:solidFill>
                <a:latin typeface="Calibri"/>
                <a:ea typeface="Calibri"/>
              </a:rPr>
              <a:t>The same calculator chain, three ways to execute it — trade authoring simplicity for raw throughput.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59" name="Chart 0"/>
          <p:cNvGraphicFramePr/>
          <p:nvPr/>
        </p:nvGraphicFramePr>
        <p:xfrm>
          <a:off x="502920" y="2240280"/>
          <a:ext cx="658332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60" name="Shape 11"/>
          <p:cNvSpPr/>
          <p:nvPr/>
        </p:nvSpPr>
        <p:spPr>
          <a:xfrm>
            <a:off x="7406640" y="2514600"/>
            <a:ext cx="4278960" cy="95976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1" name="Text 12"/>
          <p:cNvSpPr/>
          <p:nvPr/>
        </p:nvSpPr>
        <p:spPr>
          <a:xfrm>
            <a:off x="7589520" y="262440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5587"/>
                </a:solidFill>
                <a:latin typeface="Calibri"/>
                <a:ea typeface="Calibri"/>
              </a:rPr>
              <a:t>Row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2" name="Text 13"/>
          <p:cNvSpPr/>
          <p:nvPr/>
        </p:nvSpPr>
        <p:spPr>
          <a:xfrm>
            <a:off x="7589520" y="2971800"/>
            <a:ext cx="3913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34155"/>
                </a:solidFill>
                <a:latin typeface="Calibri"/>
                <a:ea typeface="Calibri"/>
              </a:rPr>
              <a:t>~7.4k rec/s — simplest authoring, dictionary per record.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3" name="Shape 14"/>
          <p:cNvSpPr/>
          <p:nvPr/>
        </p:nvSpPr>
        <p:spPr>
          <a:xfrm>
            <a:off x="7406640" y="3611880"/>
            <a:ext cx="4278960" cy="95976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" name="Text 15"/>
          <p:cNvSpPr/>
          <p:nvPr/>
        </p:nvSpPr>
        <p:spPr>
          <a:xfrm>
            <a:off x="7589520" y="372168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5587"/>
                </a:solidFill>
                <a:latin typeface="Calibri"/>
                <a:ea typeface="Calibri"/>
              </a:rPr>
              <a:t>Array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" name="Text 16"/>
          <p:cNvSpPr/>
          <p:nvPr/>
        </p:nvSpPr>
        <p:spPr>
          <a:xfrm>
            <a:off x="7589520" y="4069080"/>
            <a:ext cx="3913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34155"/>
                </a:solidFill>
                <a:latin typeface="Calibri"/>
                <a:ea typeface="Calibri"/>
              </a:rPr>
              <a:t>~17k rec/s — batch lists of records, ~2.3× the row lane.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6" name="Shape 17"/>
          <p:cNvSpPr/>
          <p:nvPr/>
        </p:nvSpPr>
        <p:spPr>
          <a:xfrm>
            <a:off x="7406640" y="4709160"/>
            <a:ext cx="4278960" cy="95976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7" name="Text 18"/>
          <p:cNvSpPr/>
          <p:nvPr/>
        </p:nvSpPr>
        <p:spPr>
          <a:xfrm>
            <a:off x="7589520" y="481896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5587"/>
                </a:solidFill>
                <a:latin typeface="Calibri"/>
                <a:ea typeface="Calibri"/>
              </a:rPr>
              <a:t>Arrow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8" name="Text 19"/>
          <p:cNvSpPr/>
          <p:nvPr/>
        </p:nvSpPr>
        <p:spPr>
          <a:xfrm>
            <a:off x="7589520" y="5166360"/>
            <a:ext cx="3913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34155"/>
                </a:solidFill>
                <a:latin typeface="Calibri"/>
                <a:ea typeface="Calibri"/>
              </a:rPr>
              <a:t>~55k rec/s — columnar vectorized, ~7.4× the row lane.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0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1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2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Performance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5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7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Benchmark — 50k Heterogeneous Trades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8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9" name="Shape 10"/>
          <p:cNvSpPr/>
          <p:nvPr/>
        </p:nvSpPr>
        <p:spPr>
          <a:xfrm>
            <a:off x="502920" y="2148840"/>
            <a:ext cx="3513960" cy="2011320"/>
          </a:xfrm>
          <a:prstGeom prst="roundRect">
            <a:avLst>
              <a:gd name="adj" fmla="val 2273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" name="Text 11"/>
          <p:cNvSpPr/>
          <p:nvPr/>
        </p:nvSpPr>
        <p:spPr>
          <a:xfrm>
            <a:off x="685800" y="2468880"/>
            <a:ext cx="3148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079c1"/>
                </a:solidFill>
                <a:latin typeface="Calibri"/>
                <a:ea typeface="Calibri"/>
              </a:rPr>
              <a:t>7.4×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1" name="Text 12"/>
          <p:cNvSpPr/>
          <p:nvPr/>
        </p:nvSpPr>
        <p:spPr>
          <a:xfrm>
            <a:off x="685800" y="3383280"/>
            <a:ext cx="3148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Arrow lane vs. the baseline row lane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2" name="Shape 13"/>
          <p:cNvSpPr/>
          <p:nvPr/>
        </p:nvSpPr>
        <p:spPr>
          <a:xfrm>
            <a:off x="4337280" y="2148840"/>
            <a:ext cx="3513960" cy="2011320"/>
          </a:xfrm>
          <a:prstGeom prst="roundRect">
            <a:avLst>
              <a:gd name="adj" fmla="val 2273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3" name="Text 14"/>
          <p:cNvSpPr/>
          <p:nvPr/>
        </p:nvSpPr>
        <p:spPr>
          <a:xfrm>
            <a:off x="4520160" y="2468880"/>
            <a:ext cx="3148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079c1"/>
                </a:solidFill>
                <a:latin typeface="Calibri"/>
                <a:ea typeface="Calibri"/>
              </a:rPr>
              <a:t>2.3×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4" name="Text 15"/>
          <p:cNvSpPr/>
          <p:nvPr/>
        </p:nvSpPr>
        <p:spPr>
          <a:xfrm>
            <a:off x="4520160" y="3383280"/>
            <a:ext cx="3148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Array lane vs. the baseline row lane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5" name="Shape 16"/>
          <p:cNvSpPr/>
          <p:nvPr/>
        </p:nvSpPr>
        <p:spPr>
          <a:xfrm>
            <a:off x="8171640" y="2148840"/>
            <a:ext cx="3513960" cy="2011320"/>
          </a:xfrm>
          <a:prstGeom prst="roundRect">
            <a:avLst>
              <a:gd name="adj" fmla="val 2273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6" name="Text 17"/>
          <p:cNvSpPr/>
          <p:nvPr/>
        </p:nvSpPr>
        <p:spPr>
          <a:xfrm>
            <a:off x="8354520" y="2468880"/>
            <a:ext cx="3148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079c1"/>
                </a:solidFill>
                <a:latin typeface="Calibri"/>
                <a:ea typeface="Calibri"/>
              </a:rPr>
              <a:t>55k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7" name="Text 18"/>
          <p:cNvSpPr/>
          <p:nvPr/>
        </p:nvSpPr>
        <p:spPr>
          <a:xfrm>
            <a:off x="8354520" y="3383280"/>
            <a:ext cx="3148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records/sec on the Arrow lane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" name="Text 19"/>
          <p:cNvSpPr/>
          <p:nvPr/>
        </p:nvSpPr>
        <p:spPr>
          <a:xfrm>
            <a:off x="502920" y="4526280"/>
            <a:ext cx="1118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66e80"/>
                </a:solidFill>
                <a:latin typeface="Calibri"/>
                <a:ea typeface="Calibri"/>
              </a:rPr>
              <a:t>Bit-for-bit parity across lanes — same results, different throughput. Pick the lane per workload.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0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1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2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3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Performance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4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5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6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Efficiency — More Per Machine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8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9" name="Text 10"/>
          <p:cNvSpPr/>
          <p:nvPr/>
        </p:nvSpPr>
        <p:spPr>
          <a:xfrm>
            <a:off x="594360" y="1737360"/>
            <a:ext cx="10999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A single in-process node avoids cross-process serialization and network hops.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The equality gate ensures cycles are spent only on data that actually changed.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Columnar Arrow processing amortizes per-record overhead across whole batches.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Fewer moving parts mean a smaller operational and infrastructure footprint.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4000"/>
              </a:lnSpc>
              <a:spcAft>
                <a:spcPts val="1001"/>
              </a:spcAft>
              <a:buClr>
                <a:srgbClr val="334155"/>
              </a:buClr>
              <a:buFont typeface="OpenSymbol"/>
              <a:buChar char="▪"/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Higher throughput per node translates directly into lower cost to run.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" name="Shape 11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1" name="Text 12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Efficiency is a feature: doing more on one machine is the most direct path to lower cost.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3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4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5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6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Performance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7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8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9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0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Quality &amp; Release Discipline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1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2" name="Shape 10"/>
          <p:cNvSpPr/>
          <p:nvPr/>
        </p:nvSpPr>
        <p:spPr>
          <a:xfrm>
            <a:off x="502920" y="2148840"/>
            <a:ext cx="3513960" cy="2011320"/>
          </a:xfrm>
          <a:prstGeom prst="roundRect">
            <a:avLst>
              <a:gd name="adj" fmla="val 2273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3" name="Text 11"/>
          <p:cNvSpPr/>
          <p:nvPr/>
        </p:nvSpPr>
        <p:spPr>
          <a:xfrm>
            <a:off x="685800" y="2468880"/>
            <a:ext cx="3148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079c1"/>
                </a:solidFill>
                <a:latin typeface="Calibri"/>
                <a:ea typeface="Calibri"/>
              </a:rPr>
              <a:t>247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4" name="Text 12"/>
          <p:cNvSpPr/>
          <p:nvPr/>
        </p:nvSpPr>
        <p:spPr>
          <a:xfrm>
            <a:off x="685800" y="3383280"/>
            <a:ext cx="3148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automated tests guarding every release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5" name="Shape 13"/>
          <p:cNvSpPr/>
          <p:nvPr/>
        </p:nvSpPr>
        <p:spPr>
          <a:xfrm>
            <a:off x="4337280" y="2148840"/>
            <a:ext cx="3513960" cy="2011320"/>
          </a:xfrm>
          <a:prstGeom prst="roundRect">
            <a:avLst>
              <a:gd name="adj" fmla="val 2273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6" name="Text 14"/>
          <p:cNvSpPr/>
          <p:nvPr/>
        </p:nvSpPr>
        <p:spPr>
          <a:xfrm>
            <a:off x="4520160" y="2468880"/>
            <a:ext cx="3148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079c1"/>
                </a:solidFill>
                <a:latin typeface="Calibri"/>
                <a:ea typeface="Calibri"/>
              </a:rPr>
              <a:t>6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7" name="Text 15"/>
          <p:cNvSpPr/>
          <p:nvPr/>
        </p:nvSpPr>
        <p:spPr>
          <a:xfrm>
            <a:off x="4520160" y="3383280"/>
            <a:ext cx="3148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version sync points kept in lockstep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Shape 16"/>
          <p:cNvSpPr/>
          <p:nvPr/>
        </p:nvSpPr>
        <p:spPr>
          <a:xfrm>
            <a:off x="8171640" y="2148840"/>
            <a:ext cx="3513960" cy="2011320"/>
          </a:xfrm>
          <a:prstGeom prst="roundRect">
            <a:avLst>
              <a:gd name="adj" fmla="val 2273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9" name="Text 17"/>
          <p:cNvSpPr/>
          <p:nvPr/>
        </p:nvSpPr>
        <p:spPr>
          <a:xfrm>
            <a:off x="8354520" y="2468880"/>
            <a:ext cx="3148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079c1"/>
                </a:solidFill>
                <a:latin typeface="Calibri"/>
                <a:ea typeface="Calibri"/>
              </a:rPr>
              <a:t>100%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0" name="Text 18"/>
          <p:cNvSpPr/>
          <p:nvPr/>
        </p:nvSpPr>
        <p:spPr>
          <a:xfrm>
            <a:off x="8354520" y="3383280"/>
            <a:ext cx="3148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additive, backward-compatible changes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1" name="Text 19"/>
          <p:cNvSpPr/>
          <p:nvPr/>
        </p:nvSpPr>
        <p:spPr>
          <a:xfrm>
            <a:off x="502920" y="4526280"/>
            <a:ext cx="1118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66e80"/>
                </a:solidFill>
                <a:latin typeface="Calibri"/>
                <a:ea typeface="Calibri"/>
              </a:rPr>
              <a:t>Every release runs the full suite and updates documentation in lockstep — verified, not asserted.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5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3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4" name="Text 2"/>
          <p:cNvSpPr/>
          <p:nvPr/>
        </p:nvSpPr>
        <p:spPr>
          <a:xfrm>
            <a:off x="548640" y="4572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5" name="Text 3"/>
          <p:cNvSpPr/>
          <p:nvPr/>
        </p:nvSpPr>
        <p:spPr>
          <a:xfrm>
            <a:off x="7159680" y="4572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5fb0e0"/>
                </a:solidFill>
                <a:latin typeface="Calibri"/>
                <a:ea typeface="Calibri"/>
              </a:rPr>
              <a:t>SECTION 8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6" name="Shape 4"/>
          <p:cNvSpPr/>
          <p:nvPr/>
        </p:nvSpPr>
        <p:spPr>
          <a:xfrm>
            <a:off x="5225760" y="1737360"/>
            <a:ext cx="1737000" cy="17370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2e93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7" name="Text 5"/>
          <p:cNvSpPr/>
          <p:nvPr/>
        </p:nvSpPr>
        <p:spPr>
          <a:xfrm>
            <a:off x="5225760" y="173736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  <a:ea typeface="Calibri"/>
              </a:rPr>
              <a:t>8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8" name="Text 6"/>
          <p:cNvSpPr/>
          <p:nvPr/>
        </p:nvSpPr>
        <p:spPr>
          <a:xfrm>
            <a:off x="914400" y="3794760"/>
            <a:ext cx="10359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Use Cases, Value &amp; Roadmap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9" name="Text 7"/>
          <p:cNvSpPr/>
          <p:nvPr/>
        </p:nvSpPr>
        <p:spPr>
          <a:xfrm>
            <a:off x="1828800" y="4663440"/>
            <a:ext cx="8530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fe3f2"/>
                </a:solidFill>
                <a:latin typeface="Calibri"/>
                <a:ea typeface="Calibri"/>
              </a:rPr>
              <a:t>Where DishtaYantra delivers, the business case, and what comes next.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1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2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3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Use Cases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5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6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7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8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Where It Delivers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9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0" name="Shape 10"/>
          <p:cNvSpPr/>
          <p:nvPr/>
        </p:nvSpPr>
        <p:spPr>
          <a:xfrm>
            <a:off x="502920" y="1691640"/>
            <a:ext cx="5454000" cy="1691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" name="Shape 11"/>
          <p:cNvSpPr/>
          <p:nvPr/>
        </p:nvSpPr>
        <p:spPr>
          <a:xfrm>
            <a:off x="758880" y="192924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2" name="Text 12"/>
          <p:cNvSpPr/>
          <p:nvPr/>
        </p:nvSpPr>
        <p:spPr>
          <a:xfrm>
            <a:off x="75888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3" name="Text 13"/>
          <p:cNvSpPr/>
          <p:nvPr/>
        </p:nvSpPr>
        <p:spPr>
          <a:xfrm>
            <a:off x="1371600" y="1911240"/>
            <a:ext cx="4356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Real-time trade ETL &amp; risk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4" name="Text 14"/>
          <p:cNvSpPr/>
          <p:nvPr/>
        </p:nvSpPr>
        <p:spPr>
          <a:xfrm>
            <a:off x="777240" y="2532960"/>
            <a:ext cx="4905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Validate, enrich, value, and risk-score trades as they arrive — the same logic scaled by lane.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5" name="Shape 15"/>
          <p:cNvSpPr/>
          <p:nvPr/>
        </p:nvSpPr>
        <p:spPr>
          <a:xfrm>
            <a:off x="6231600" y="1691640"/>
            <a:ext cx="5454000" cy="1691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6" name="Shape 16"/>
          <p:cNvSpPr/>
          <p:nvPr/>
        </p:nvSpPr>
        <p:spPr>
          <a:xfrm>
            <a:off x="6487560" y="1929240"/>
            <a:ext cx="456840" cy="456840"/>
          </a:xfrm>
          <a:prstGeom prst="ellipse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7" name="Text 17"/>
          <p:cNvSpPr/>
          <p:nvPr/>
        </p:nvSpPr>
        <p:spPr>
          <a:xfrm>
            <a:off x="648756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8" name="Text 18"/>
          <p:cNvSpPr/>
          <p:nvPr/>
        </p:nvSpPr>
        <p:spPr>
          <a:xfrm>
            <a:off x="7100280" y="1911240"/>
            <a:ext cx="4356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Streaming enrichment &amp; normalization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9" name="Text 19"/>
          <p:cNvSpPr/>
          <p:nvPr/>
        </p:nvSpPr>
        <p:spPr>
          <a:xfrm>
            <a:off x="6505920" y="2532960"/>
            <a:ext cx="4905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Turn heterogeneous inbound events into clean, standardized records downstream systems trust.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0" name="Shape 20"/>
          <p:cNvSpPr/>
          <p:nvPr/>
        </p:nvSpPr>
        <p:spPr>
          <a:xfrm>
            <a:off x="502920" y="3639240"/>
            <a:ext cx="5454000" cy="1691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1" name="Shape 21"/>
          <p:cNvSpPr/>
          <p:nvPr/>
        </p:nvSpPr>
        <p:spPr>
          <a:xfrm>
            <a:off x="758880" y="387720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2" name="Text 22"/>
          <p:cNvSpPr/>
          <p:nvPr/>
        </p:nvSpPr>
        <p:spPr>
          <a:xfrm>
            <a:off x="758880" y="3877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3" name="Text 23"/>
          <p:cNvSpPr/>
          <p:nvPr/>
        </p:nvSpPr>
        <p:spPr>
          <a:xfrm>
            <a:off x="1371600" y="3858840"/>
            <a:ext cx="4356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Market-data fan-out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4" name="Text 24"/>
          <p:cNvSpPr/>
          <p:nvPr/>
        </p:nvSpPr>
        <p:spPr>
          <a:xfrm>
            <a:off x="777240" y="4480560"/>
            <a:ext cx="4905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Subscribe once, transform, and distribute to many partitions and destinations by key.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5" name="Shape 25"/>
          <p:cNvSpPr/>
          <p:nvPr/>
        </p:nvSpPr>
        <p:spPr>
          <a:xfrm>
            <a:off x="6231600" y="3639240"/>
            <a:ext cx="5454000" cy="1691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6" name="Shape 26"/>
          <p:cNvSpPr/>
          <p:nvPr/>
        </p:nvSpPr>
        <p:spPr>
          <a:xfrm>
            <a:off x="6487560" y="3877200"/>
            <a:ext cx="456840" cy="456840"/>
          </a:xfrm>
          <a:prstGeom prst="ellipse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7" name="Text 27"/>
          <p:cNvSpPr/>
          <p:nvPr/>
        </p:nvSpPr>
        <p:spPr>
          <a:xfrm>
            <a:off x="6487560" y="3877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8" name="Text 28"/>
          <p:cNvSpPr/>
          <p:nvPr/>
        </p:nvSpPr>
        <p:spPr>
          <a:xfrm>
            <a:off x="7100280" y="3858840"/>
            <a:ext cx="4356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Operational analytics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" name="Text 29"/>
          <p:cNvSpPr/>
          <p:nvPr/>
        </p:nvSpPr>
        <p:spPr>
          <a:xfrm>
            <a:off x="6505920" y="4480560"/>
            <a:ext cx="4905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Continuously compute KPIs and alerts from live operational streams.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0" name="Shape 30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1" name="Text 31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From capital markets to operations, the same reactive model fits any stream-to-result workload.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3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4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5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6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Use Cases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7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8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9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0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Use Case in Detail — Trade ETL, One Trade at a Time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2" name="Shape 10"/>
          <p:cNvSpPr/>
          <p:nvPr/>
        </p:nvSpPr>
        <p:spPr>
          <a:xfrm>
            <a:off x="502920" y="1691640"/>
            <a:ext cx="11182680" cy="456840"/>
          </a:xfrm>
          <a:prstGeom prst="roundRect">
            <a:avLst>
              <a:gd name="adj" fmla="val 6000"/>
            </a:avLst>
          </a:prstGeom>
          <a:solidFill>
            <a:srgbClr val="e27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3" name="Text 11"/>
          <p:cNvSpPr/>
          <p:nvPr/>
        </p:nvSpPr>
        <p:spPr>
          <a:xfrm>
            <a:off x="502920" y="1691640"/>
            <a:ext cx="1118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ROW MODE  —  a single trade flows through the calculator chain as a dict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4" name="Shape 12"/>
          <p:cNvSpPr/>
          <p:nvPr/>
        </p:nvSpPr>
        <p:spPr>
          <a:xfrm>
            <a:off x="502920" y="2240280"/>
            <a:ext cx="11182680" cy="3410280"/>
          </a:xfrm>
          <a:prstGeom prst="roundRect">
            <a:avLst>
              <a:gd name="adj" fmla="val 804"/>
            </a:avLst>
          </a:prstGeom>
          <a:solidFill>
            <a:srgbClr val="0e22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5" name="Text 13"/>
          <p:cNvSpPr/>
          <p:nvPr/>
        </p:nvSpPr>
        <p:spPr>
          <a:xfrm>
            <a:off x="822960" y="2404800"/>
            <a:ext cx="10542600" cy="31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e2a766"/>
                </a:solidFill>
                <a:latin typeface="Courier New"/>
                <a:ea typeface="Courier New"/>
              </a:rPr>
              <a:t># INPUT  — one trade off the source (validate -&gt; FX -&gt; notional -&gt; fees -&gt; risk)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{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"trade_id": "T-1000042", "symbol": "AAPL", "side": "BUY",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"quantity": 500, "price": 187.45, "currency": "USD",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"venue": "NASDAQ", "ts": "2026-06-22T14:31:07.812Z"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}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e2a766"/>
                </a:solidFill>
                <a:latin typeface="Courier New"/>
                <a:ea typeface="Courier New"/>
              </a:rPr>
              <a:t># OUTPUT — enriched, valued, and risk-scored result published downstream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{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"trade_id": "T-1000042", "symbol": "AAPL", "side": "BUY",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"quantity": 500, "price": 187.45, "fx_rate": 1.00,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"notional_usd": 93725.00, "fees_usd": 4.69,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"risk_score": 0.18, "risk_band": "LOW", "anomaly": false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}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6" name="Text 14"/>
          <p:cNvSpPr/>
          <p:nvPr/>
        </p:nvSpPr>
        <p:spPr>
          <a:xfrm>
            <a:off x="502920" y="5760720"/>
            <a:ext cx="1118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66e80"/>
                </a:solidFill>
                <a:latin typeface="Calibri"/>
                <a:ea typeface="Calibri"/>
              </a:rPr>
              <a:t>Simplest authoring; the equality gate means the chain re-fires only when this trade changes.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8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9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0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1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Use Cases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2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3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4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Trade ETL — Array of Trades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6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7" name="Shape 10"/>
          <p:cNvSpPr/>
          <p:nvPr/>
        </p:nvSpPr>
        <p:spPr>
          <a:xfrm>
            <a:off x="502920" y="1691640"/>
            <a:ext cx="11182680" cy="456840"/>
          </a:xfrm>
          <a:prstGeom prst="roundRect">
            <a:avLst>
              <a:gd name="adj" fmla="val 6000"/>
            </a:avLst>
          </a:prstGeom>
          <a:solidFill>
            <a:srgbClr val="e27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8" name="Text 11"/>
          <p:cNvSpPr/>
          <p:nvPr/>
        </p:nvSpPr>
        <p:spPr>
          <a:xfrm>
            <a:off x="502920" y="1691640"/>
            <a:ext cx="1118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ARRAY MODE  —  a batch is processed as a list of dicts (same chain, applied across the list)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9" name="Shape 12"/>
          <p:cNvSpPr/>
          <p:nvPr/>
        </p:nvSpPr>
        <p:spPr>
          <a:xfrm>
            <a:off x="502920" y="2240280"/>
            <a:ext cx="11182680" cy="3410280"/>
          </a:xfrm>
          <a:prstGeom prst="roundRect">
            <a:avLst>
              <a:gd name="adj" fmla="val 804"/>
            </a:avLst>
          </a:prstGeom>
          <a:solidFill>
            <a:srgbClr val="0e22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0" name="Text 13"/>
          <p:cNvSpPr/>
          <p:nvPr/>
        </p:nvSpPr>
        <p:spPr>
          <a:xfrm>
            <a:off x="822960" y="2404800"/>
            <a:ext cx="10542600" cy="31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e2a766"/>
                </a:solidFill>
                <a:latin typeface="Courier New"/>
                <a:ea typeface="Courier New"/>
              </a:rPr>
              <a:t># INPUT  — a micro-batch of heterogeneous trades (USD, GBP, JPY)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[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{"trade_id":"T-1000042","symbol":"AAPL",  "side":"BUY", "qty":500, "price":187.45,"ccy":"USD"},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{"trade_id":"T-1000043","symbol":"BP.L",  "side":"SELL","qty":1200,"price":4.78,  "ccy":"GBP"},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{"trade_id":"T-1000044","symbol":"7203.T","side":"BUY", "qty":300, "price":2810,  "ccy":"JPY"}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]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e2a766"/>
                </a:solidFill>
                <a:latin typeface="Courier New"/>
                <a:ea typeface="Courier New"/>
              </a:rPr>
              <a:t># OUTPUT — FX-normalized to USD, valued and banded across the whole batch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[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{"trade_id":"T-1000042","notional_usd":93725.00,"risk_band":"LOW"},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{"trade_id":"T-1000043","notional_usd": 7285.72,"risk_band":"MEDIUM"},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{"trade_id":"T-1000044","notional_usd": 5648.10,"risk_band":"LOW"}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]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1" name="Text 14"/>
          <p:cNvSpPr/>
          <p:nvPr/>
        </p:nvSpPr>
        <p:spPr>
          <a:xfrm>
            <a:off x="502920" y="5760720"/>
            <a:ext cx="1118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66e80"/>
                </a:solidFill>
                <a:latin typeface="Calibri"/>
                <a:ea typeface="Calibri"/>
              </a:rPr>
              <a:t>Amortizes per-call overhead across the batch — about 2.3x the row lane on the benchmark.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3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4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5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6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Use Cases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7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8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9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0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Trade ETL — Apache Arrow Record Batch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1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2" name="Shape 10"/>
          <p:cNvSpPr/>
          <p:nvPr/>
        </p:nvSpPr>
        <p:spPr>
          <a:xfrm>
            <a:off x="502920" y="1691640"/>
            <a:ext cx="11182680" cy="456840"/>
          </a:xfrm>
          <a:prstGeom prst="roundRect">
            <a:avLst>
              <a:gd name="adj" fmla="val 6000"/>
            </a:avLst>
          </a:prstGeom>
          <a:solidFill>
            <a:srgbClr val="e27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3" name="Text 11"/>
          <p:cNvSpPr/>
          <p:nvPr/>
        </p:nvSpPr>
        <p:spPr>
          <a:xfrm>
            <a:off x="502920" y="1691640"/>
            <a:ext cx="1118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ARROW MODE  —  columnar batch, operations run vectorized across whole columns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4" name="Shape 12"/>
          <p:cNvSpPr/>
          <p:nvPr/>
        </p:nvSpPr>
        <p:spPr>
          <a:xfrm>
            <a:off x="502920" y="2240280"/>
            <a:ext cx="11182680" cy="3410280"/>
          </a:xfrm>
          <a:prstGeom prst="roundRect">
            <a:avLst>
              <a:gd name="adj" fmla="val 804"/>
            </a:avLst>
          </a:prstGeom>
          <a:solidFill>
            <a:srgbClr val="0e22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5" name="Text 13"/>
          <p:cNvSpPr/>
          <p:nvPr/>
        </p:nvSpPr>
        <p:spPr>
          <a:xfrm>
            <a:off x="822960" y="2404800"/>
            <a:ext cx="10542600" cy="31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e2a766"/>
                </a:solidFill>
                <a:latin typeface="Courier New"/>
                <a:ea typeface="Courier New"/>
              </a:rPr>
              <a:t># Arrow RecordBatch  (3 rows x 7 columns)  -- schema: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e2a766"/>
                </a:solidFill>
                <a:latin typeface="Courier New"/>
                <a:ea typeface="Courier New"/>
              </a:rPr>
              <a:t>#   trade_id: string   symbol: string   side: dictionary&lt;string&gt;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e2a766"/>
                </a:solidFill>
                <a:latin typeface="Courier New"/>
                <a:ea typeface="Courier New"/>
              </a:rPr>
              <a:t>#   quantity: int64    price: float64   currency: dictionary&lt;string&gt;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e2a766"/>
                </a:solidFill>
                <a:latin typeface="Courier New"/>
                <a:ea typeface="Courier New"/>
              </a:rPr>
              <a:t>#   notional_usd: float64   (computed)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e2a766"/>
                </a:solidFill>
                <a:latin typeface="Courier New"/>
                <a:ea typeface="Courier New"/>
              </a:rPr>
              <a:t># Column-oriented storage (each column is a contiguous vector):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symbol       = ["AAPL",  "BP.L",  "7203.T"]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quantity     = [500,      1200,     300]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price        = [187.45,   4.78,     2810.0]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currency     = ["USD",    "GBP",    "JPY"]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fx_rate      = [1.00,     1.2710,   0.006700]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notional_usd = [93725.00, 7285.72,  5648.10]   # qty * price * fx, vectorized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ddeaf3"/>
                </a:solidFill>
                <a:latin typeface="Courier New"/>
                <a:ea typeface="Courier New"/>
              </a:rPr>
              <a:t>risk_band    = ["LOW",    "MEDIUM", "LOW"]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6" name="Text 14"/>
          <p:cNvSpPr/>
          <p:nvPr/>
        </p:nvSpPr>
        <p:spPr>
          <a:xfrm>
            <a:off x="502920" y="5760720"/>
            <a:ext cx="1118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66e80"/>
                </a:solidFill>
                <a:latin typeface="Calibri"/>
                <a:ea typeface="Calibri"/>
              </a:rPr>
              <a:t>Highest throughput — about 7.4x the row lane on 50k heterogeneous trades, bit-for-bit identical.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8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9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0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1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Value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2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3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4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5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Business Value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6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7" name="Shape 10"/>
          <p:cNvSpPr/>
          <p:nvPr/>
        </p:nvSpPr>
        <p:spPr>
          <a:xfrm>
            <a:off x="502920" y="1691640"/>
            <a:ext cx="5454000" cy="1691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8" name="Shape 11"/>
          <p:cNvSpPr/>
          <p:nvPr/>
        </p:nvSpPr>
        <p:spPr>
          <a:xfrm>
            <a:off x="758880" y="192924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9" name="Text 12"/>
          <p:cNvSpPr/>
          <p:nvPr/>
        </p:nvSpPr>
        <p:spPr>
          <a:xfrm>
            <a:off x="75888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0" name="Text 13"/>
          <p:cNvSpPr/>
          <p:nvPr/>
        </p:nvSpPr>
        <p:spPr>
          <a:xfrm>
            <a:off x="1371600" y="1911240"/>
            <a:ext cx="4356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Faster time-to-insight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1" name="Text 14"/>
          <p:cNvSpPr/>
          <p:nvPr/>
        </p:nvSpPr>
        <p:spPr>
          <a:xfrm>
            <a:off x="777240" y="2532960"/>
            <a:ext cx="4905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Real-time pipelines replace overnight batch — decisions on current data.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2" name="Shape 15"/>
          <p:cNvSpPr/>
          <p:nvPr/>
        </p:nvSpPr>
        <p:spPr>
          <a:xfrm>
            <a:off x="6231600" y="1691640"/>
            <a:ext cx="5454000" cy="1691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3" name="Shape 16"/>
          <p:cNvSpPr/>
          <p:nvPr/>
        </p:nvSpPr>
        <p:spPr>
          <a:xfrm>
            <a:off x="6487560" y="1929240"/>
            <a:ext cx="456840" cy="456840"/>
          </a:xfrm>
          <a:prstGeom prst="ellipse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4" name="Text 17"/>
          <p:cNvSpPr/>
          <p:nvPr/>
        </p:nvSpPr>
        <p:spPr>
          <a:xfrm>
            <a:off x="648756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5" name="Text 18"/>
          <p:cNvSpPr/>
          <p:nvPr/>
        </p:nvSpPr>
        <p:spPr>
          <a:xfrm>
            <a:off x="7100280" y="1911240"/>
            <a:ext cx="4356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Lower infrastructure footprint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6" name="Text 19"/>
          <p:cNvSpPr/>
          <p:nvPr/>
        </p:nvSpPr>
        <p:spPr>
          <a:xfrm>
            <a:off x="6505920" y="2532960"/>
            <a:ext cx="4905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An efficient single-node engine does more per machine, reducing cost to operate.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7" name="Shape 20"/>
          <p:cNvSpPr/>
          <p:nvPr/>
        </p:nvSpPr>
        <p:spPr>
          <a:xfrm>
            <a:off x="502920" y="3639240"/>
            <a:ext cx="5454000" cy="1691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8" name="Shape 21"/>
          <p:cNvSpPr/>
          <p:nvPr/>
        </p:nvSpPr>
        <p:spPr>
          <a:xfrm>
            <a:off x="758880" y="387720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9" name="Text 22"/>
          <p:cNvSpPr/>
          <p:nvPr/>
        </p:nvSpPr>
        <p:spPr>
          <a:xfrm>
            <a:off x="758880" y="3877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0" name="Text 23"/>
          <p:cNvSpPr/>
          <p:nvPr/>
        </p:nvSpPr>
        <p:spPr>
          <a:xfrm>
            <a:off x="1371600" y="3858840"/>
            <a:ext cx="4356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Developer productivity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1" name="Text 24"/>
          <p:cNvSpPr/>
          <p:nvPr/>
        </p:nvSpPr>
        <p:spPr>
          <a:xfrm>
            <a:off x="777240" y="4480560"/>
            <a:ext cx="4905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Visual design, reusable calculators, and no redeploy cut delivery time.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2" name="Shape 25"/>
          <p:cNvSpPr/>
          <p:nvPr/>
        </p:nvSpPr>
        <p:spPr>
          <a:xfrm>
            <a:off x="6231600" y="3639240"/>
            <a:ext cx="5454000" cy="1691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3" name="Shape 26"/>
          <p:cNvSpPr/>
          <p:nvPr/>
        </p:nvSpPr>
        <p:spPr>
          <a:xfrm>
            <a:off x="6487560" y="3877200"/>
            <a:ext cx="456840" cy="456840"/>
          </a:xfrm>
          <a:prstGeom prst="ellipse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4" name="Text 27"/>
          <p:cNvSpPr/>
          <p:nvPr/>
        </p:nvSpPr>
        <p:spPr>
          <a:xfrm>
            <a:off x="6487560" y="3877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5" name="Text 28"/>
          <p:cNvSpPr/>
          <p:nvPr/>
        </p:nvSpPr>
        <p:spPr>
          <a:xfrm>
            <a:off x="7100280" y="3858840"/>
            <a:ext cx="4356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Governance &amp; control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6" name="Text 29"/>
          <p:cNvSpPr/>
          <p:nvPr/>
        </p:nvSpPr>
        <p:spPr>
          <a:xfrm>
            <a:off x="6505920" y="4480560"/>
            <a:ext cx="4905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Built-in access control, audit, and safe operations reduce risk.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7" name="Shape 30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8" name="Text 31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The platform compresses the distance between a live event and a governed, real-time result.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0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1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2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3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Roadmap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4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5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6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7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On the Roadmap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8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9" name="Shape 10"/>
          <p:cNvSpPr/>
          <p:nvPr/>
        </p:nvSpPr>
        <p:spPr>
          <a:xfrm>
            <a:off x="502920" y="194112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0" name="Text 11"/>
          <p:cNvSpPr/>
          <p:nvPr/>
        </p:nvSpPr>
        <p:spPr>
          <a:xfrm>
            <a:off x="502920" y="194112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1" name="Text 12"/>
          <p:cNvSpPr/>
          <p:nvPr/>
        </p:nvSpPr>
        <p:spPr>
          <a:xfrm>
            <a:off x="1097280" y="1710000"/>
            <a:ext cx="3748680" cy="8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API-driven designer palette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2" name="Text 13"/>
          <p:cNvSpPr/>
          <p:nvPr/>
        </p:nvSpPr>
        <p:spPr>
          <a:xfrm>
            <a:off x="4983480" y="1710000"/>
            <a:ext cx="6702120" cy="8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Generate the palette from the engine's component registry to eliminate drift.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3" name="Shape 14"/>
          <p:cNvSpPr/>
          <p:nvPr/>
        </p:nvSpPr>
        <p:spPr>
          <a:xfrm>
            <a:off x="502920" y="284292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4" name="Text 15"/>
          <p:cNvSpPr/>
          <p:nvPr/>
        </p:nvSpPr>
        <p:spPr>
          <a:xfrm>
            <a:off x="502920" y="284292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5" name="Text 16"/>
          <p:cNvSpPr/>
          <p:nvPr/>
        </p:nvSpPr>
        <p:spPr>
          <a:xfrm>
            <a:off x="1097280" y="2611440"/>
            <a:ext cx="3748680" cy="8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Broader connector catalog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6" name="Text 17"/>
          <p:cNvSpPr/>
          <p:nvPr/>
        </p:nvSpPr>
        <p:spPr>
          <a:xfrm>
            <a:off x="4983480" y="2611440"/>
            <a:ext cx="6702120" cy="8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Continue expanding the source and sink families available out of the box.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7" name="Shape 18"/>
          <p:cNvSpPr/>
          <p:nvPr/>
        </p:nvSpPr>
        <p:spPr>
          <a:xfrm>
            <a:off x="502920" y="374436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8" name="Text 19"/>
          <p:cNvSpPr/>
          <p:nvPr/>
        </p:nvSpPr>
        <p:spPr>
          <a:xfrm>
            <a:off x="502920" y="374436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9" name="Text 20"/>
          <p:cNvSpPr/>
          <p:nvPr/>
        </p:nvSpPr>
        <p:spPr>
          <a:xfrm>
            <a:off x="1097280" y="3513240"/>
            <a:ext cx="3748680" cy="8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Managed key administration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0" name="Text 21"/>
          <p:cNvSpPr/>
          <p:nvPr/>
        </p:nvSpPr>
        <p:spPr>
          <a:xfrm>
            <a:off x="4983480" y="3513240"/>
            <a:ext cx="6702120" cy="8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Richer key lifecycle and remote management beyond minting.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1" name="Shape 22"/>
          <p:cNvSpPr/>
          <p:nvPr/>
        </p:nvSpPr>
        <p:spPr>
          <a:xfrm>
            <a:off x="502920" y="464616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2" name="Text 23"/>
          <p:cNvSpPr/>
          <p:nvPr/>
        </p:nvSpPr>
        <p:spPr>
          <a:xfrm>
            <a:off x="502920" y="464616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3" name="Text 24"/>
          <p:cNvSpPr/>
          <p:nvPr/>
        </p:nvSpPr>
        <p:spPr>
          <a:xfrm>
            <a:off x="1097280" y="4414680"/>
            <a:ext cx="3748680" cy="8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Deeper observability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4" name="Text 25"/>
          <p:cNvSpPr/>
          <p:nvPr/>
        </p:nvSpPr>
        <p:spPr>
          <a:xfrm>
            <a:off x="4983480" y="4414680"/>
            <a:ext cx="6702120" cy="8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Expanded metrics and tracing for end-to-end pipeline visibility.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5" name="Shape 26"/>
          <p:cNvSpPr/>
          <p:nvPr/>
        </p:nvSpPr>
        <p:spPr>
          <a:xfrm>
            <a:off x="502920" y="554760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6" name="Text 27"/>
          <p:cNvSpPr/>
          <p:nvPr/>
        </p:nvSpPr>
        <p:spPr>
          <a:xfrm>
            <a:off x="502920" y="55476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7" name="Text 28"/>
          <p:cNvSpPr/>
          <p:nvPr/>
        </p:nvSpPr>
        <p:spPr>
          <a:xfrm>
            <a:off x="1097280" y="5316480"/>
            <a:ext cx="3748680" cy="8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Horizontal scale-out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8" name="Text 29"/>
          <p:cNvSpPr/>
          <p:nvPr/>
        </p:nvSpPr>
        <p:spPr>
          <a:xfrm>
            <a:off x="4983480" y="5316480"/>
            <a:ext cx="6702120" cy="8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Distribute the highest-volume workloads beyond a single node.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5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0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1" name="Text 2"/>
          <p:cNvSpPr/>
          <p:nvPr/>
        </p:nvSpPr>
        <p:spPr>
          <a:xfrm>
            <a:off x="548640" y="4572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2" name="Text 3"/>
          <p:cNvSpPr/>
          <p:nvPr/>
        </p:nvSpPr>
        <p:spPr>
          <a:xfrm>
            <a:off x="7159680" y="4572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5fb0e0"/>
                </a:solidFill>
                <a:latin typeface="Calibri"/>
                <a:ea typeface="Calibri"/>
              </a:rPr>
              <a:t>SECTION 9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3" name="Shape 4"/>
          <p:cNvSpPr/>
          <p:nvPr/>
        </p:nvSpPr>
        <p:spPr>
          <a:xfrm>
            <a:off x="5225760" y="1737360"/>
            <a:ext cx="1737000" cy="17370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2e93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4" name="Text 5"/>
          <p:cNvSpPr/>
          <p:nvPr/>
        </p:nvSpPr>
        <p:spPr>
          <a:xfrm>
            <a:off x="5225760" y="173736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  <a:ea typeface="Calibri"/>
              </a:rPr>
              <a:t>9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5" name="Text 6"/>
          <p:cNvSpPr/>
          <p:nvPr/>
        </p:nvSpPr>
        <p:spPr>
          <a:xfrm>
            <a:off x="914400" y="3794760"/>
            <a:ext cx="10359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Competitive Analysis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6" name="Text 7"/>
          <p:cNvSpPr/>
          <p:nvPr/>
        </p:nvSpPr>
        <p:spPr>
          <a:xfrm>
            <a:off x="1828800" y="4663440"/>
            <a:ext cx="8530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fe3f2"/>
                </a:solidFill>
                <a:latin typeface="Calibri"/>
                <a:ea typeface="Calibri"/>
              </a:rPr>
              <a:t>How DishtaYantra compares to the alternatives — and why it wins.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8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9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0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1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Competitive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2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3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4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5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The Competitive Landscape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6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7" name="Shape 10"/>
          <p:cNvSpPr/>
          <p:nvPr/>
        </p:nvSpPr>
        <p:spPr>
          <a:xfrm>
            <a:off x="502920" y="1691640"/>
            <a:ext cx="3544560" cy="3638880"/>
          </a:xfrm>
          <a:prstGeom prst="roundRect">
            <a:avLst>
              <a:gd name="adj" fmla="val 103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8" name="Shape 11"/>
          <p:cNvSpPr/>
          <p:nvPr/>
        </p:nvSpPr>
        <p:spPr>
          <a:xfrm>
            <a:off x="758880" y="192924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9" name="Text 12"/>
          <p:cNvSpPr/>
          <p:nvPr/>
        </p:nvSpPr>
        <p:spPr>
          <a:xfrm>
            <a:off x="75888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0" name="Text 13"/>
          <p:cNvSpPr/>
          <p:nvPr/>
        </p:nvSpPr>
        <p:spPr>
          <a:xfrm>
            <a:off x="1371600" y="1911240"/>
            <a:ext cx="244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Cluster stream processors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1" name="Text 14"/>
          <p:cNvSpPr/>
          <p:nvPr/>
        </p:nvSpPr>
        <p:spPr>
          <a:xfrm>
            <a:off x="777240" y="2532960"/>
            <a:ext cx="2995920" cy="26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Flink, Kafka Streams, Spark Streaming. Powerful and scalable, but distributed clusters to run, largely JVM-centric, and code-first to author and change.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2" name="Shape 15"/>
          <p:cNvSpPr/>
          <p:nvPr/>
        </p:nvSpPr>
        <p:spPr>
          <a:xfrm>
            <a:off x="4322160" y="1691640"/>
            <a:ext cx="3544560" cy="3638880"/>
          </a:xfrm>
          <a:prstGeom prst="roundRect">
            <a:avLst>
              <a:gd name="adj" fmla="val 103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3" name="Shape 16"/>
          <p:cNvSpPr/>
          <p:nvPr/>
        </p:nvSpPr>
        <p:spPr>
          <a:xfrm>
            <a:off x="4578120" y="1929240"/>
            <a:ext cx="456840" cy="456840"/>
          </a:xfrm>
          <a:prstGeom prst="ellipse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4" name="Text 17"/>
          <p:cNvSpPr/>
          <p:nvPr/>
        </p:nvSpPr>
        <p:spPr>
          <a:xfrm>
            <a:off x="457812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5" name="Text 18"/>
          <p:cNvSpPr/>
          <p:nvPr/>
        </p:nvSpPr>
        <p:spPr>
          <a:xfrm>
            <a:off x="5190840" y="1911240"/>
            <a:ext cx="244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Traditional ETL &amp; iPaaS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6" name="Text 19"/>
          <p:cNvSpPr/>
          <p:nvPr/>
        </p:nvSpPr>
        <p:spPr>
          <a:xfrm>
            <a:off x="4596480" y="2532960"/>
            <a:ext cx="2995920" cy="26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Batch or low-code integration tools. Friendly to wire up, but often batch/micro-batch, with limited custom compute and proprietary runtimes.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" name="Shape 20"/>
          <p:cNvSpPr/>
          <p:nvPr/>
        </p:nvSpPr>
        <p:spPr>
          <a:xfrm>
            <a:off x="8141040" y="1691640"/>
            <a:ext cx="3544560" cy="3638880"/>
          </a:xfrm>
          <a:prstGeom prst="roundRect">
            <a:avLst>
              <a:gd name="adj" fmla="val 103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8" name="Shape 21"/>
          <p:cNvSpPr/>
          <p:nvPr/>
        </p:nvSpPr>
        <p:spPr>
          <a:xfrm>
            <a:off x="8397360" y="1929240"/>
            <a:ext cx="456840" cy="45684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9" name="Text 22"/>
          <p:cNvSpPr/>
          <p:nvPr/>
        </p:nvSpPr>
        <p:spPr>
          <a:xfrm>
            <a:off x="839736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0" name="Text 23"/>
          <p:cNvSpPr/>
          <p:nvPr/>
        </p:nvSpPr>
        <p:spPr>
          <a:xfrm>
            <a:off x="9009720" y="1911240"/>
            <a:ext cx="244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Bespoke microservices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1" name="Text 24"/>
          <p:cNvSpPr/>
          <p:nvPr/>
        </p:nvSpPr>
        <p:spPr>
          <a:xfrm>
            <a:off x="8415360" y="2532960"/>
            <a:ext cx="2995920" cy="26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Hand-built services per integration. Full control, but high build and maintenance cost, no reuse, and governance must be assembled from scratch.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2" name="Shape 25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3" name="Text 26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DishtaYantra occupies the gap: real-time and reactive, multi-language, visual, and governed — on one node.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5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6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7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8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Competitive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9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0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1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2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How DishtaYantra Compares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3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414" name="Table 0"/>
          <p:cNvGraphicFramePr/>
          <p:nvPr/>
        </p:nvGraphicFramePr>
        <p:xfrm>
          <a:off x="502920" y="1691640"/>
          <a:ext cx="11182680" cy="3638880"/>
        </p:xfrm>
        <a:graphic>
          <a:graphicData uri="http://schemas.openxmlformats.org/drawingml/2006/table">
            <a:tbl>
              <a:tblPr/>
              <a:tblGrid>
                <a:gridCol w="2468880"/>
                <a:gridCol w="2971800"/>
                <a:gridCol w="2907720"/>
                <a:gridCol w="2834640"/>
              </a:tblGrid>
              <a:tr h="40428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Dimension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DishtaYantra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Cluster stream processors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Traditional ETL / custom code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005587"/>
                    </a:solidFill>
                  </a:tcPr>
                </a:tc>
              </a:tr>
              <a:tr h="40428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Deployment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Single node, in-process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Distributed cluster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Servers / many services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Scaling model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Loose cluster of paired nodes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Tightly-coupled cluster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Scale-up or bespoke sharding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0428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Latency model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Reactive — only on change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Continuous reprocess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Batch / micro-batch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Backpressure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Opt-in, credit-based flow control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Built-in (Flink), manual (Spark)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Manual / none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0428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Compute languages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Python, C++, Rust, JVM, Arrow, WASM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Mostly JVM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Mixed / siloed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Authoring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Visual DAG, no redeploy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Code-first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GUI or hand-coded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0428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Governance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RBAC, API keys, audit built in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Add-on / DIY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DIY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Footprint &amp; cost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Low — one machine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High — cluster ops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Medium to high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415" name="Shape 10"/>
          <p:cNvSpPr/>
          <p:nvPr/>
        </p:nvSpPr>
        <p:spPr>
          <a:xfrm>
            <a:off x="502920" y="5486400"/>
            <a:ext cx="11182680" cy="712800"/>
          </a:xfrm>
          <a:prstGeom prst="roundRect">
            <a:avLst>
              <a:gd name="adj" fmla="val 6410"/>
            </a:avLst>
          </a:prstGeom>
          <a:solidFill>
            <a:srgbClr val="eaf1f8"/>
          </a:solidFill>
          <a:ln w="15875">
            <a:solidFill>
              <a:srgbClr val="0079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6" name="Text 11"/>
          <p:cNvSpPr/>
          <p:nvPr/>
        </p:nvSpPr>
        <p:spPr>
          <a:xfrm>
            <a:off x="777240" y="5486400"/>
            <a:ext cx="1063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Takeaway:  </a:t>
            </a:r>
            <a:r>
              <a:rPr b="0" i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Cluster-grade scale and availability from a loose cluster of simple parts — without the tightly-coupled cluster, the polyglot sprawl, or the DIY governance.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8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9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0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1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Competitive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2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3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4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5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Why DishtaYantra Is Better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6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7" name="Shape 10"/>
          <p:cNvSpPr/>
          <p:nvPr/>
        </p:nvSpPr>
        <p:spPr>
          <a:xfrm>
            <a:off x="502920" y="186624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8" name="Text 11"/>
          <p:cNvSpPr/>
          <p:nvPr/>
        </p:nvSpPr>
        <p:spPr>
          <a:xfrm>
            <a:off x="502920" y="186624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9" name="Text 12"/>
          <p:cNvSpPr/>
          <p:nvPr/>
        </p:nvSpPr>
        <p:spPr>
          <a:xfrm>
            <a:off x="1097280" y="1710000"/>
            <a:ext cx="374868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One engine, many languages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0" name="Text 13"/>
          <p:cNvSpPr/>
          <p:nvPr/>
        </p:nvSpPr>
        <p:spPr>
          <a:xfrm>
            <a:off x="4983480" y="1710000"/>
            <a:ext cx="670212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Python, C++, Rust, JVM, Arrow, and WASM behind one interface — the right tool per stage, no polyglot operational sprawl.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1" name="Shape 14"/>
          <p:cNvSpPr/>
          <p:nvPr/>
        </p:nvSpPr>
        <p:spPr>
          <a:xfrm>
            <a:off x="502920" y="261756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2" name="Text 15"/>
          <p:cNvSpPr/>
          <p:nvPr/>
        </p:nvSpPr>
        <p:spPr>
          <a:xfrm>
            <a:off x="502920" y="261756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3" name="Text 16"/>
          <p:cNvSpPr/>
          <p:nvPr/>
        </p:nvSpPr>
        <p:spPr>
          <a:xfrm>
            <a:off x="1097280" y="2461320"/>
            <a:ext cx="374868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Reactive efficiency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4" name="Text 17"/>
          <p:cNvSpPr/>
          <p:nvPr/>
        </p:nvSpPr>
        <p:spPr>
          <a:xfrm>
            <a:off x="4983480" y="2461320"/>
            <a:ext cx="670212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The equality gate recomputes only on change — lower latency and lower cost than always-on stream reprocessing.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5" name="Shape 18"/>
          <p:cNvSpPr/>
          <p:nvPr/>
        </p:nvSpPr>
        <p:spPr>
          <a:xfrm>
            <a:off x="502920" y="336888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6" name="Text 19"/>
          <p:cNvSpPr/>
          <p:nvPr/>
        </p:nvSpPr>
        <p:spPr>
          <a:xfrm>
            <a:off x="502920" y="33688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7" name="Text 20"/>
          <p:cNvSpPr/>
          <p:nvPr/>
        </p:nvSpPr>
        <p:spPr>
          <a:xfrm>
            <a:off x="1097280" y="3212640"/>
            <a:ext cx="374868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A loose cluster, not a tight one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8" name="Text 21"/>
          <p:cNvSpPr/>
          <p:nvPr/>
        </p:nvSpPr>
        <p:spPr>
          <a:xfrm>
            <a:off x="4983480" y="3212640"/>
            <a:ext cx="670212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Compose simple single-process node pairs, sharded by partition, into a horizontally scalable, highly available fleet — cluster-grade scale with no cluster coordination to run.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9" name="Shape 22"/>
          <p:cNvSpPr/>
          <p:nvPr/>
        </p:nvSpPr>
        <p:spPr>
          <a:xfrm>
            <a:off x="502920" y="412020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0" name="Text 23"/>
          <p:cNvSpPr/>
          <p:nvPr/>
        </p:nvSpPr>
        <p:spPr>
          <a:xfrm>
            <a:off x="502920" y="41202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1" name="Text 24"/>
          <p:cNvSpPr/>
          <p:nvPr/>
        </p:nvSpPr>
        <p:spPr>
          <a:xfrm>
            <a:off x="1097280" y="3963960"/>
            <a:ext cx="374868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Visual, no redeploy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2" name="Text 25"/>
          <p:cNvSpPr/>
          <p:nvPr/>
        </p:nvSpPr>
        <p:spPr>
          <a:xfrm>
            <a:off x="4983480" y="3963960"/>
            <a:ext cx="670212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Pipelines are built and changed in the browser — iterate at the speed of the business, not the release train.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3" name="Shape 26"/>
          <p:cNvSpPr/>
          <p:nvPr/>
        </p:nvSpPr>
        <p:spPr>
          <a:xfrm>
            <a:off x="502920" y="487152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4" name="Text 27"/>
          <p:cNvSpPr/>
          <p:nvPr/>
        </p:nvSpPr>
        <p:spPr>
          <a:xfrm>
            <a:off x="502920" y="487152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5" name="Text 28"/>
          <p:cNvSpPr/>
          <p:nvPr/>
        </p:nvSpPr>
        <p:spPr>
          <a:xfrm>
            <a:off x="1097280" y="4715280"/>
            <a:ext cx="374868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Governance built in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6" name="Text 29"/>
          <p:cNvSpPr/>
          <p:nvPr/>
        </p:nvSpPr>
        <p:spPr>
          <a:xfrm>
            <a:off x="4983480" y="4715280"/>
            <a:ext cx="670212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RBAC, scoped API keys, append-only audit, and safe maintenance windows ship in the box, not as add-ons.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7" name="Shape 30"/>
          <p:cNvSpPr/>
          <p:nvPr/>
        </p:nvSpPr>
        <p:spPr>
          <a:xfrm>
            <a:off x="502920" y="5622840"/>
            <a:ext cx="402120" cy="402120"/>
          </a:xfrm>
          <a:prstGeom prst="ellipse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8" name="Text 31"/>
          <p:cNvSpPr/>
          <p:nvPr/>
        </p:nvSpPr>
        <p:spPr>
          <a:xfrm>
            <a:off x="502920" y="562284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9" name="Text 32"/>
          <p:cNvSpPr/>
          <p:nvPr/>
        </p:nvSpPr>
        <p:spPr>
          <a:xfrm>
            <a:off x="1097280" y="5466600"/>
            <a:ext cx="374868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5587"/>
                </a:solidFill>
                <a:latin typeface="Calibri"/>
                <a:ea typeface="Calibri"/>
              </a:rPr>
              <a:t>Columnar Arrow lane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0" name="Text 33"/>
          <p:cNvSpPr/>
          <p:nvPr/>
        </p:nvSpPr>
        <p:spPr>
          <a:xfrm>
            <a:off x="4983480" y="5466600"/>
            <a:ext cx="670212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On-demand vectorized throughput (~7.4x the row lane) with bit-for-bit identical results.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2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3" name="Shape 2"/>
          <p:cNvSpPr/>
          <p:nvPr/>
        </p:nvSpPr>
        <p:spPr>
          <a:xfrm>
            <a:off x="0" y="64080"/>
            <a:ext cx="12188520" cy="54828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4" name="Text 3"/>
          <p:cNvSpPr/>
          <p:nvPr/>
        </p:nvSpPr>
        <p:spPr>
          <a:xfrm>
            <a:off x="457200" y="64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5" name="Text 4"/>
          <p:cNvSpPr/>
          <p:nvPr/>
        </p:nvSpPr>
        <p:spPr>
          <a:xfrm>
            <a:off x="7159680" y="64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fe3f2"/>
                </a:solidFill>
                <a:latin typeface="Calibri"/>
                <a:ea typeface="Calibri"/>
              </a:rPr>
              <a:t>Summary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6" name="Shape 5"/>
          <p:cNvSpPr/>
          <p:nvPr/>
        </p:nvSpPr>
        <p:spPr>
          <a:xfrm>
            <a:off x="0" y="6382440"/>
            <a:ext cx="12188520" cy="420120"/>
          </a:xfrm>
          <a:prstGeom prst="rect">
            <a:avLst/>
          </a:prstGeom>
          <a:solidFill>
            <a:srgbClr val="0055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7" name="Text 6"/>
          <p:cNvSpPr/>
          <p:nvPr/>
        </p:nvSpPr>
        <p:spPr>
          <a:xfrm>
            <a:off x="457200" y="6382440"/>
            <a:ext cx="6400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Reactive compute for real-time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8" name="Text 7"/>
          <p:cNvSpPr/>
          <p:nvPr/>
        </p:nvSpPr>
        <p:spPr>
          <a:xfrm>
            <a:off x="6245280" y="6382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fc7dc"/>
                </a:solidFill>
                <a:latin typeface="Calibri"/>
                <a:ea typeface="Calibri"/>
              </a:rPr>
              <a:t>DishtaYantra  •  Ashutosh Sinha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9" name="Text 8"/>
          <p:cNvSpPr/>
          <p:nvPr/>
        </p:nvSpPr>
        <p:spPr>
          <a:xfrm>
            <a:off x="502920" y="777240"/>
            <a:ext cx="1118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5587"/>
                </a:solidFill>
                <a:latin typeface="Calibri"/>
                <a:ea typeface="Calibri"/>
              </a:rPr>
              <a:t>The DishtaYantra Thesis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" name="Shape 9"/>
          <p:cNvSpPr/>
          <p:nvPr/>
        </p:nvSpPr>
        <p:spPr>
          <a:xfrm>
            <a:off x="502920" y="1417320"/>
            <a:ext cx="11182680" cy="25200"/>
          </a:xfrm>
          <a:prstGeom prst="rect">
            <a:avLst/>
          </a:prstGeom>
          <a:solidFill>
            <a:srgbClr val="0079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1" name="Text 10"/>
          <p:cNvSpPr/>
          <p:nvPr/>
        </p:nvSpPr>
        <p:spPr>
          <a:xfrm>
            <a:off x="502920" y="1691640"/>
            <a:ext cx="1118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05587"/>
                </a:solidFill>
                <a:latin typeface="Calibri"/>
                <a:ea typeface="Calibri"/>
              </a:rPr>
              <a:t>The simplicity of a single process</a:t>
            </a:r>
            <a:r>
              <a:rPr b="0" lang="en-US" sz="2200" spc="-1" strike="noStrike">
                <a:solidFill>
                  <a:srgbClr val="334155"/>
                </a:solidFill>
                <a:latin typeface="Calibri"/>
                <a:ea typeface="Calibri"/>
              </a:rPr>
              <a:t>  —  with the  </a:t>
            </a:r>
            <a:r>
              <a:rPr b="1" lang="en-US" sz="2200" spc="-1" strike="noStrike">
                <a:solidFill>
                  <a:srgbClr val="0079c1"/>
                </a:solidFill>
                <a:latin typeface="Calibri"/>
                <a:ea typeface="Calibri"/>
              </a:rPr>
              <a:t>scalability of a loose cluster</a:t>
            </a:r>
            <a:r>
              <a:rPr b="0" lang="en-US" sz="2200" spc="-1" strike="noStrike">
                <a:solidFill>
                  <a:srgbClr val="334155"/>
                </a:solidFill>
                <a:latin typeface="Calibri"/>
                <a:ea typeface="Calibri"/>
              </a:rPr>
              <a:t>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2" name="Text 11"/>
          <p:cNvSpPr/>
          <p:nvPr/>
        </p:nvSpPr>
        <p:spPr>
          <a:xfrm>
            <a:off x="502920" y="2240280"/>
            <a:ext cx="1118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66e80"/>
                </a:solidFill>
                <a:latin typeface="Calibri"/>
                <a:ea typeface="Calibri"/>
              </a:rPr>
              <a:t>Built on the right data-pipeline design and a reactive engine — high performance, frugal on infrastructure and on the learning curve.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3" name="Shape 12"/>
          <p:cNvSpPr/>
          <p:nvPr/>
        </p:nvSpPr>
        <p:spPr>
          <a:xfrm>
            <a:off x="502920" y="2880360"/>
            <a:ext cx="3513960" cy="146268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4" name="Text 13"/>
          <p:cNvSpPr/>
          <p:nvPr/>
        </p:nvSpPr>
        <p:spPr>
          <a:xfrm>
            <a:off x="758880" y="3081600"/>
            <a:ext cx="300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Single-process simplicity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5" name="Text 14"/>
          <p:cNvSpPr/>
          <p:nvPr/>
        </p:nvSpPr>
        <p:spPr>
          <a:xfrm>
            <a:off x="758880" y="3666600"/>
            <a:ext cx="30020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34155"/>
                </a:solidFill>
                <a:latin typeface="Calibri"/>
                <a:ea typeface="Calibri"/>
              </a:rPr>
              <a:t>One process to reason about, deploy, and operate — no distributed runtime.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6" name="Shape 15"/>
          <p:cNvSpPr/>
          <p:nvPr/>
        </p:nvSpPr>
        <p:spPr>
          <a:xfrm>
            <a:off x="4337280" y="2880360"/>
            <a:ext cx="3513960" cy="146268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7" name="Text 16"/>
          <p:cNvSpPr/>
          <p:nvPr/>
        </p:nvSpPr>
        <p:spPr>
          <a:xfrm>
            <a:off x="4593240" y="3081600"/>
            <a:ext cx="300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Loose-cluster scalability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8" name="Text 17"/>
          <p:cNvSpPr/>
          <p:nvPr/>
        </p:nvSpPr>
        <p:spPr>
          <a:xfrm>
            <a:off x="4593240" y="3666600"/>
            <a:ext cx="30020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34155"/>
                </a:solidFill>
                <a:latin typeface="Calibri"/>
                <a:ea typeface="Calibri"/>
              </a:rPr>
              <a:t>Pair and shard into a horizontally scalable, highly available fleet.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9" name="Shape 18"/>
          <p:cNvSpPr/>
          <p:nvPr/>
        </p:nvSpPr>
        <p:spPr>
          <a:xfrm>
            <a:off x="8171640" y="2880360"/>
            <a:ext cx="3513960" cy="146268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0" name="Text 19"/>
          <p:cNvSpPr/>
          <p:nvPr/>
        </p:nvSpPr>
        <p:spPr>
          <a:xfrm>
            <a:off x="8427600" y="3081600"/>
            <a:ext cx="300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Right pipeline design + reactive engine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1" name="Text 20"/>
          <p:cNvSpPr/>
          <p:nvPr/>
        </p:nvSpPr>
        <p:spPr>
          <a:xfrm>
            <a:off x="8427600" y="3666600"/>
            <a:ext cx="30020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34155"/>
                </a:solidFill>
                <a:latin typeface="Calibri"/>
                <a:ea typeface="Calibri"/>
              </a:rPr>
              <a:t>The equality gate recomputes only on change — predictable low latency.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2" name="Shape 21"/>
          <p:cNvSpPr/>
          <p:nvPr/>
        </p:nvSpPr>
        <p:spPr>
          <a:xfrm>
            <a:off x="502920" y="4617720"/>
            <a:ext cx="3513960" cy="1462680"/>
          </a:xfrm>
          <a:prstGeom prst="roundRect">
            <a:avLst>
              <a:gd name="adj" fmla="val 2500"/>
            </a:avLst>
          </a:prstGeom>
          <a:solidFill>
            <a:srgbClr val="eaf1f8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3" name="Text 22"/>
          <p:cNvSpPr/>
          <p:nvPr/>
        </p:nvSpPr>
        <p:spPr>
          <a:xfrm>
            <a:off x="758880" y="4818960"/>
            <a:ext cx="300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High performance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4" name="Text 23"/>
          <p:cNvSpPr/>
          <p:nvPr/>
        </p:nvSpPr>
        <p:spPr>
          <a:xfrm>
            <a:off x="758880" y="5403960"/>
            <a:ext cx="30020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34155"/>
                </a:solidFill>
                <a:latin typeface="Calibri"/>
                <a:ea typeface="Calibri"/>
              </a:rPr>
              <a:t>Row, array, and Arrow lanes — up to ~7.4x throughput, bit-for-bit identical.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5" name="Shape 24"/>
          <p:cNvSpPr/>
          <p:nvPr/>
        </p:nvSpPr>
        <p:spPr>
          <a:xfrm>
            <a:off x="4337280" y="4617720"/>
            <a:ext cx="3513960" cy="1462680"/>
          </a:xfrm>
          <a:prstGeom prst="roundRect">
            <a:avLst>
              <a:gd name="adj" fmla="val 2500"/>
            </a:avLst>
          </a:prstGeom>
          <a:solidFill>
            <a:srgbClr val="eaf1f8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6" name="Text 25"/>
          <p:cNvSpPr/>
          <p:nvPr/>
        </p:nvSpPr>
        <p:spPr>
          <a:xfrm>
            <a:off x="4593240" y="4818960"/>
            <a:ext cx="300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Frugal on infrastructure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7" name="Text 26"/>
          <p:cNvSpPr/>
          <p:nvPr/>
        </p:nvSpPr>
        <p:spPr>
          <a:xfrm>
            <a:off x="4593240" y="5403960"/>
            <a:ext cx="30020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34155"/>
                </a:solidFill>
                <a:latin typeface="Calibri"/>
                <a:ea typeface="Calibri"/>
              </a:rPr>
              <a:t>Do more per machine; scale only the hot shards, not the whole estate.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8" name="Shape 27"/>
          <p:cNvSpPr/>
          <p:nvPr/>
        </p:nvSpPr>
        <p:spPr>
          <a:xfrm>
            <a:off x="8171640" y="4617720"/>
            <a:ext cx="3513960" cy="1462680"/>
          </a:xfrm>
          <a:prstGeom prst="roundRect">
            <a:avLst>
              <a:gd name="adj" fmla="val 2500"/>
            </a:avLst>
          </a:prstGeom>
          <a:solidFill>
            <a:srgbClr val="eaf1f8"/>
          </a:solidFill>
          <a:ln w="12700">
            <a:solidFill>
              <a:srgbClr val="cbd5e1"/>
            </a:solidFill>
            <a:round/>
          </a:ln>
          <a:effectLst>
            <a:outerShdw algn="bl" blurRad="63360" dir="5400000" dist="25560" kx="0" ky="0" rotWithShape="0" sx="100000" sy="100000">
              <a:srgbClr val="b8c4d2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9" name="Text 28"/>
          <p:cNvSpPr/>
          <p:nvPr/>
        </p:nvSpPr>
        <p:spPr>
          <a:xfrm>
            <a:off x="8427600" y="4818960"/>
            <a:ext cx="300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5587"/>
                </a:solidFill>
                <a:latin typeface="Calibri"/>
                <a:ea typeface="Calibri"/>
              </a:rPr>
              <a:t>Gentle learning curve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0" name="Text 29"/>
          <p:cNvSpPr/>
          <p:nvPr/>
        </p:nvSpPr>
        <p:spPr>
          <a:xfrm>
            <a:off x="8427600" y="5403960"/>
            <a:ext cx="30020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34155"/>
                </a:solidFill>
                <a:latin typeface="Calibri"/>
                <a:ea typeface="Calibri"/>
              </a:rPr>
              <a:t>Design and operate visually in the browser — no build pipeline.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5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Shape 0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2" name="Shape 1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ed1d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3" name="Shape 2"/>
          <p:cNvSpPr/>
          <p:nvPr/>
        </p:nvSpPr>
        <p:spPr>
          <a:xfrm>
            <a:off x="8595360" y="1188720"/>
            <a:ext cx="145800" cy="145800"/>
          </a:xfrm>
          <a:prstGeom prst="ellipse">
            <a:avLst/>
          </a:prstGeom>
          <a:solidFill>
            <a:srgbClr val="0e62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4" name="Shape 3"/>
          <p:cNvSpPr/>
          <p:nvPr/>
        </p:nvSpPr>
        <p:spPr>
          <a:xfrm>
            <a:off x="8595360" y="2834640"/>
            <a:ext cx="145800" cy="145800"/>
          </a:xfrm>
          <a:prstGeom prst="ellipse">
            <a:avLst/>
          </a:prstGeom>
          <a:solidFill>
            <a:srgbClr val="0e62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5" name="Shape 4"/>
          <p:cNvSpPr/>
          <p:nvPr/>
        </p:nvSpPr>
        <p:spPr>
          <a:xfrm>
            <a:off x="8595360" y="4480560"/>
            <a:ext cx="145800" cy="145800"/>
          </a:xfrm>
          <a:prstGeom prst="ellipse">
            <a:avLst/>
          </a:prstGeom>
          <a:solidFill>
            <a:srgbClr val="0e62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6" name="Shape 5"/>
          <p:cNvSpPr/>
          <p:nvPr/>
        </p:nvSpPr>
        <p:spPr>
          <a:xfrm>
            <a:off x="9418320" y="2011680"/>
            <a:ext cx="145800" cy="145800"/>
          </a:xfrm>
          <a:prstGeom prst="ellipse">
            <a:avLst/>
          </a:prstGeom>
          <a:solidFill>
            <a:srgbClr val="0e62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7" name="Shape 6"/>
          <p:cNvSpPr/>
          <p:nvPr/>
        </p:nvSpPr>
        <p:spPr>
          <a:xfrm>
            <a:off x="9418320" y="3657600"/>
            <a:ext cx="145800" cy="145800"/>
          </a:xfrm>
          <a:prstGeom prst="ellipse">
            <a:avLst/>
          </a:prstGeom>
          <a:solidFill>
            <a:srgbClr val="0e62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8" name="Shape 7"/>
          <p:cNvSpPr/>
          <p:nvPr/>
        </p:nvSpPr>
        <p:spPr>
          <a:xfrm>
            <a:off x="10241280" y="1188720"/>
            <a:ext cx="145800" cy="145800"/>
          </a:xfrm>
          <a:prstGeom prst="ellipse">
            <a:avLst/>
          </a:prstGeom>
          <a:solidFill>
            <a:srgbClr val="0e62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9" name="Shape 8"/>
          <p:cNvSpPr/>
          <p:nvPr/>
        </p:nvSpPr>
        <p:spPr>
          <a:xfrm>
            <a:off x="10241280" y="2834640"/>
            <a:ext cx="145800" cy="145800"/>
          </a:xfrm>
          <a:prstGeom prst="ellipse">
            <a:avLst/>
          </a:prstGeom>
          <a:solidFill>
            <a:srgbClr val="0e62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0" name="Shape 9"/>
          <p:cNvSpPr/>
          <p:nvPr/>
        </p:nvSpPr>
        <p:spPr>
          <a:xfrm>
            <a:off x="10241280" y="4480560"/>
            <a:ext cx="145800" cy="145800"/>
          </a:xfrm>
          <a:prstGeom prst="ellipse">
            <a:avLst/>
          </a:prstGeom>
          <a:solidFill>
            <a:srgbClr val="0e62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1" name="Shape 10"/>
          <p:cNvSpPr/>
          <p:nvPr/>
        </p:nvSpPr>
        <p:spPr>
          <a:xfrm>
            <a:off x="11064240" y="2011680"/>
            <a:ext cx="145800" cy="145800"/>
          </a:xfrm>
          <a:prstGeom prst="ellipse">
            <a:avLst/>
          </a:prstGeom>
          <a:solidFill>
            <a:srgbClr val="0e62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2" name="Shape 11"/>
          <p:cNvSpPr/>
          <p:nvPr/>
        </p:nvSpPr>
        <p:spPr>
          <a:xfrm>
            <a:off x="11064240" y="3657600"/>
            <a:ext cx="145800" cy="145800"/>
          </a:xfrm>
          <a:prstGeom prst="ellipse">
            <a:avLst/>
          </a:prstGeom>
          <a:solidFill>
            <a:srgbClr val="0e62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3" name="Text 12"/>
          <p:cNvSpPr/>
          <p:nvPr/>
        </p:nvSpPr>
        <p:spPr>
          <a:xfrm>
            <a:off x="548640" y="54864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DishtaYantra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4" name="Text 13"/>
          <p:cNvSpPr/>
          <p:nvPr/>
        </p:nvSpPr>
        <p:spPr>
          <a:xfrm>
            <a:off x="548640" y="1737360"/>
            <a:ext cx="10515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Connect everything. Compute on change. Publish in real time.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5" name="Text 14"/>
          <p:cNvSpPr/>
          <p:nvPr/>
        </p:nvSpPr>
        <p:spPr>
          <a:xfrm>
            <a:off x="567000" y="306324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fe3f2"/>
                </a:solidFill>
                <a:latin typeface="Calibri"/>
                <a:ea typeface="Calibri"/>
              </a:rPr>
              <a:t>Single-process simplicity, loose-cluster scale — governed, real-time, and frugal.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6" name="Text 15"/>
          <p:cNvSpPr/>
          <p:nvPr/>
        </p:nvSpPr>
        <p:spPr>
          <a:xfrm>
            <a:off x="567000" y="3886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5fb0e0"/>
                </a:solidFill>
                <a:latin typeface="Calibri"/>
                <a:ea typeface="Calibri"/>
              </a:rPr>
              <a:t>On the roadmap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7" name="Text 16"/>
          <p:cNvSpPr/>
          <p:nvPr/>
        </p:nvSpPr>
        <p:spPr>
          <a:xfrm>
            <a:off x="640080" y="4297680"/>
            <a:ext cx="100580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dceaf5"/>
              </a:buClr>
              <a:buFont typeface="OpenSymbol"/>
              <a:buChar char="▪"/>
            </a:pPr>
            <a:r>
              <a:rPr b="0" lang="en-US" sz="1400" spc="-1" strike="noStrike">
                <a:solidFill>
                  <a:srgbClr val="dceaf5"/>
                </a:solidFill>
                <a:latin typeface="Calibri"/>
                <a:ea typeface="Calibri"/>
              </a:rPr>
              <a:t>API-driven designer palette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dceaf5"/>
              </a:buClr>
              <a:buFont typeface="OpenSymbol"/>
              <a:buChar char="▪"/>
            </a:pPr>
            <a:r>
              <a:rPr b="0" lang="en-US" sz="1400" spc="-1" strike="noStrike">
                <a:solidFill>
                  <a:srgbClr val="dceaf5"/>
                </a:solidFill>
                <a:latin typeface="Calibri"/>
                <a:ea typeface="Calibri"/>
              </a:rPr>
              <a:t>Broader connector catalog &amp; managed keys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dceaf5"/>
              </a:buClr>
              <a:buFont typeface="OpenSymbol"/>
              <a:buChar char="▪"/>
            </a:pPr>
            <a:r>
              <a:rPr b="0" lang="en-US" sz="1400" spc="-1" strike="noStrike">
                <a:solidFill>
                  <a:srgbClr val="dceaf5"/>
                </a:solidFill>
                <a:latin typeface="Calibri"/>
                <a:ea typeface="Calibri"/>
              </a:rPr>
              <a:t>Horizontal scale-out for the highest-volume workloads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8" name="Text 17"/>
          <p:cNvSpPr/>
          <p:nvPr/>
        </p:nvSpPr>
        <p:spPr>
          <a:xfrm>
            <a:off x="567000" y="61722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9fc2dc"/>
                </a:solidFill>
                <a:latin typeface="Calibri"/>
                <a:ea typeface="Calibri"/>
              </a:rPr>
              <a:t>Ashutosh Sinha   ·   ajsinha@gmail.com   ·   DishtaYantra v5.25.1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2026-06-22T17:44:20Z</dcterms:created>
  <dc:creator>Ashutosh Sinha</dc:creator>
  <dc:description/>
  <dc:language>en-US</dc:language>
  <cp:lastModifiedBy>Ashutosh Sinha</cp:lastModifiedBy>
  <dcterms:modified xsi:type="dcterms:W3CDTF">2026-06-22T17:44:20Z</dcterms:modified>
  <cp:revision>1</cp:revision>
  <dc:subject>PptxGenJS Presentation</dc:subject>
  <dc:title>DishtaYantra — Technical &amp; Executive Deck (65 slides)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76</vt:r8>
  </property>
  <property fmtid="{D5CDD505-2E9C-101B-9397-08002B2CF9AE}" pid="3" name="PresentationFormat">
    <vt:lpwstr>On-screen Show (16:9)</vt:lpwstr>
  </property>
  <property fmtid="{D5CDD505-2E9C-101B-9397-08002B2CF9AE}" pid="4" name="Slides">
    <vt:r8>76</vt:r8>
  </property>
</Properties>
</file>