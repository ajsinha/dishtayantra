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3.png" ContentType="image/png"/>
  <Override PartName="/ppt/media/image4.png" ContentType="image/png"/>
  <Override PartName="/ppt/media/image9.png" ContentType="image/png"/>
  <Override PartName="/ppt/media/image18.png" ContentType="image/png"/>
  <Override PartName="/ppt/media/image20.png" ContentType="image/png"/>
  <Override PartName="/ppt/media/image12.png" ContentType="image/png"/>
  <Override PartName="/ppt/media/image3.png" ContentType="image/png"/>
  <Override PartName="/ppt/media/image8.png" ContentType="image/png"/>
  <Override PartName="/ppt/media/image17.png" ContentType="image/png"/>
  <Override PartName="/ppt/media/image23.png" ContentType="image/png"/>
  <Override PartName="/ppt/media/image22.png" ContentType="image/png"/>
  <Override PartName="/ppt/media/image21.png" ContentType="image/png"/>
  <Override PartName="/ppt/media/image19.png" ContentType="image/png"/>
  <Override PartName="/ppt/media/image11.png" ContentType="image/png"/>
  <Override PartName="/ppt/media/image2.png" ContentType="image/png"/>
  <Override PartName="/ppt/media/image5.png" ContentType="image/png"/>
  <Override PartName="/ppt/media/image14.png" ContentType="image/png"/>
  <Override PartName="/ppt/media/image6.png" ContentType="image/png"/>
  <Override PartName="/ppt/media/image15.png" ContentType="image/png"/>
  <Override PartName="/ppt/media/image10.png" ContentType="image/png"/>
  <Override PartName="/ppt/media/image1.png" ContentType="image/png"/>
  <Override PartName="/ppt/media/image7.png" ContentType="image/png"/>
  <Override PartName="/ppt/media/image16.png" ContentType="image/png"/>
  <Override PartName="/ppt/slides/_rels/slide5.xml.rels" ContentType="application/vnd.openxmlformats-package.relationships+xml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2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22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2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21.xml" ContentType="application/vnd.openxmlformats-officedocument.presentationml.slide+xml"/>
  <Override PartName="/ppt/charts/chart1.xml" ContentType="application/vnd.openxmlformats-officedocument.drawingml.chart+xml"/>
  <Override PartName="/ppt/notesSlides/_rels/notesSlide4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8.xml.rels" ContentType="application/vnd.openxmlformats-package.relationships+xml"/>
  <Override PartName="/ppt/notesSlides/_rels/notesSlide2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5.xml.rels" ContentType="application/vnd.openxmlformats-package.relationships+xml"/>
  <Override PartName="/ppt/notesSlides/_rels/notesSlide20.xml.rels" ContentType="application/vnd.openxmlformats-package.relationships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presProps" Target="presProps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title>
      <c:tx>
        <c:rich>
          <a:bodyPr rot="0"/>
          <a:lstStyle/>
          <a:p>
            <a:pPr>
              <a:defRPr b="0" sz="1200" spc="-1" strike="noStrike">
                <a:solidFill>
                  <a:srgbClr val="12233f"/>
                </a:solidFill>
                <a:latin typeface="Calibri"/>
              </a:defRPr>
            </a:pPr>
            <a:r>
              <a:rPr b="0" sz="1200" spc="-1" strike="noStrike">
                <a:solidFill>
                  <a:srgbClr val="12233f"/>
                </a:solidFill>
                <a:latin typeface="Calibri"/>
              </a:rPr>
              <a:t>Calc-chain throughput (k records/sec, 50k heterogeneous trades)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Throughput</c:v>
                </c:pt>
              </c:strCache>
            </c:strRef>
          </c:tx>
          <c:spPr>
            <a:solidFill>
              <a:srgbClr val="9cc9c3"/>
            </a:solidFill>
            <a:ln w="0">
              <a:noFill/>
            </a:ln>
          </c:spPr>
          <c:invertIfNegative val="0"/>
          <c:dPt>
            <c:idx val="0"/>
            <c:invertIfNegative val="0"/>
            <c:spPr>
              <a:solidFill>
                <a:srgbClr val="9cc9c3"/>
              </a:solidFill>
              <a:ln w="0">
                <a:noFill/>
              </a:ln>
            </c:spPr>
          </c:dPt>
          <c:dPt>
            <c:idx val="1"/>
            <c:invertIfNegative val="0"/>
            <c:spPr>
              <a:solidFill>
                <a:srgbClr val="3fb9ac"/>
              </a:solidFill>
              <a:ln w="0">
                <a:noFill/>
              </a:ln>
            </c:spPr>
          </c:dPt>
          <c:dPt>
            <c:idx val="2"/>
            <c:invertIfNegative val="0"/>
            <c:spPr>
              <a:solidFill>
                <a:srgbClr val="00a896"/>
              </a:solidFill>
              <a:ln w="0">
                <a:noFill/>
              </a:ln>
            </c:spPr>
          </c:dPt>
          <c:dLbls>
            <c:numFmt formatCode="#,##0.0\k" sourceLinked="0"/>
            <c:dLbl>
              <c:idx val="0"/>
              <c:numFmt formatCode="#,##0.0\k" sourceLinked="0"/>
              <c:txPr>
                <a:bodyPr wrap="square"/>
                <a:lstStyle/>
                <a:p>
                  <a:pPr>
                    <a:defRPr b="0" sz="1200" spc="-1" strike="noStrike">
                      <a:solidFill>
                        <a:srgbClr val="12233f"/>
                      </a:solidFill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1"/>
              <c:numFmt formatCode="#,##0.0\k" sourceLinked="0"/>
              <c:txPr>
                <a:bodyPr wrap="square"/>
                <a:lstStyle/>
                <a:p>
                  <a:pPr>
                    <a:defRPr b="0" sz="1200" spc="-1" strike="noStrike">
                      <a:solidFill>
                        <a:srgbClr val="12233f"/>
                      </a:solidFill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2"/>
              <c:numFmt formatCode="#,##0.0\k" sourceLinked="0"/>
              <c:txPr>
                <a:bodyPr wrap="square"/>
                <a:lstStyle/>
                <a:p>
                  <a:pPr>
                    <a:defRPr b="0" sz="1200" spc="-1" strike="noStrike">
                      <a:solidFill>
                        <a:srgbClr val="12233f"/>
                      </a:solidFill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txPr>
              <a:bodyPr wrap="square"/>
              <a:lstStyle/>
              <a:p>
                <a:pPr>
                  <a:defRPr b="0" sz="1200" spc="-1" strike="noStrike">
                    <a:solidFill>
                      <a:srgbClr val="12233f"/>
                    </a:solidFill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3"/>
                <c:pt idx="0">
                  <c:v>Row</c:v>
                </c:pt>
                <c:pt idx="1">
                  <c:v>Array</c:v>
                </c:pt>
                <c:pt idx="2">
                  <c:v>Arrow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3"/>
                <c:pt idx="0">
                  <c:v>7.4</c:v>
                </c:pt>
                <c:pt idx="1">
                  <c:v>17</c:v>
                </c:pt>
                <c:pt idx="2">
                  <c:v>55</c:v>
                </c:pt>
              </c:numCache>
            </c:numRef>
          </c:val>
        </c:ser>
        <c:gapWidth val="150"/>
        <c:overlap val="0"/>
        <c:axId val="93583045"/>
        <c:axId val="45864453"/>
      </c:barChart>
      <c:catAx>
        <c:axId val="93583045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200" spc="-1" strike="noStrike">
                <a:solidFill>
                  <a:srgbClr val="5c6b7a"/>
                </a:solidFill>
                <a:latin typeface="Calibri"/>
              </a:defRPr>
            </a:pPr>
          </a:p>
        </c:txPr>
        <c:crossAx val="45864453"/>
        <c:crosses val="autoZero"/>
        <c:auto val="1"/>
        <c:lblAlgn val="ctr"/>
        <c:lblOffset val="100"/>
        <c:noMultiLvlLbl val="0"/>
      </c:catAx>
      <c:valAx>
        <c:axId val="45864453"/>
        <c:scaling>
          <c:orientation val="minMax"/>
        </c:scaling>
        <c:delete val="0"/>
        <c:axPos val="l"/>
        <c:majorGridlines>
          <c:spPr>
            <a:ln w="6480">
              <a:solidFill>
                <a:srgbClr val="e8eef5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000" spc="-1" strike="noStrike">
                <a:solidFill>
                  <a:srgbClr val="5c6b7a"/>
                </a:solidFill>
                <a:latin typeface="Calibri"/>
              </a:defRPr>
            </a:pPr>
          </a:p>
        </c:txPr>
        <c:crossAx val="93583045"/>
        <c:crosses val="autoZero"/>
        <c:crossBetween val="between"/>
      </c:valAx>
      <c:spPr>
        <a:noFill/>
        <a:ln w="0">
          <a:noFill/>
        </a:ln>
      </c:spPr>
    </c:plotArea>
    <c:plotVisOnly val="1"/>
    <c:dispBlanksAs val="span"/>
  </c:chart>
  <c:spPr>
    <a:solidFill>
      <a:srgbClr val="ffffff"/>
    </a:solidFill>
    <a:ln w="0">
      <a:noFill/>
    </a:ln>
  </c:spPr>
</c:chartSpac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CA3734A2-964F-40A8-9370-83B4CE7C22D0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DishtaYantra turns fragmented real-time data into governed, low-latency pipelines built and operated visually. This overview covers the problem, the platform, architecture, connectors and compute, performance, security, use cases, and value.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0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06B891C-489F-43F1-B539-FF64C589B7D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3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323B49B-6C97-4EFB-8F56-E8E75C9D81D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6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22FAE0F-3525-4621-8CF9-4F291487C02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9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31E0489-A5AC-45A3-AB46-02B322CB5B0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2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5795D42-780F-4EED-A792-2C7A6738554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5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C50681C-C024-4CCA-83A2-9C8FA34FDFB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8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799CC60-849A-4EEA-9856-4581ADE7E5C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1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C2E96BE-83E4-4C4C-A63A-417E5A1352F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4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8946448-47B9-47EA-9E22-A5797B37FE4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7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288188C-9456-42FA-B457-F623EA4E84F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0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6E212C8-9092-42FF-AAA8-FDD1CC3B600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3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F3DA13C-2BC1-4FDF-8E26-DE5D7E084FB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6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6AB854C-B663-45A8-8204-694E53A11B3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9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0E03CEE-C8A4-4169-A79E-DA7E45B0D59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2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4896886-9E62-47E3-9055-46AC2D800EC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Close on the vision and invite a pilot conversation around a concrete use case, integration targets, and success metrics.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5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C824C03-0EFA-417C-BB8D-2E4EEB1BE21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8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F6A6CA0-CF8B-4B84-ADEC-E3AA2F885F8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1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1D21592-AA18-4859-94BA-5201A213268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4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59EE381-F5BC-4774-A1EF-3F4B6C401E4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7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F254B31-7BB6-4206-9660-1BA7D12D378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0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5FE22A9-AD8E-44CC-B106-D00D7729F77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3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D2E8AC7-4B0F-431F-9643-2C6C1986474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5.png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18.png"/><Relationship Id="rId3" Type="http://schemas.openxmlformats.org/officeDocument/2006/relationships/image" Target="../media/image8.png"/><Relationship Id="rId4" Type="http://schemas.openxmlformats.org/officeDocument/2006/relationships/image" Target="../media/image19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10.png"/><Relationship Id="rId3" Type="http://schemas.openxmlformats.org/officeDocument/2006/relationships/image" Target="../media/image2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19.png"/><Relationship Id="rId3" Type="http://schemas.openxmlformats.org/officeDocument/2006/relationships/image" Target="../media/image5.png"/><Relationship Id="rId4" Type="http://schemas.openxmlformats.org/officeDocument/2006/relationships/image" Target="../media/image17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5.png"/><Relationship Id="rId3" Type="http://schemas.openxmlformats.org/officeDocument/2006/relationships/image" Target="../media/image19.png"/><Relationship Id="rId4" Type="http://schemas.openxmlformats.org/officeDocument/2006/relationships/image" Target="../media/image4.png"/><Relationship Id="rId5" Type="http://schemas.openxmlformats.org/officeDocument/2006/relationships/image" Target="../media/image10.png"/><Relationship Id="rId6" Type="http://schemas.openxmlformats.org/officeDocument/2006/relationships/image" Target="../media/image17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2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9116280" y="1663920"/>
            <a:ext cx="1188720" cy="1005840"/>
          </a:xfrm>
          <a:prstGeom prst="line">
            <a:avLst/>
          </a:prstGeom>
          <a:ln w="25400">
            <a:solidFill>
              <a:srgbClr val="31507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 flipV="1">
            <a:off x="9116280" y="2669760"/>
            <a:ext cx="1188720" cy="1005840"/>
          </a:xfrm>
          <a:prstGeom prst="line">
            <a:avLst/>
          </a:prstGeom>
          <a:ln w="25400">
            <a:solidFill>
              <a:srgbClr val="31507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 flipV="1">
            <a:off x="10305000" y="1846800"/>
            <a:ext cx="1188720" cy="822960"/>
          </a:xfrm>
          <a:prstGeom prst="line">
            <a:avLst/>
          </a:prstGeom>
          <a:ln w="25400">
            <a:solidFill>
              <a:srgbClr val="31507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Shape 3"/>
          <p:cNvSpPr/>
          <p:nvPr/>
        </p:nvSpPr>
        <p:spPr>
          <a:xfrm>
            <a:off x="10305000" y="2669760"/>
            <a:ext cx="1188720" cy="914400"/>
          </a:xfrm>
          <a:prstGeom prst="line">
            <a:avLst/>
          </a:prstGeom>
          <a:ln w="25400">
            <a:solidFill>
              <a:srgbClr val="31507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Shape 4"/>
          <p:cNvSpPr/>
          <p:nvPr/>
        </p:nvSpPr>
        <p:spPr>
          <a:xfrm>
            <a:off x="8869680" y="1417320"/>
            <a:ext cx="493560" cy="493560"/>
          </a:xfrm>
          <a:prstGeom prst="ellipse">
            <a:avLst/>
          </a:prstGeom>
          <a:solidFill>
            <a:srgbClr val="234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Shape 5"/>
          <p:cNvSpPr/>
          <p:nvPr/>
        </p:nvSpPr>
        <p:spPr>
          <a:xfrm>
            <a:off x="8869680" y="3429000"/>
            <a:ext cx="493560" cy="493560"/>
          </a:xfrm>
          <a:prstGeom prst="ellipse">
            <a:avLst/>
          </a:prstGeom>
          <a:solidFill>
            <a:srgbClr val="234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Shape 6"/>
          <p:cNvSpPr/>
          <p:nvPr/>
        </p:nvSpPr>
        <p:spPr>
          <a:xfrm>
            <a:off x="10058400" y="2423160"/>
            <a:ext cx="493560" cy="493560"/>
          </a:xfrm>
          <a:prstGeom prst="ellipse">
            <a:avLst/>
          </a:prstGeom>
          <a:solidFill>
            <a:srgbClr val="00a89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Shape 7"/>
          <p:cNvSpPr/>
          <p:nvPr/>
        </p:nvSpPr>
        <p:spPr>
          <a:xfrm>
            <a:off x="11247120" y="1600200"/>
            <a:ext cx="493560" cy="493560"/>
          </a:xfrm>
          <a:prstGeom prst="ellipse">
            <a:avLst/>
          </a:prstGeom>
          <a:solidFill>
            <a:srgbClr val="234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Shape 8"/>
          <p:cNvSpPr/>
          <p:nvPr/>
        </p:nvSpPr>
        <p:spPr>
          <a:xfrm>
            <a:off x="11247120" y="3337560"/>
            <a:ext cx="493560" cy="493560"/>
          </a:xfrm>
          <a:prstGeom prst="ellipse">
            <a:avLst/>
          </a:prstGeom>
          <a:solidFill>
            <a:srgbClr val="234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Text 9"/>
          <p:cNvSpPr/>
          <p:nvPr/>
        </p:nvSpPr>
        <p:spPr>
          <a:xfrm>
            <a:off x="731520" y="100584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497" strike="noStrike">
                <a:solidFill>
                  <a:srgbClr val="00a896"/>
                </a:solidFill>
                <a:latin typeface="Calibri"/>
                <a:ea typeface="Calibri"/>
              </a:rPr>
              <a:t>EXECUTIVE OVERVIEW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Text 10"/>
          <p:cNvSpPr/>
          <p:nvPr/>
        </p:nvSpPr>
        <p:spPr>
          <a:xfrm>
            <a:off x="685800" y="1783080"/>
            <a:ext cx="82292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800" spc="-1" strike="noStrike">
                <a:solidFill>
                  <a:srgbClr val="ffffff"/>
                </a:solidFill>
                <a:latin typeface="Cambria"/>
                <a:ea typeface="Cambria"/>
              </a:rPr>
              <a:t>DishtaYantra</a:t>
            </a:r>
            <a:endParaRPr b="0" lang="en-US" sz="5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Text 11"/>
          <p:cNvSpPr/>
          <p:nvPr/>
        </p:nvSpPr>
        <p:spPr>
          <a:xfrm>
            <a:off x="731520" y="2926080"/>
            <a:ext cx="76806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100" spc="-1" strike="noStrike">
                <a:solidFill>
                  <a:srgbClr val="cadcfc"/>
                </a:solidFill>
                <a:latin typeface="Calibri"/>
                <a:ea typeface="Calibri"/>
              </a:rPr>
              <a:t>A reactive compute platform for real-time data pipelines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Text 12"/>
          <p:cNvSpPr/>
          <p:nvPr/>
        </p:nvSpPr>
        <p:spPr>
          <a:xfrm>
            <a:off x="731520" y="3794760"/>
            <a:ext cx="7314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Connect </a:t>
            </a:r>
            <a:r>
              <a:rPr b="1" lang="en-US" sz="1800" spc="-1" strike="noStrike">
                <a:solidFill>
                  <a:srgbClr val="00a896"/>
                </a:solidFill>
                <a:latin typeface="Calibri"/>
                <a:ea typeface="Calibri"/>
              </a:rPr>
              <a:t>→  </a:t>
            </a: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Compute </a:t>
            </a:r>
            <a:r>
              <a:rPr b="1" lang="en-US" sz="1800" spc="-1" strike="noStrike">
                <a:solidFill>
                  <a:srgbClr val="00a896"/>
                </a:solidFill>
                <a:latin typeface="Calibri"/>
                <a:ea typeface="Calibri"/>
              </a:rPr>
              <a:t>→  </a:t>
            </a: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Publish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Shape 13"/>
          <p:cNvSpPr/>
          <p:nvPr/>
        </p:nvSpPr>
        <p:spPr>
          <a:xfrm>
            <a:off x="731520" y="4709160"/>
            <a:ext cx="2514240" cy="1051200"/>
          </a:xfrm>
          <a:prstGeom prst="roundRect">
            <a:avLst>
              <a:gd name="adj" fmla="val 5217"/>
            </a:avLst>
          </a:prstGeom>
          <a:solidFill>
            <a:srgbClr val="1c335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Text 14"/>
          <p:cNvSpPr/>
          <p:nvPr/>
        </p:nvSpPr>
        <p:spPr>
          <a:xfrm>
            <a:off x="914400" y="4827960"/>
            <a:ext cx="21942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00a896"/>
                </a:solidFill>
                <a:latin typeface="Cambria"/>
                <a:ea typeface="Cambria"/>
              </a:rPr>
              <a:t>30+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Text 15"/>
          <p:cNvSpPr/>
          <p:nvPr/>
        </p:nvSpPr>
        <p:spPr>
          <a:xfrm>
            <a:off x="914400" y="5321880"/>
            <a:ext cx="2194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c7d6e8"/>
                </a:solidFill>
                <a:latin typeface="Calibri"/>
                <a:ea typeface="Calibri"/>
              </a:rPr>
              <a:t>source &amp; sink connectors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Shape 16"/>
          <p:cNvSpPr/>
          <p:nvPr/>
        </p:nvSpPr>
        <p:spPr>
          <a:xfrm>
            <a:off x="3474720" y="4709160"/>
            <a:ext cx="2514240" cy="1051200"/>
          </a:xfrm>
          <a:prstGeom prst="roundRect">
            <a:avLst>
              <a:gd name="adj" fmla="val 5217"/>
            </a:avLst>
          </a:prstGeom>
          <a:solidFill>
            <a:srgbClr val="1c335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Text 17"/>
          <p:cNvSpPr/>
          <p:nvPr/>
        </p:nvSpPr>
        <p:spPr>
          <a:xfrm>
            <a:off x="3657600" y="4827960"/>
            <a:ext cx="21942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00a896"/>
                </a:solidFill>
                <a:latin typeface="Cambria"/>
                <a:ea typeface="Cambria"/>
              </a:rPr>
              <a:t>6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Text 18"/>
          <p:cNvSpPr/>
          <p:nvPr/>
        </p:nvSpPr>
        <p:spPr>
          <a:xfrm>
            <a:off x="3657600" y="5321880"/>
            <a:ext cx="2194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c7d6e8"/>
                </a:solidFill>
                <a:latin typeface="Calibri"/>
                <a:ea typeface="Calibri"/>
              </a:rPr>
              <a:t>calculator languages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Shape 19"/>
          <p:cNvSpPr/>
          <p:nvPr/>
        </p:nvSpPr>
        <p:spPr>
          <a:xfrm>
            <a:off x="6217920" y="4709160"/>
            <a:ext cx="2514240" cy="1051200"/>
          </a:xfrm>
          <a:prstGeom prst="roundRect">
            <a:avLst>
              <a:gd name="adj" fmla="val 5217"/>
            </a:avLst>
          </a:prstGeom>
          <a:solidFill>
            <a:srgbClr val="1c335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Text 20"/>
          <p:cNvSpPr/>
          <p:nvPr/>
        </p:nvSpPr>
        <p:spPr>
          <a:xfrm>
            <a:off x="6400800" y="4827960"/>
            <a:ext cx="21942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00a896"/>
                </a:solidFill>
                <a:latin typeface="Cambria"/>
                <a:ea typeface="Cambria"/>
              </a:rPr>
              <a:t>7.4×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Text 21"/>
          <p:cNvSpPr/>
          <p:nvPr/>
        </p:nvSpPr>
        <p:spPr>
          <a:xfrm>
            <a:off x="6400800" y="5321880"/>
            <a:ext cx="2194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c7d6e8"/>
                </a:solidFill>
                <a:latin typeface="Calibri"/>
                <a:ea typeface="Calibri"/>
              </a:rPr>
              <a:t>Arrow lane speedup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Text 22"/>
          <p:cNvSpPr/>
          <p:nvPr/>
        </p:nvSpPr>
        <p:spPr>
          <a:xfrm>
            <a:off x="731520" y="612648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8fa6c2"/>
                </a:solidFill>
                <a:latin typeface="Calibri"/>
                <a:ea typeface="Calibri"/>
              </a:rPr>
              <a:t>Ashutosh Sinha  ·  ajsinha@gmail.com  ·  v5.25.1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0"/>
          <p:cNvSpPr/>
          <p:nvPr/>
        </p:nvSpPr>
        <p:spPr>
          <a:xfrm>
            <a:off x="640080" y="438840"/>
            <a:ext cx="9600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900" spc="-1" strike="noStrike">
                <a:solidFill>
                  <a:srgbClr val="12233f"/>
                </a:solidFill>
                <a:latin typeface="Cambria"/>
                <a:ea typeface="Cambria"/>
              </a:rPr>
              <a:t>Executive summary</a:t>
            </a:r>
            <a:endParaRPr b="0" lang="en-US" sz="2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Text 1"/>
          <p:cNvSpPr/>
          <p:nvPr/>
        </p:nvSpPr>
        <p:spPr>
          <a:xfrm>
            <a:off x="10698480" y="438840"/>
            <a:ext cx="8683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00a896"/>
                </a:solidFill>
                <a:latin typeface="Cambria"/>
                <a:ea typeface="Cambria"/>
              </a:rPr>
              <a:t>01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Text 2"/>
          <p:cNvSpPr/>
          <p:nvPr/>
        </p:nvSpPr>
        <p:spPr>
          <a:xfrm>
            <a:off x="640080" y="1371600"/>
            <a:ext cx="109083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1b2a3a"/>
                </a:solidFill>
                <a:latin typeface="Calibri"/>
                <a:ea typeface="Calibri"/>
              </a:rPr>
              <a:t>DishtaYantra is a single-node, in-process reactive compute platform: it runs computation graphs over live data — subscribe, compute, publish — defined visually in the browser, governed end to end.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Shape 3"/>
          <p:cNvSpPr/>
          <p:nvPr/>
        </p:nvSpPr>
        <p:spPr>
          <a:xfrm>
            <a:off x="640080" y="2377440"/>
            <a:ext cx="2521080" cy="1371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be3ee"/>
            </a:solidFill>
            <a:round/>
          </a:ln>
          <a:effectLst>
            <a:outerShdw algn="bl" blurRad="88920" dir="5400000" dist="38160" kx="0" ky="0" rotWithShape="0" sx="100000" sy="100000">
              <a:srgbClr val="9db0c4">
                <a:alpha val="2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Text 4"/>
          <p:cNvSpPr/>
          <p:nvPr/>
        </p:nvSpPr>
        <p:spPr>
          <a:xfrm>
            <a:off x="777240" y="2541960"/>
            <a:ext cx="22467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00a896"/>
                </a:solidFill>
                <a:latin typeface="Cambria"/>
                <a:ea typeface="Cambria"/>
              </a:rPr>
              <a:t>Single node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Text 5"/>
          <p:cNvSpPr/>
          <p:nvPr/>
        </p:nvSpPr>
        <p:spPr>
          <a:xfrm>
            <a:off x="777240" y="3108960"/>
            <a:ext cx="22467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c6b7a"/>
                </a:solidFill>
                <a:latin typeface="Calibri"/>
                <a:ea typeface="Calibri"/>
              </a:rPr>
              <a:t>in-process engine — fewer moving parts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Shape 6"/>
          <p:cNvSpPr/>
          <p:nvPr/>
        </p:nvSpPr>
        <p:spPr>
          <a:xfrm>
            <a:off x="3435840" y="2377440"/>
            <a:ext cx="2521080" cy="1371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be3ee"/>
            </a:solidFill>
            <a:round/>
          </a:ln>
          <a:effectLst>
            <a:outerShdw algn="bl" blurRad="88920" dir="5400000" dist="38160" kx="0" ky="0" rotWithShape="0" sx="100000" sy="100000">
              <a:srgbClr val="9db0c4">
                <a:alpha val="2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Text 7"/>
          <p:cNvSpPr/>
          <p:nvPr/>
        </p:nvSpPr>
        <p:spPr>
          <a:xfrm>
            <a:off x="3573000" y="2541960"/>
            <a:ext cx="22467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00a896"/>
                </a:solidFill>
                <a:latin typeface="Cambria"/>
                <a:ea typeface="Cambria"/>
              </a:rPr>
              <a:t>30+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Text 8"/>
          <p:cNvSpPr/>
          <p:nvPr/>
        </p:nvSpPr>
        <p:spPr>
          <a:xfrm>
            <a:off x="3573000" y="3108960"/>
            <a:ext cx="22467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c6b7a"/>
                </a:solidFill>
                <a:latin typeface="Calibri"/>
                <a:ea typeface="Calibri"/>
              </a:rPr>
              <a:t>connector types across 8 families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Shape 9"/>
          <p:cNvSpPr/>
          <p:nvPr/>
        </p:nvSpPr>
        <p:spPr>
          <a:xfrm>
            <a:off x="6231600" y="2377440"/>
            <a:ext cx="2521080" cy="1371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be3ee"/>
            </a:solidFill>
            <a:round/>
          </a:ln>
          <a:effectLst>
            <a:outerShdw algn="bl" blurRad="88920" dir="5400000" dist="38160" kx="0" ky="0" rotWithShape="0" sx="100000" sy="100000">
              <a:srgbClr val="9db0c4">
                <a:alpha val="2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Text 10"/>
          <p:cNvSpPr/>
          <p:nvPr/>
        </p:nvSpPr>
        <p:spPr>
          <a:xfrm>
            <a:off x="6368760" y="2541960"/>
            <a:ext cx="22467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00a896"/>
                </a:solidFill>
                <a:latin typeface="Cambria"/>
                <a:ea typeface="Cambria"/>
              </a:rPr>
              <a:t>6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Text 11"/>
          <p:cNvSpPr/>
          <p:nvPr/>
        </p:nvSpPr>
        <p:spPr>
          <a:xfrm>
            <a:off x="6368760" y="3108960"/>
            <a:ext cx="22467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c6b7a"/>
                </a:solidFill>
                <a:latin typeface="Calibri"/>
                <a:ea typeface="Calibri"/>
              </a:rPr>
              <a:t>languages for compute calculators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Shape 12"/>
          <p:cNvSpPr/>
          <p:nvPr/>
        </p:nvSpPr>
        <p:spPr>
          <a:xfrm>
            <a:off x="9027360" y="2377440"/>
            <a:ext cx="2521080" cy="1371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be3ee"/>
            </a:solidFill>
            <a:round/>
          </a:ln>
          <a:effectLst>
            <a:outerShdw algn="bl" blurRad="88920" dir="5400000" dist="38160" kx="0" ky="0" rotWithShape="0" sx="100000" sy="100000">
              <a:srgbClr val="9db0c4">
                <a:alpha val="2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Text 13"/>
          <p:cNvSpPr/>
          <p:nvPr/>
        </p:nvSpPr>
        <p:spPr>
          <a:xfrm>
            <a:off x="9164520" y="2541960"/>
            <a:ext cx="22467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00a896"/>
                </a:solidFill>
                <a:latin typeface="Cambria"/>
                <a:ea typeface="Cambria"/>
              </a:rPr>
              <a:t>247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Text 14"/>
          <p:cNvSpPr/>
          <p:nvPr/>
        </p:nvSpPr>
        <p:spPr>
          <a:xfrm>
            <a:off x="9164520" y="3108960"/>
            <a:ext cx="22467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c6b7a"/>
                </a:solidFill>
                <a:latin typeface="Calibri"/>
                <a:ea typeface="Calibri"/>
              </a:rPr>
              <a:t>automated tests guarding releases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Shape 15"/>
          <p:cNvSpPr/>
          <p:nvPr/>
        </p:nvSpPr>
        <p:spPr>
          <a:xfrm>
            <a:off x="640080" y="4023360"/>
            <a:ext cx="3453120" cy="1234080"/>
          </a:xfrm>
          <a:prstGeom prst="roundRect">
            <a:avLst>
              <a:gd name="adj" fmla="val 3704"/>
            </a:avLst>
          </a:prstGeom>
          <a:solidFill>
            <a:srgbClr val="eaf1f8"/>
          </a:solidFill>
          <a:ln w="12700">
            <a:solidFill>
              <a:srgbClr val="dbe3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Text 16"/>
          <p:cNvSpPr/>
          <p:nvPr/>
        </p:nvSpPr>
        <p:spPr>
          <a:xfrm>
            <a:off x="868680" y="4160520"/>
            <a:ext cx="2995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2233f"/>
                </a:solidFill>
                <a:latin typeface="Cambria"/>
                <a:ea typeface="Cambria"/>
              </a:rPr>
              <a:t>Faster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Text 17"/>
          <p:cNvSpPr/>
          <p:nvPr/>
        </p:nvSpPr>
        <p:spPr>
          <a:xfrm>
            <a:off x="868680" y="4572000"/>
            <a:ext cx="29959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b2a3a"/>
                </a:solidFill>
                <a:latin typeface="Calibri"/>
                <a:ea typeface="Calibri"/>
              </a:rPr>
              <a:t>Real-time pipelines replace overnight batch — decisions on current data.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Shape 18"/>
          <p:cNvSpPr/>
          <p:nvPr/>
        </p:nvSpPr>
        <p:spPr>
          <a:xfrm>
            <a:off x="4367880" y="4023360"/>
            <a:ext cx="3453120" cy="1234080"/>
          </a:xfrm>
          <a:prstGeom prst="roundRect">
            <a:avLst>
              <a:gd name="adj" fmla="val 3704"/>
            </a:avLst>
          </a:prstGeom>
          <a:solidFill>
            <a:srgbClr val="eaf1f8"/>
          </a:solidFill>
          <a:ln w="12700">
            <a:solidFill>
              <a:srgbClr val="dbe3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Text 19"/>
          <p:cNvSpPr/>
          <p:nvPr/>
        </p:nvSpPr>
        <p:spPr>
          <a:xfrm>
            <a:off x="4596480" y="4160520"/>
            <a:ext cx="2995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2233f"/>
                </a:solidFill>
                <a:latin typeface="Cambria"/>
                <a:ea typeface="Cambria"/>
              </a:rPr>
              <a:t>Cheaper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Text 20"/>
          <p:cNvSpPr/>
          <p:nvPr/>
        </p:nvSpPr>
        <p:spPr>
          <a:xfrm>
            <a:off x="4596480" y="4572000"/>
            <a:ext cx="29959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b2a3a"/>
                </a:solidFill>
                <a:latin typeface="Calibri"/>
                <a:ea typeface="Calibri"/>
              </a:rPr>
              <a:t>An efficient single-node engine does more per machine, lowering cost to run.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Shape 21"/>
          <p:cNvSpPr/>
          <p:nvPr/>
        </p:nvSpPr>
        <p:spPr>
          <a:xfrm>
            <a:off x="8095320" y="4023360"/>
            <a:ext cx="3453120" cy="1234080"/>
          </a:xfrm>
          <a:prstGeom prst="roundRect">
            <a:avLst>
              <a:gd name="adj" fmla="val 3704"/>
            </a:avLst>
          </a:prstGeom>
          <a:solidFill>
            <a:srgbClr val="eaf1f8"/>
          </a:solidFill>
          <a:ln w="12700">
            <a:solidFill>
              <a:srgbClr val="dbe3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Text 22"/>
          <p:cNvSpPr/>
          <p:nvPr/>
        </p:nvSpPr>
        <p:spPr>
          <a:xfrm>
            <a:off x="8323920" y="4160520"/>
            <a:ext cx="2995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2233f"/>
                </a:solidFill>
                <a:latin typeface="Cambria"/>
                <a:ea typeface="Cambria"/>
              </a:rPr>
              <a:t>Governed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Text 23"/>
          <p:cNvSpPr/>
          <p:nvPr/>
        </p:nvSpPr>
        <p:spPr>
          <a:xfrm>
            <a:off x="8323920" y="4572000"/>
            <a:ext cx="29959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b2a3a"/>
                </a:solidFill>
                <a:latin typeface="Calibri"/>
                <a:ea typeface="Calibri"/>
              </a:rPr>
              <a:t>Access control, API keys, and an audit trail are built in, not bolted on.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 0"/>
          <p:cNvSpPr/>
          <p:nvPr/>
        </p:nvSpPr>
        <p:spPr>
          <a:xfrm>
            <a:off x="640080" y="438840"/>
            <a:ext cx="9600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900" spc="-1" strike="noStrike">
                <a:solidFill>
                  <a:srgbClr val="12233f"/>
                </a:solidFill>
                <a:latin typeface="Cambria"/>
                <a:ea typeface="Cambria"/>
              </a:rPr>
              <a:t>The challenge</a:t>
            </a:r>
            <a:endParaRPr b="0" lang="en-US" sz="2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Text 1"/>
          <p:cNvSpPr/>
          <p:nvPr/>
        </p:nvSpPr>
        <p:spPr>
          <a:xfrm>
            <a:off x="10698480" y="438840"/>
            <a:ext cx="8683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00a896"/>
                </a:solidFill>
                <a:latin typeface="Cambria"/>
                <a:ea typeface="Cambria"/>
              </a:rPr>
              <a:t>02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Text 2"/>
          <p:cNvSpPr/>
          <p:nvPr/>
        </p:nvSpPr>
        <p:spPr>
          <a:xfrm>
            <a:off x="640080" y="1325880"/>
            <a:ext cx="10908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5c6b7a"/>
                </a:solidFill>
                <a:latin typeface="Calibri"/>
                <a:ea typeface="Calibri"/>
              </a:rPr>
              <a:t>Real-time data is now a business requirement — but delivering it is hard.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Shape 3"/>
          <p:cNvSpPr/>
          <p:nvPr/>
        </p:nvSpPr>
        <p:spPr>
          <a:xfrm>
            <a:off x="640080" y="1874520"/>
            <a:ext cx="3391920" cy="3382920"/>
          </a:xfrm>
          <a:prstGeom prst="roundRect">
            <a:avLst>
              <a:gd name="adj" fmla="val 1622"/>
            </a:avLst>
          </a:prstGeom>
          <a:solidFill>
            <a:srgbClr val="ffffff"/>
          </a:solidFill>
          <a:ln w="12700">
            <a:solidFill>
              <a:srgbClr val="dbe3ee"/>
            </a:solidFill>
            <a:round/>
          </a:ln>
          <a:effectLst>
            <a:outerShdw algn="bl" blurRad="88920" dir="5400000" dist="38160" kx="0" ky="0" rotWithShape="0" sx="100000" sy="100000">
              <a:srgbClr val="9db0c4">
                <a:alpha val="2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Shape 4"/>
          <p:cNvSpPr/>
          <p:nvPr/>
        </p:nvSpPr>
        <p:spPr>
          <a:xfrm>
            <a:off x="1005840" y="2240280"/>
            <a:ext cx="822600" cy="822600"/>
          </a:xfrm>
          <a:prstGeom prst="ellipse">
            <a:avLst/>
          </a:prstGeom>
          <a:solidFill>
            <a:srgbClr val="00a89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0" name="Image 0" descr="preencoded.png"/>
          <p:cNvPicPr/>
          <p:nvPr/>
        </p:nvPicPr>
        <p:blipFill>
          <a:blip r:embed="rId1"/>
          <a:stretch/>
        </p:blipFill>
        <p:spPr>
          <a:xfrm>
            <a:off x="1244520" y="2478960"/>
            <a:ext cx="345240" cy="345240"/>
          </a:xfrm>
          <a:prstGeom prst="rect">
            <a:avLst/>
          </a:prstGeom>
          <a:ln w="0">
            <a:noFill/>
          </a:ln>
        </p:spPr>
      </p:pic>
      <p:sp>
        <p:nvSpPr>
          <p:cNvPr id="61" name="Text 5"/>
          <p:cNvSpPr/>
          <p:nvPr/>
        </p:nvSpPr>
        <p:spPr>
          <a:xfrm>
            <a:off x="1005840" y="3200400"/>
            <a:ext cx="2660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12233f"/>
                </a:solidFill>
                <a:latin typeface="Cambria"/>
                <a:ea typeface="Cambria"/>
              </a:rPr>
              <a:t>Fragmented systems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Text 6"/>
          <p:cNvSpPr/>
          <p:nvPr/>
        </p:nvSpPr>
        <p:spPr>
          <a:xfrm>
            <a:off x="1005840" y="3749040"/>
            <a:ext cx="270612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3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b2a3a"/>
                </a:solidFill>
                <a:latin typeface="Calibri"/>
                <a:ea typeface="Calibri"/>
              </a:rPr>
              <a:t>Data is scattered across brokers, databases, cloud services, and APIs. Wiring them together is slow and brittle, and every integration is bespoke.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Shape 7"/>
          <p:cNvSpPr/>
          <p:nvPr/>
        </p:nvSpPr>
        <p:spPr>
          <a:xfrm>
            <a:off x="4398120" y="1874520"/>
            <a:ext cx="3391920" cy="3382920"/>
          </a:xfrm>
          <a:prstGeom prst="roundRect">
            <a:avLst>
              <a:gd name="adj" fmla="val 1622"/>
            </a:avLst>
          </a:prstGeom>
          <a:solidFill>
            <a:srgbClr val="ffffff"/>
          </a:solidFill>
          <a:ln w="12700">
            <a:solidFill>
              <a:srgbClr val="dbe3ee"/>
            </a:solidFill>
            <a:round/>
          </a:ln>
          <a:effectLst>
            <a:outerShdw algn="bl" blurRad="88920" dir="5400000" dist="38160" kx="0" ky="0" rotWithShape="0" sx="100000" sy="100000">
              <a:srgbClr val="9db0c4">
                <a:alpha val="2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Shape 8"/>
          <p:cNvSpPr/>
          <p:nvPr/>
        </p:nvSpPr>
        <p:spPr>
          <a:xfrm>
            <a:off x="4763880" y="2240280"/>
            <a:ext cx="822600" cy="822600"/>
          </a:xfrm>
          <a:prstGeom prst="ellipse">
            <a:avLst/>
          </a:prstGeom>
          <a:solidFill>
            <a:srgbClr val="0078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5" name="Image 1" descr="preencoded.png"/>
          <p:cNvPicPr/>
          <p:nvPr/>
        </p:nvPicPr>
        <p:blipFill>
          <a:blip r:embed="rId2"/>
          <a:stretch/>
        </p:blipFill>
        <p:spPr>
          <a:xfrm>
            <a:off x="5002560" y="2478960"/>
            <a:ext cx="345240" cy="345240"/>
          </a:xfrm>
          <a:prstGeom prst="rect">
            <a:avLst/>
          </a:prstGeom>
          <a:ln w="0">
            <a:noFill/>
          </a:ln>
        </p:spPr>
      </p:pic>
      <p:sp>
        <p:nvSpPr>
          <p:cNvPr id="66" name="Text 9"/>
          <p:cNvSpPr/>
          <p:nvPr/>
        </p:nvSpPr>
        <p:spPr>
          <a:xfrm>
            <a:off x="4763880" y="3200400"/>
            <a:ext cx="2660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12233f"/>
                </a:solidFill>
                <a:latin typeface="Cambria"/>
                <a:ea typeface="Cambria"/>
              </a:rPr>
              <a:t>Batch can't keep up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Text 10"/>
          <p:cNvSpPr/>
          <p:nvPr/>
        </p:nvSpPr>
        <p:spPr>
          <a:xfrm>
            <a:off x="4763880" y="3749040"/>
            <a:ext cx="270612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3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b2a3a"/>
                </a:solidFill>
                <a:latin typeface="Calibri"/>
                <a:ea typeface="Calibri"/>
              </a:rPr>
              <a:t>Decisions need fresh data in seconds. Nightly jobs and hand-built scripts add latency, blind spots, and operational fragility.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Shape 11"/>
          <p:cNvSpPr/>
          <p:nvPr/>
        </p:nvSpPr>
        <p:spPr>
          <a:xfrm>
            <a:off x="8156520" y="1874520"/>
            <a:ext cx="3391920" cy="3382920"/>
          </a:xfrm>
          <a:prstGeom prst="roundRect">
            <a:avLst>
              <a:gd name="adj" fmla="val 1622"/>
            </a:avLst>
          </a:prstGeom>
          <a:solidFill>
            <a:srgbClr val="ffffff"/>
          </a:solidFill>
          <a:ln w="12700">
            <a:solidFill>
              <a:srgbClr val="dbe3ee"/>
            </a:solidFill>
            <a:round/>
          </a:ln>
          <a:effectLst>
            <a:outerShdw algn="bl" blurRad="88920" dir="5400000" dist="38160" kx="0" ky="0" rotWithShape="0" sx="100000" sy="100000">
              <a:srgbClr val="9db0c4">
                <a:alpha val="2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Shape 12"/>
          <p:cNvSpPr/>
          <p:nvPr/>
        </p:nvSpPr>
        <p:spPr>
          <a:xfrm>
            <a:off x="8522280" y="2240280"/>
            <a:ext cx="822600" cy="822600"/>
          </a:xfrm>
          <a:prstGeom prst="ellipse">
            <a:avLst/>
          </a:prstGeom>
          <a:solidFill>
            <a:srgbClr val="1223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0" name="Image 2" descr="preencoded.png"/>
          <p:cNvPicPr/>
          <p:nvPr/>
        </p:nvPicPr>
        <p:blipFill>
          <a:blip r:embed="rId3"/>
          <a:stretch/>
        </p:blipFill>
        <p:spPr>
          <a:xfrm>
            <a:off x="8760960" y="2478960"/>
            <a:ext cx="345240" cy="345240"/>
          </a:xfrm>
          <a:prstGeom prst="rect">
            <a:avLst/>
          </a:prstGeom>
          <a:ln w="0">
            <a:noFill/>
          </a:ln>
        </p:spPr>
      </p:pic>
      <p:sp>
        <p:nvSpPr>
          <p:cNvPr id="71" name="Text 13"/>
          <p:cNvSpPr/>
          <p:nvPr/>
        </p:nvSpPr>
        <p:spPr>
          <a:xfrm>
            <a:off x="8522280" y="3200400"/>
            <a:ext cx="2660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12233f"/>
                </a:solidFill>
                <a:latin typeface="Cambria"/>
                <a:ea typeface="Cambria"/>
              </a:rPr>
              <a:t>Cost &amp; complexity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Text 14"/>
          <p:cNvSpPr/>
          <p:nvPr/>
        </p:nvSpPr>
        <p:spPr>
          <a:xfrm>
            <a:off x="8522280" y="3749040"/>
            <a:ext cx="270612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3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b2a3a"/>
                </a:solidFill>
                <a:latin typeface="Calibri"/>
                <a:ea typeface="Calibri"/>
              </a:rPr>
              <a:t>Each new pipeline means more custom code, more infrastructure, and more to operate, secure, and maintain — with little reuse.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Shape 15"/>
          <p:cNvSpPr/>
          <p:nvPr/>
        </p:nvSpPr>
        <p:spPr>
          <a:xfrm>
            <a:off x="640080" y="5440680"/>
            <a:ext cx="10908360" cy="639720"/>
          </a:xfrm>
          <a:prstGeom prst="roundRect">
            <a:avLst>
              <a:gd name="adj" fmla="val 7143"/>
            </a:avLst>
          </a:prstGeom>
          <a:solidFill>
            <a:srgbClr val="eaf1f8"/>
          </a:solidFill>
          <a:ln w="15875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 16"/>
          <p:cNvSpPr/>
          <p:nvPr/>
        </p:nvSpPr>
        <p:spPr>
          <a:xfrm>
            <a:off x="914400" y="5440680"/>
            <a:ext cx="10359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00786b"/>
                </a:solidFill>
                <a:latin typeface="Calibri"/>
                <a:ea typeface="Calibri"/>
              </a:rPr>
              <a:t>The need:  </a:t>
            </a:r>
            <a:r>
              <a:rPr b="0" i="1" lang="en-US" sz="1350" spc="-1" strike="noStrike">
                <a:solidFill>
                  <a:srgbClr val="12233f"/>
                </a:solidFill>
                <a:latin typeface="Calibri"/>
                <a:ea typeface="Calibri"/>
              </a:rPr>
              <a:t>a governed platform that turns live data into real-time results — without rebuilding plumbing for every use case.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 0"/>
          <p:cNvSpPr/>
          <p:nvPr/>
        </p:nvSpPr>
        <p:spPr>
          <a:xfrm>
            <a:off x="640080" y="438840"/>
            <a:ext cx="9600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900" spc="-1" strike="noStrike">
                <a:solidFill>
                  <a:srgbClr val="12233f"/>
                </a:solidFill>
                <a:latin typeface="Cambria"/>
                <a:ea typeface="Cambria"/>
              </a:rPr>
              <a:t>What is DishtaYantra?</a:t>
            </a:r>
            <a:endParaRPr b="0" lang="en-US" sz="2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Text 1"/>
          <p:cNvSpPr/>
          <p:nvPr/>
        </p:nvSpPr>
        <p:spPr>
          <a:xfrm>
            <a:off x="10698480" y="438840"/>
            <a:ext cx="8683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00a896"/>
                </a:solidFill>
                <a:latin typeface="Cambria"/>
                <a:ea typeface="Cambria"/>
              </a:rPr>
              <a:t>03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Text 2"/>
          <p:cNvSpPr/>
          <p:nvPr/>
        </p:nvSpPr>
        <p:spPr>
          <a:xfrm>
            <a:off x="640080" y="1371600"/>
            <a:ext cx="109083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1b2a3a"/>
                </a:solidFill>
                <a:latin typeface="Calibri"/>
                <a:ea typeface="Calibri"/>
              </a:rPr>
              <a:t>A platform that executes </a:t>
            </a:r>
            <a:r>
              <a:rPr b="1" lang="en-US" sz="1700" spc="-1" strike="noStrike">
                <a:solidFill>
                  <a:srgbClr val="00786b"/>
                </a:solidFill>
                <a:latin typeface="Calibri"/>
                <a:ea typeface="Calibri"/>
              </a:rPr>
              <a:t>computation graphs over streaming data</a:t>
            </a:r>
            <a:r>
              <a:rPr b="0" lang="en-US" sz="1700" spc="-1" strike="noStrike">
                <a:solidFill>
                  <a:srgbClr val="1b2a3a"/>
                </a:solidFill>
                <a:latin typeface="Calibri"/>
                <a:ea typeface="Calibri"/>
              </a:rPr>
              <a:t> in a single engine — each node is either a connector (a source or sink) or a calculator (a unit of compute).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Shape 3"/>
          <p:cNvSpPr/>
          <p:nvPr/>
        </p:nvSpPr>
        <p:spPr>
          <a:xfrm>
            <a:off x="640080" y="2331720"/>
            <a:ext cx="3391920" cy="324576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2700">
            <a:solidFill>
              <a:srgbClr val="dbe3ee"/>
            </a:solidFill>
            <a:round/>
          </a:ln>
          <a:effectLst>
            <a:outerShdw algn="bl" blurRad="88920" dir="5400000" dist="38160" kx="0" ky="0" rotWithShape="0" sx="100000" sy="100000">
              <a:srgbClr val="9db0c4">
                <a:alpha val="2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Shape 4"/>
          <p:cNvSpPr/>
          <p:nvPr/>
        </p:nvSpPr>
        <p:spPr>
          <a:xfrm>
            <a:off x="1879200" y="2697480"/>
            <a:ext cx="914040" cy="914040"/>
          </a:xfrm>
          <a:prstGeom prst="ellipse">
            <a:avLst/>
          </a:prstGeom>
          <a:solidFill>
            <a:srgbClr val="00a89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0" name="Image 0" descr="preencoded.png"/>
          <p:cNvPicPr/>
          <p:nvPr/>
        </p:nvPicPr>
        <p:blipFill>
          <a:blip r:embed="rId1"/>
          <a:stretch/>
        </p:blipFill>
        <p:spPr>
          <a:xfrm>
            <a:off x="2144160" y="2962800"/>
            <a:ext cx="383760" cy="383760"/>
          </a:xfrm>
          <a:prstGeom prst="rect">
            <a:avLst/>
          </a:prstGeom>
          <a:ln w="0">
            <a:noFill/>
          </a:ln>
        </p:spPr>
      </p:pic>
      <p:sp>
        <p:nvSpPr>
          <p:cNvPr id="81" name="Text 5"/>
          <p:cNvSpPr/>
          <p:nvPr/>
        </p:nvSpPr>
        <p:spPr>
          <a:xfrm>
            <a:off x="914400" y="3749040"/>
            <a:ext cx="2843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12233f"/>
                </a:solidFill>
                <a:latin typeface="Cambria"/>
                <a:ea typeface="Cambria"/>
              </a:rPr>
              <a:t>Graphs over live data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Text 6"/>
          <p:cNvSpPr/>
          <p:nvPr/>
        </p:nvSpPr>
        <p:spPr>
          <a:xfrm>
            <a:off x="960120" y="4297680"/>
            <a:ext cx="275184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13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b2a3a"/>
                </a:solidFill>
                <a:latin typeface="Calibri"/>
                <a:ea typeface="Calibri"/>
              </a:rPr>
              <a:t>Sources, calculators, and sinks wire together uniformly. One graph spans brokers, databases, cloud, and APIs.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Shape 7"/>
          <p:cNvSpPr/>
          <p:nvPr/>
        </p:nvSpPr>
        <p:spPr>
          <a:xfrm>
            <a:off x="4398120" y="2331720"/>
            <a:ext cx="3391920" cy="324576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2700">
            <a:solidFill>
              <a:srgbClr val="dbe3ee"/>
            </a:solidFill>
            <a:round/>
          </a:ln>
          <a:effectLst>
            <a:outerShdw algn="bl" blurRad="88920" dir="5400000" dist="38160" kx="0" ky="0" rotWithShape="0" sx="100000" sy="100000">
              <a:srgbClr val="9db0c4">
                <a:alpha val="2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Shape 8"/>
          <p:cNvSpPr/>
          <p:nvPr/>
        </p:nvSpPr>
        <p:spPr>
          <a:xfrm>
            <a:off x="5637240" y="2697480"/>
            <a:ext cx="914040" cy="914040"/>
          </a:xfrm>
          <a:prstGeom prst="ellipse">
            <a:avLst/>
          </a:prstGeom>
          <a:solidFill>
            <a:srgbClr val="1223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5" name="Image 1" descr="preencoded.png"/>
          <p:cNvPicPr/>
          <p:nvPr/>
        </p:nvPicPr>
        <p:blipFill>
          <a:blip r:embed="rId2"/>
          <a:stretch/>
        </p:blipFill>
        <p:spPr>
          <a:xfrm>
            <a:off x="5902560" y="2962800"/>
            <a:ext cx="383760" cy="383760"/>
          </a:xfrm>
          <a:prstGeom prst="rect">
            <a:avLst/>
          </a:prstGeom>
          <a:ln w="0">
            <a:noFill/>
          </a:ln>
        </p:spPr>
      </p:pic>
      <p:sp>
        <p:nvSpPr>
          <p:cNvPr id="86" name="Text 9"/>
          <p:cNvSpPr/>
          <p:nvPr/>
        </p:nvSpPr>
        <p:spPr>
          <a:xfrm>
            <a:off x="4672440" y="3749040"/>
            <a:ext cx="2843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12233f"/>
                </a:solidFill>
                <a:latin typeface="Cambria"/>
                <a:ea typeface="Cambria"/>
              </a:rPr>
              <a:t>Reactive by design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Text 10"/>
          <p:cNvSpPr/>
          <p:nvPr/>
        </p:nvSpPr>
        <p:spPr>
          <a:xfrm>
            <a:off x="4718160" y="4297680"/>
            <a:ext cx="275184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13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b2a3a"/>
                </a:solidFill>
                <a:latin typeface="Calibri"/>
                <a:ea typeface="Calibri"/>
              </a:rPr>
              <a:t>The equality gate means a node recomputes only when its inputs change — predictable low latency, no wasted work.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Shape 11"/>
          <p:cNvSpPr/>
          <p:nvPr/>
        </p:nvSpPr>
        <p:spPr>
          <a:xfrm>
            <a:off x="8156520" y="2331720"/>
            <a:ext cx="3391920" cy="324576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2700">
            <a:solidFill>
              <a:srgbClr val="dbe3ee"/>
            </a:solidFill>
            <a:round/>
          </a:ln>
          <a:effectLst>
            <a:outerShdw algn="bl" blurRad="88920" dir="5400000" dist="38160" kx="0" ky="0" rotWithShape="0" sx="100000" sy="100000">
              <a:srgbClr val="9db0c4">
                <a:alpha val="2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Shape 12"/>
          <p:cNvSpPr/>
          <p:nvPr/>
        </p:nvSpPr>
        <p:spPr>
          <a:xfrm>
            <a:off x="9395640" y="2697480"/>
            <a:ext cx="914040" cy="914040"/>
          </a:xfrm>
          <a:prstGeom prst="ellipse">
            <a:avLst/>
          </a:prstGeom>
          <a:solidFill>
            <a:srgbClr val="00a89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0" name="Image 2" descr="preencoded.png"/>
          <p:cNvPicPr/>
          <p:nvPr/>
        </p:nvPicPr>
        <p:blipFill>
          <a:blip r:embed="rId3"/>
          <a:stretch/>
        </p:blipFill>
        <p:spPr>
          <a:xfrm>
            <a:off x="9660600" y="2962800"/>
            <a:ext cx="383760" cy="383760"/>
          </a:xfrm>
          <a:prstGeom prst="rect">
            <a:avLst/>
          </a:prstGeom>
          <a:ln w="0">
            <a:noFill/>
          </a:ln>
        </p:spPr>
      </p:pic>
      <p:sp>
        <p:nvSpPr>
          <p:cNvPr id="91" name="Text 13"/>
          <p:cNvSpPr/>
          <p:nvPr/>
        </p:nvSpPr>
        <p:spPr>
          <a:xfrm>
            <a:off x="8430840" y="3749040"/>
            <a:ext cx="2843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12233f"/>
                </a:solidFill>
                <a:latin typeface="Cambria"/>
                <a:ea typeface="Cambria"/>
              </a:rPr>
              <a:t>Visual &amp; governed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 14"/>
          <p:cNvSpPr/>
          <p:nvPr/>
        </p:nvSpPr>
        <p:spPr>
          <a:xfrm>
            <a:off x="8476560" y="4297680"/>
            <a:ext cx="275184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13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b2a3a"/>
                </a:solidFill>
                <a:latin typeface="Calibri"/>
                <a:ea typeface="Calibri"/>
              </a:rPr>
              <a:t>Pipelines are built and changed in the browser. Auth, RBAC, audit, and safe operations are built in.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Text 0"/>
          <p:cNvSpPr/>
          <p:nvPr/>
        </p:nvSpPr>
        <p:spPr>
          <a:xfrm>
            <a:off x="640080" y="438840"/>
            <a:ext cx="9600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900" spc="-1" strike="noStrike">
                <a:solidFill>
                  <a:srgbClr val="12233f"/>
                </a:solidFill>
                <a:latin typeface="Cambria"/>
                <a:ea typeface="Cambria"/>
              </a:rPr>
              <a:t>How it works: reactive dataflow</a:t>
            </a:r>
            <a:endParaRPr b="0" lang="en-US" sz="2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Text 1"/>
          <p:cNvSpPr/>
          <p:nvPr/>
        </p:nvSpPr>
        <p:spPr>
          <a:xfrm>
            <a:off x="10698480" y="438840"/>
            <a:ext cx="8683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00a896"/>
                </a:solidFill>
                <a:latin typeface="Cambria"/>
                <a:ea typeface="Cambria"/>
              </a:rPr>
              <a:t>04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Text 2"/>
          <p:cNvSpPr/>
          <p:nvPr/>
        </p:nvSpPr>
        <p:spPr>
          <a:xfrm>
            <a:off x="640080" y="1325880"/>
            <a:ext cx="10908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50" spc="-1" strike="noStrike">
                <a:solidFill>
                  <a:srgbClr val="5c6b7a"/>
                </a:solidFill>
                <a:latin typeface="Calibri"/>
                <a:ea typeface="Calibri"/>
              </a:rPr>
              <a:t>Sources feed calculators feed sinks. Each node recomputes only when its inputs actually change.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Text 3"/>
          <p:cNvSpPr/>
          <p:nvPr/>
        </p:nvSpPr>
        <p:spPr>
          <a:xfrm>
            <a:off x="1005840" y="2057400"/>
            <a:ext cx="2468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99" strike="noStrike">
                <a:solidFill>
                  <a:srgbClr val="5c6b7a"/>
                </a:solidFill>
                <a:latin typeface="Calibri"/>
                <a:ea typeface="Calibri"/>
              </a:rPr>
              <a:t>SOURCES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Text 4"/>
          <p:cNvSpPr/>
          <p:nvPr/>
        </p:nvSpPr>
        <p:spPr>
          <a:xfrm>
            <a:off x="4937760" y="2057400"/>
            <a:ext cx="2468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99" strike="noStrike">
                <a:solidFill>
                  <a:srgbClr val="5c6b7a"/>
                </a:solidFill>
                <a:latin typeface="Calibri"/>
                <a:ea typeface="Calibri"/>
              </a:rPr>
              <a:t>CALCULATORS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 5"/>
          <p:cNvSpPr/>
          <p:nvPr/>
        </p:nvSpPr>
        <p:spPr>
          <a:xfrm>
            <a:off x="8869680" y="2057400"/>
            <a:ext cx="2468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99" strike="noStrike">
                <a:solidFill>
                  <a:srgbClr val="5c6b7a"/>
                </a:solidFill>
                <a:latin typeface="Calibri"/>
                <a:ea typeface="Calibri"/>
              </a:rPr>
              <a:t>SINKS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Shape 6"/>
          <p:cNvSpPr/>
          <p:nvPr/>
        </p:nvSpPr>
        <p:spPr>
          <a:xfrm>
            <a:off x="3474720" y="2880360"/>
            <a:ext cx="1463040" cy="548640"/>
          </a:xfrm>
          <a:prstGeom prst="line">
            <a:avLst/>
          </a:prstGeom>
          <a:ln w="22225">
            <a:solidFill>
              <a:srgbClr val="9fb4cc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Shape 7"/>
          <p:cNvSpPr/>
          <p:nvPr/>
        </p:nvSpPr>
        <p:spPr>
          <a:xfrm flipV="1">
            <a:off x="3474720" y="3429000"/>
            <a:ext cx="1463040" cy="594360"/>
          </a:xfrm>
          <a:prstGeom prst="line">
            <a:avLst/>
          </a:prstGeom>
          <a:ln w="22225">
            <a:solidFill>
              <a:srgbClr val="9fb4cc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Shape 8"/>
          <p:cNvSpPr/>
          <p:nvPr/>
        </p:nvSpPr>
        <p:spPr>
          <a:xfrm flipV="1">
            <a:off x="7406640" y="2880360"/>
            <a:ext cx="1463040" cy="548640"/>
          </a:xfrm>
          <a:prstGeom prst="line">
            <a:avLst/>
          </a:prstGeom>
          <a:ln w="22225">
            <a:solidFill>
              <a:srgbClr val="9fb4cc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Shape 9"/>
          <p:cNvSpPr/>
          <p:nvPr/>
        </p:nvSpPr>
        <p:spPr>
          <a:xfrm>
            <a:off x="7406640" y="3429000"/>
            <a:ext cx="1463040" cy="594360"/>
          </a:xfrm>
          <a:prstGeom prst="line">
            <a:avLst/>
          </a:prstGeom>
          <a:ln w="22225">
            <a:solidFill>
              <a:srgbClr val="9fb4cc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Shape 10"/>
          <p:cNvSpPr/>
          <p:nvPr/>
        </p:nvSpPr>
        <p:spPr>
          <a:xfrm>
            <a:off x="1005840" y="2468880"/>
            <a:ext cx="2468520" cy="82260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dbe3ee"/>
            </a:solidFill>
            <a:round/>
          </a:ln>
          <a:effectLst>
            <a:outerShdw algn="bl" blurRad="88920" dir="5400000" dist="38160" kx="0" ky="0" rotWithShape="0" sx="100000" sy="100000">
              <a:srgbClr val="9db0c4">
                <a:alpha val="2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Text 11"/>
          <p:cNvSpPr/>
          <p:nvPr/>
        </p:nvSpPr>
        <p:spPr>
          <a:xfrm>
            <a:off x="1097280" y="2468880"/>
            <a:ext cx="22856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2233f"/>
                </a:solidFill>
                <a:latin typeface="Calibri"/>
                <a:ea typeface="Calibri"/>
              </a:rPr>
              <a:t>Kafka topic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Shape 12"/>
          <p:cNvSpPr/>
          <p:nvPr/>
        </p:nvSpPr>
        <p:spPr>
          <a:xfrm>
            <a:off x="1005840" y="3611880"/>
            <a:ext cx="2468520" cy="82260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dbe3ee"/>
            </a:solidFill>
            <a:round/>
          </a:ln>
          <a:effectLst>
            <a:outerShdw algn="bl" blurRad="88920" dir="5400000" dist="38160" kx="0" ky="0" rotWithShape="0" sx="100000" sy="100000">
              <a:srgbClr val="9db0c4">
                <a:alpha val="2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Text 13"/>
          <p:cNvSpPr/>
          <p:nvPr/>
        </p:nvSpPr>
        <p:spPr>
          <a:xfrm>
            <a:off x="1097280" y="3611880"/>
            <a:ext cx="22856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2233f"/>
                </a:solidFill>
                <a:latin typeface="Calibri"/>
                <a:ea typeface="Calibri"/>
              </a:rPr>
              <a:t>Market data feed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Shape 14"/>
          <p:cNvSpPr/>
          <p:nvPr/>
        </p:nvSpPr>
        <p:spPr>
          <a:xfrm>
            <a:off x="4937760" y="3017520"/>
            <a:ext cx="2468520" cy="822600"/>
          </a:xfrm>
          <a:prstGeom prst="roundRect">
            <a:avLst>
              <a:gd name="adj" fmla="val 7778"/>
            </a:avLst>
          </a:prstGeom>
          <a:solidFill>
            <a:srgbClr val="00a896"/>
          </a:solidFill>
          <a:ln w="12700">
            <a:solidFill>
              <a:srgbClr val="00a896"/>
            </a:solidFill>
            <a:round/>
          </a:ln>
          <a:effectLst>
            <a:outerShdw algn="bl" blurRad="88920" dir="5400000" dist="38160" kx="0" ky="0" rotWithShape="0" sx="100000" sy="100000">
              <a:srgbClr val="9db0c4">
                <a:alpha val="2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" name="Text 15"/>
          <p:cNvSpPr/>
          <p:nvPr/>
        </p:nvSpPr>
        <p:spPr>
          <a:xfrm>
            <a:off x="5029200" y="3017520"/>
            <a:ext cx="22856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Enrich · Normalize · Score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Shape 16"/>
          <p:cNvSpPr/>
          <p:nvPr/>
        </p:nvSpPr>
        <p:spPr>
          <a:xfrm>
            <a:off x="8869680" y="2468880"/>
            <a:ext cx="2468520" cy="82260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dbe3ee"/>
            </a:solidFill>
            <a:round/>
          </a:ln>
          <a:effectLst>
            <a:outerShdw algn="bl" blurRad="88920" dir="5400000" dist="38160" kx="0" ky="0" rotWithShape="0" sx="100000" sy="100000">
              <a:srgbClr val="9db0c4">
                <a:alpha val="2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Text 17"/>
          <p:cNvSpPr/>
          <p:nvPr/>
        </p:nvSpPr>
        <p:spPr>
          <a:xfrm>
            <a:off x="8961120" y="2468880"/>
            <a:ext cx="22856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2233f"/>
                </a:solidFill>
                <a:latin typeface="Calibri"/>
                <a:ea typeface="Calibri"/>
              </a:rPr>
              <a:t>Database / cache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Shape 18"/>
          <p:cNvSpPr/>
          <p:nvPr/>
        </p:nvSpPr>
        <p:spPr>
          <a:xfrm>
            <a:off x="8869680" y="3611880"/>
            <a:ext cx="2468520" cy="82260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dbe3ee"/>
            </a:solidFill>
            <a:round/>
          </a:ln>
          <a:effectLst>
            <a:outerShdw algn="bl" blurRad="88920" dir="5400000" dist="38160" kx="0" ky="0" rotWithShape="0" sx="100000" sy="100000">
              <a:srgbClr val="9db0c4">
                <a:alpha val="2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Text 19"/>
          <p:cNvSpPr/>
          <p:nvPr/>
        </p:nvSpPr>
        <p:spPr>
          <a:xfrm>
            <a:off x="8961120" y="3611880"/>
            <a:ext cx="22856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2233f"/>
                </a:solidFill>
                <a:latin typeface="Calibri"/>
                <a:ea typeface="Calibri"/>
              </a:rPr>
              <a:t>Downstream topic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Shape 20"/>
          <p:cNvSpPr/>
          <p:nvPr/>
        </p:nvSpPr>
        <p:spPr>
          <a:xfrm>
            <a:off x="1005840" y="4892040"/>
            <a:ext cx="10176840" cy="1051200"/>
          </a:xfrm>
          <a:prstGeom prst="roundRect">
            <a:avLst>
              <a:gd name="adj" fmla="val 5217"/>
            </a:avLst>
          </a:prstGeom>
          <a:solidFill>
            <a:srgbClr val="eaf1f8"/>
          </a:solidFill>
          <a:ln w="12700">
            <a:solidFill>
              <a:srgbClr val="dbe3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Shape 21"/>
          <p:cNvSpPr/>
          <p:nvPr/>
        </p:nvSpPr>
        <p:spPr>
          <a:xfrm>
            <a:off x="1325880" y="5120640"/>
            <a:ext cx="594000" cy="594000"/>
          </a:xfrm>
          <a:prstGeom prst="ellipse">
            <a:avLst/>
          </a:prstGeom>
          <a:solidFill>
            <a:srgbClr val="1223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15" name="Image 0" descr="preencoded.png"/>
          <p:cNvPicPr/>
          <p:nvPr/>
        </p:nvPicPr>
        <p:blipFill>
          <a:blip r:embed="rId1"/>
          <a:stretch/>
        </p:blipFill>
        <p:spPr>
          <a:xfrm>
            <a:off x="1498320" y="5293080"/>
            <a:ext cx="249120" cy="249120"/>
          </a:xfrm>
          <a:prstGeom prst="rect">
            <a:avLst/>
          </a:prstGeom>
          <a:ln w="0">
            <a:noFill/>
          </a:ln>
        </p:spPr>
      </p:pic>
      <p:sp>
        <p:nvSpPr>
          <p:cNvPr id="116" name="Text 22"/>
          <p:cNvSpPr/>
          <p:nvPr/>
        </p:nvSpPr>
        <p:spPr>
          <a:xfrm>
            <a:off x="2148840" y="4919400"/>
            <a:ext cx="877788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12233f"/>
                </a:solidFill>
                <a:latin typeface="Calibri"/>
                <a:ea typeface="Calibri"/>
              </a:rPr>
              <a:t>Equality gate:  </a:t>
            </a:r>
            <a:r>
              <a:rPr b="0" lang="en-US" sz="1450" spc="-1" strike="noStrike">
                <a:solidFill>
                  <a:srgbClr val="1b2a3a"/>
                </a:solidFill>
                <a:latin typeface="Calibri"/>
                <a:ea typeface="Calibri"/>
              </a:rPr>
              <a:t>nodes recompute only when inputs change — no wasted work, predictable low latency, and results that update the instant data moves.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Text 0"/>
          <p:cNvSpPr/>
          <p:nvPr/>
        </p:nvSpPr>
        <p:spPr>
          <a:xfrm>
            <a:off x="640080" y="438840"/>
            <a:ext cx="9600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900" spc="-1" strike="noStrike">
                <a:solidFill>
                  <a:srgbClr val="12233f"/>
                </a:solidFill>
                <a:latin typeface="Cambria"/>
                <a:ea typeface="Cambria"/>
              </a:rPr>
              <a:t>Architecture at a glance</a:t>
            </a:r>
            <a:endParaRPr b="0" lang="en-US" sz="2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Text 1"/>
          <p:cNvSpPr/>
          <p:nvPr/>
        </p:nvSpPr>
        <p:spPr>
          <a:xfrm>
            <a:off x="10698480" y="438840"/>
            <a:ext cx="8683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00a896"/>
                </a:solidFill>
                <a:latin typeface="Cambria"/>
                <a:ea typeface="Cambria"/>
              </a:rPr>
              <a:t>05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Shape 2"/>
          <p:cNvSpPr/>
          <p:nvPr/>
        </p:nvSpPr>
        <p:spPr>
          <a:xfrm>
            <a:off x="640080" y="1600200"/>
            <a:ext cx="3245760" cy="2057040"/>
          </a:xfrm>
          <a:prstGeom prst="roundRect">
            <a:avLst>
              <a:gd name="adj" fmla="val 2667"/>
            </a:avLst>
          </a:prstGeom>
          <a:solidFill>
            <a:srgbClr val="00a896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9db0c4">
                <a:alpha val="2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" name="Shape 3"/>
          <p:cNvSpPr/>
          <p:nvPr/>
        </p:nvSpPr>
        <p:spPr>
          <a:xfrm>
            <a:off x="1851840" y="1874520"/>
            <a:ext cx="822600" cy="822600"/>
          </a:xfrm>
          <a:prstGeom prst="ellipse">
            <a:avLst/>
          </a:prstGeom>
          <a:solidFill>
            <a:srgbClr val="1c335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21" name="Image 0" descr="preencoded.png"/>
          <p:cNvPicPr/>
          <p:nvPr/>
        </p:nvPicPr>
        <p:blipFill>
          <a:blip r:embed="rId1"/>
          <a:stretch/>
        </p:blipFill>
        <p:spPr>
          <a:xfrm>
            <a:off x="2090160" y="2113200"/>
            <a:ext cx="345240" cy="345240"/>
          </a:xfrm>
          <a:prstGeom prst="rect">
            <a:avLst/>
          </a:prstGeom>
          <a:ln w="0">
            <a:noFill/>
          </a:ln>
        </p:spPr>
      </p:pic>
      <p:sp>
        <p:nvSpPr>
          <p:cNvPr id="122" name="Text 4"/>
          <p:cNvSpPr/>
          <p:nvPr/>
        </p:nvSpPr>
        <p:spPr>
          <a:xfrm>
            <a:off x="822960" y="2697480"/>
            <a:ext cx="28800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Sources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Text 5"/>
          <p:cNvSpPr/>
          <p:nvPr/>
        </p:nvSpPr>
        <p:spPr>
          <a:xfrm>
            <a:off x="914400" y="3108960"/>
            <a:ext cx="2697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e6f0f8"/>
                </a:solidFill>
                <a:latin typeface="Calibri"/>
                <a:ea typeface="Calibri"/>
              </a:rPr>
              <a:t>Connectors subscribe to brokers, stores, cloud, and APIs.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Text 6"/>
          <p:cNvSpPr/>
          <p:nvPr/>
        </p:nvSpPr>
        <p:spPr>
          <a:xfrm>
            <a:off x="3886200" y="1600200"/>
            <a:ext cx="585000" cy="20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00a896"/>
                </a:solidFill>
                <a:latin typeface="Calibri"/>
                <a:ea typeface="Calibri"/>
              </a:rPr>
              <a:t>→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Shape 7"/>
          <p:cNvSpPr/>
          <p:nvPr/>
        </p:nvSpPr>
        <p:spPr>
          <a:xfrm>
            <a:off x="4471560" y="1600200"/>
            <a:ext cx="3245760" cy="2057040"/>
          </a:xfrm>
          <a:prstGeom prst="roundRect">
            <a:avLst>
              <a:gd name="adj" fmla="val 2667"/>
            </a:avLst>
          </a:prstGeom>
          <a:solidFill>
            <a:srgbClr val="12233f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9db0c4">
                <a:alpha val="2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" name="Shape 8"/>
          <p:cNvSpPr/>
          <p:nvPr/>
        </p:nvSpPr>
        <p:spPr>
          <a:xfrm>
            <a:off x="5682960" y="1874520"/>
            <a:ext cx="822600" cy="822600"/>
          </a:xfrm>
          <a:prstGeom prst="ellipse">
            <a:avLst/>
          </a:prstGeom>
          <a:solidFill>
            <a:srgbClr val="1c335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27" name="Image 1" descr="preencoded.png"/>
          <p:cNvPicPr/>
          <p:nvPr/>
        </p:nvPicPr>
        <p:blipFill>
          <a:blip r:embed="rId2"/>
          <a:stretch/>
        </p:blipFill>
        <p:spPr>
          <a:xfrm>
            <a:off x="5921640" y="2113200"/>
            <a:ext cx="345240" cy="345240"/>
          </a:xfrm>
          <a:prstGeom prst="rect">
            <a:avLst/>
          </a:prstGeom>
          <a:ln w="0">
            <a:noFill/>
          </a:ln>
        </p:spPr>
      </p:pic>
      <p:sp>
        <p:nvSpPr>
          <p:cNvPr id="128" name="Text 9"/>
          <p:cNvSpPr/>
          <p:nvPr/>
        </p:nvSpPr>
        <p:spPr>
          <a:xfrm>
            <a:off x="4654440" y="2697480"/>
            <a:ext cx="28800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Reactive engine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Text 10"/>
          <p:cNvSpPr/>
          <p:nvPr/>
        </p:nvSpPr>
        <p:spPr>
          <a:xfrm>
            <a:off x="4745880" y="3108960"/>
            <a:ext cx="2697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e6f0f8"/>
                </a:solidFill>
                <a:latin typeface="Calibri"/>
                <a:ea typeface="Calibri"/>
              </a:rPr>
              <a:t>The DAG schedules and runs nodes; the equality gate gates recompute.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Text 11"/>
          <p:cNvSpPr/>
          <p:nvPr/>
        </p:nvSpPr>
        <p:spPr>
          <a:xfrm>
            <a:off x="7717680" y="1600200"/>
            <a:ext cx="585000" cy="20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00a896"/>
                </a:solidFill>
                <a:latin typeface="Calibri"/>
                <a:ea typeface="Calibri"/>
              </a:rPr>
              <a:t>→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Shape 12"/>
          <p:cNvSpPr/>
          <p:nvPr/>
        </p:nvSpPr>
        <p:spPr>
          <a:xfrm>
            <a:off x="8302680" y="1600200"/>
            <a:ext cx="3245760" cy="2057040"/>
          </a:xfrm>
          <a:prstGeom prst="roundRect">
            <a:avLst>
              <a:gd name="adj" fmla="val 2667"/>
            </a:avLst>
          </a:prstGeom>
          <a:solidFill>
            <a:srgbClr val="00a896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9db0c4">
                <a:alpha val="2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" name="Shape 13"/>
          <p:cNvSpPr/>
          <p:nvPr/>
        </p:nvSpPr>
        <p:spPr>
          <a:xfrm>
            <a:off x="9514440" y="1874520"/>
            <a:ext cx="822600" cy="822600"/>
          </a:xfrm>
          <a:prstGeom prst="ellipse">
            <a:avLst/>
          </a:prstGeom>
          <a:solidFill>
            <a:srgbClr val="1c335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33" name="Image 2" descr="preencoded.png"/>
          <p:cNvPicPr/>
          <p:nvPr/>
        </p:nvPicPr>
        <p:blipFill>
          <a:blip r:embed="rId3"/>
          <a:stretch/>
        </p:blipFill>
        <p:spPr>
          <a:xfrm>
            <a:off x="9753120" y="2113200"/>
            <a:ext cx="345240" cy="345240"/>
          </a:xfrm>
          <a:prstGeom prst="rect">
            <a:avLst/>
          </a:prstGeom>
          <a:ln w="0">
            <a:noFill/>
          </a:ln>
        </p:spPr>
      </p:pic>
      <p:sp>
        <p:nvSpPr>
          <p:cNvPr id="134" name="Text 14"/>
          <p:cNvSpPr/>
          <p:nvPr/>
        </p:nvSpPr>
        <p:spPr>
          <a:xfrm>
            <a:off x="8485560" y="2697480"/>
            <a:ext cx="28800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Sinks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Text 15"/>
          <p:cNvSpPr/>
          <p:nvPr/>
        </p:nvSpPr>
        <p:spPr>
          <a:xfrm>
            <a:off x="8577000" y="3108960"/>
            <a:ext cx="2697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e6f0f8"/>
                </a:solidFill>
                <a:latin typeface="Calibri"/>
                <a:ea typeface="Calibri"/>
              </a:rPr>
              <a:t>Publishers deliver results, with WAL-backed durability where needed.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Text 16"/>
          <p:cNvSpPr/>
          <p:nvPr/>
        </p:nvSpPr>
        <p:spPr>
          <a:xfrm>
            <a:off x="640080" y="3977640"/>
            <a:ext cx="10908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2233f"/>
                </a:solidFill>
                <a:latin typeface="Calibri"/>
                <a:ea typeface="Calibri"/>
              </a:rPr>
              <a:t>Cross-cutting services — built in, across every pipeline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Shape 17"/>
          <p:cNvSpPr/>
          <p:nvPr/>
        </p:nvSpPr>
        <p:spPr>
          <a:xfrm>
            <a:off x="640080" y="4343400"/>
            <a:ext cx="1998360" cy="776880"/>
          </a:xfrm>
          <a:prstGeom prst="roundRect">
            <a:avLst>
              <a:gd name="adj" fmla="val 5882"/>
            </a:avLst>
          </a:prstGeom>
          <a:solidFill>
            <a:srgbClr val="f4f7fb"/>
          </a:solidFill>
          <a:ln w="12700">
            <a:solidFill>
              <a:srgbClr val="dbe3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Text 18"/>
          <p:cNvSpPr/>
          <p:nvPr/>
        </p:nvSpPr>
        <p:spPr>
          <a:xfrm>
            <a:off x="731520" y="4343400"/>
            <a:ext cx="18154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5c6b7a"/>
                </a:solidFill>
                <a:latin typeface="Calibri"/>
                <a:ea typeface="Calibri"/>
              </a:rPr>
              <a:t>Auth · RBAC · API keys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Shape 19"/>
          <p:cNvSpPr/>
          <p:nvPr/>
        </p:nvSpPr>
        <p:spPr>
          <a:xfrm>
            <a:off x="2867400" y="4343400"/>
            <a:ext cx="1998360" cy="776880"/>
          </a:xfrm>
          <a:prstGeom prst="roundRect">
            <a:avLst>
              <a:gd name="adj" fmla="val 5882"/>
            </a:avLst>
          </a:prstGeom>
          <a:solidFill>
            <a:srgbClr val="f4f7fb"/>
          </a:solidFill>
          <a:ln w="12700">
            <a:solidFill>
              <a:srgbClr val="dbe3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Text 20"/>
          <p:cNvSpPr/>
          <p:nvPr/>
        </p:nvSpPr>
        <p:spPr>
          <a:xfrm>
            <a:off x="2958840" y="4343400"/>
            <a:ext cx="18154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5c6b7a"/>
                </a:solidFill>
                <a:latin typeface="Calibri"/>
                <a:ea typeface="Calibri"/>
              </a:rPr>
              <a:t>Audit trail + retention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Shape 21"/>
          <p:cNvSpPr/>
          <p:nvPr/>
        </p:nvSpPr>
        <p:spPr>
          <a:xfrm>
            <a:off x="5095080" y="4343400"/>
            <a:ext cx="1998360" cy="776880"/>
          </a:xfrm>
          <a:prstGeom prst="roundRect">
            <a:avLst>
              <a:gd name="adj" fmla="val 5882"/>
            </a:avLst>
          </a:prstGeom>
          <a:solidFill>
            <a:srgbClr val="f4f7fb"/>
          </a:solidFill>
          <a:ln w="12700">
            <a:solidFill>
              <a:srgbClr val="dbe3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Text 22"/>
          <p:cNvSpPr/>
          <p:nvPr/>
        </p:nvSpPr>
        <p:spPr>
          <a:xfrm>
            <a:off x="5186520" y="4343400"/>
            <a:ext cx="18154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5c6b7a"/>
                </a:solidFill>
                <a:latin typeface="Calibri"/>
                <a:ea typeface="Calibri"/>
              </a:rPr>
              <a:t>Maintenance / drain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Shape 23"/>
          <p:cNvSpPr/>
          <p:nvPr/>
        </p:nvSpPr>
        <p:spPr>
          <a:xfrm>
            <a:off x="7322400" y="4343400"/>
            <a:ext cx="1998360" cy="776880"/>
          </a:xfrm>
          <a:prstGeom prst="roundRect">
            <a:avLst>
              <a:gd name="adj" fmla="val 5882"/>
            </a:avLst>
          </a:prstGeom>
          <a:solidFill>
            <a:srgbClr val="f4f7fb"/>
          </a:solidFill>
          <a:ln w="12700">
            <a:solidFill>
              <a:srgbClr val="dbe3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Text 24"/>
          <p:cNvSpPr/>
          <p:nvPr/>
        </p:nvSpPr>
        <p:spPr>
          <a:xfrm>
            <a:off x="7413840" y="4343400"/>
            <a:ext cx="18154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5c6b7a"/>
                </a:solidFill>
                <a:latin typeface="Calibri"/>
                <a:ea typeface="Calibri"/>
              </a:rPr>
              <a:t>Metrics &amp; observability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Shape 25"/>
          <p:cNvSpPr/>
          <p:nvPr/>
        </p:nvSpPr>
        <p:spPr>
          <a:xfrm>
            <a:off x="9550080" y="4343400"/>
            <a:ext cx="1998360" cy="776880"/>
          </a:xfrm>
          <a:prstGeom prst="roundRect">
            <a:avLst>
              <a:gd name="adj" fmla="val 5882"/>
            </a:avLst>
          </a:prstGeom>
          <a:solidFill>
            <a:srgbClr val="f4f7fb"/>
          </a:solidFill>
          <a:ln w="12700">
            <a:solidFill>
              <a:srgbClr val="dbe3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Text 26"/>
          <p:cNvSpPr/>
          <p:nvPr/>
        </p:nvSpPr>
        <p:spPr>
          <a:xfrm>
            <a:off x="9641520" y="4343400"/>
            <a:ext cx="18154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5c6b7a"/>
                </a:solidFill>
                <a:latin typeface="Calibri"/>
                <a:ea typeface="Calibri"/>
              </a:rPr>
              <a:t>Config (no silent defaults)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Text 0"/>
          <p:cNvSpPr/>
          <p:nvPr/>
        </p:nvSpPr>
        <p:spPr>
          <a:xfrm>
            <a:off x="640080" y="438840"/>
            <a:ext cx="9600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900" spc="-1" strike="noStrike">
                <a:solidFill>
                  <a:srgbClr val="12233f"/>
                </a:solidFill>
                <a:latin typeface="Cambria"/>
                <a:ea typeface="Cambria"/>
              </a:rPr>
              <a:t>Platform capabilities</a:t>
            </a:r>
            <a:endParaRPr b="0" lang="en-US" sz="2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Text 1"/>
          <p:cNvSpPr/>
          <p:nvPr/>
        </p:nvSpPr>
        <p:spPr>
          <a:xfrm>
            <a:off x="10698480" y="438840"/>
            <a:ext cx="8683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00a896"/>
                </a:solidFill>
                <a:latin typeface="Cambria"/>
                <a:ea typeface="Cambria"/>
              </a:rPr>
              <a:t>06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Shape 2"/>
          <p:cNvSpPr/>
          <p:nvPr/>
        </p:nvSpPr>
        <p:spPr>
          <a:xfrm>
            <a:off x="640080" y="1371600"/>
            <a:ext cx="3391920" cy="178272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be3ee"/>
            </a:solidFill>
            <a:round/>
          </a:ln>
          <a:effectLst>
            <a:outerShdw algn="bl" blurRad="88920" dir="5400000" dist="38160" kx="0" ky="0" rotWithShape="0" sx="100000" sy="100000">
              <a:srgbClr val="9db0c4">
                <a:alpha val="2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Shape 3"/>
          <p:cNvSpPr/>
          <p:nvPr/>
        </p:nvSpPr>
        <p:spPr>
          <a:xfrm>
            <a:off x="960120" y="1691640"/>
            <a:ext cx="731160" cy="731160"/>
          </a:xfrm>
          <a:prstGeom prst="ellipse">
            <a:avLst/>
          </a:prstGeom>
          <a:solidFill>
            <a:srgbClr val="00a89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51" name="Image 0" descr="preencoded.png"/>
          <p:cNvPicPr/>
          <p:nvPr/>
        </p:nvPicPr>
        <p:blipFill>
          <a:blip r:embed="rId1"/>
          <a:stretch/>
        </p:blipFill>
        <p:spPr>
          <a:xfrm>
            <a:off x="1172160" y="1903680"/>
            <a:ext cx="306720" cy="306720"/>
          </a:xfrm>
          <a:prstGeom prst="rect">
            <a:avLst/>
          </a:prstGeom>
          <a:ln w="0">
            <a:noFill/>
          </a:ln>
        </p:spPr>
      </p:pic>
      <p:sp>
        <p:nvSpPr>
          <p:cNvPr id="152" name="Text 4"/>
          <p:cNvSpPr/>
          <p:nvPr/>
        </p:nvSpPr>
        <p:spPr>
          <a:xfrm>
            <a:off x="1828800" y="1682640"/>
            <a:ext cx="20203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2233f"/>
                </a:solidFill>
                <a:latin typeface="Cambria"/>
                <a:ea typeface="Cambria"/>
              </a:rPr>
              <a:t>30+ connectors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Text 5"/>
          <p:cNvSpPr/>
          <p:nvPr/>
        </p:nvSpPr>
        <p:spPr>
          <a:xfrm>
            <a:off x="960120" y="2468880"/>
            <a:ext cx="2751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6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b2a3a"/>
                </a:solidFill>
                <a:latin typeface="Calibri"/>
                <a:ea typeface="Calibri"/>
              </a:rPr>
              <a:t>Kafka, AWS/Azure/GCP, SQL, LMDB, REST, WebSocket, TibcoEMS, WebSphere MQ.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Shape 6"/>
          <p:cNvSpPr/>
          <p:nvPr/>
        </p:nvSpPr>
        <p:spPr>
          <a:xfrm>
            <a:off x="4398120" y="1371600"/>
            <a:ext cx="3391920" cy="178272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be3ee"/>
            </a:solidFill>
            <a:round/>
          </a:ln>
          <a:effectLst>
            <a:outerShdw algn="bl" blurRad="88920" dir="5400000" dist="38160" kx="0" ky="0" rotWithShape="0" sx="100000" sy="100000">
              <a:srgbClr val="9db0c4">
                <a:alpha val="2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Shape 7"/>
          <p:cNvSpPr/>
          <p:nvPr/>
        </p:nvSpPr>
        <p:spPr>
          <a:xfrm>
            <a:off x="4718160" y="1691640"/>
            <a:ext cx="731160" cy="731160"/>
          </a:xfrm>
          <a:prstGeom prst="ellipse">
            <a:avLst/>
          </a:prstGeom>
          <a:solidFill>
            <a:srgbClr val="1223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56" name="Image 1" descr="preencoded.png"/>
          <p:cNvPicPr/>
          <p:nvPr/>
        </p:nvPicPr>
        <p:blipFill>
          <a:blip r:embed="rId2"/>
          <a:stretch/>
        </p:blipFill>
        <p:spPr>
          <a:xfrm>
            <a:off x="4930560" y="1903680"/>
            <a:ext cx="306720" cy="306720"/>
          </a:xfrm>
          <a:prstGeom prst="rect">
            <a:avLst/>
          </a:prstGeom>
          <a:ln w="0">
            <a:noFill/>
          </a:ln>
        </p:spPr>
      </p:pic>
      <p:sp>
        <p:nvSpPr>
          <p:cNvPr id="157" name="Text 8"/>
          <p:cNvSpPr/>
          <p:nvPr/>
        </p:nvSpPr>
        <p:spPr>
          <a:xfrm>
            <a:off x="5586840" y="1682640"/>
            <a:ext cx="20203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2233f"/>
                </a:solidFill>
                <a:latin typeface="Cambria"/>
                <a:ea typeface="Cambria"/>
              </a:rPr>
              <a:t>Multi-language compute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Text 9"/>
          <p:cNvSpPr/>
          <p:nvPr/>
        </p:nvSpPr>
        <p:spPr>
          <a:xfrm>
            <a:off x="4718160" y="2468880"/>
            <a:ext cx="2751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6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b2a3a"/>
                </a:solidFill>
                <a:latin typeface="Calibri"/>
                <a:ea typeface="Calibri"/>
              </a:rPr>
              <a:t>Python, C++, Rust, JVM, Apache Arrow, and WASM — the right tool per stage.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Shape 10"/>
          <p:cNvSpPr/>
          <p:nvPr/>
        </p:nvSpPr>
        <p:spPr>
          <a:xfrm>
            <a:off x="8156520" y="1371600"/>
            <a:ext cx="3391920" cy="178272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be3ee"/>
            </a:solidFill>
            <a:round/>
          </a:ln>
          <a:effectLst>
            <a:outerShdw algn="bl" blurRad="88920" dir="5400000" dist="38160" kx="0" ky="0" rotWithShape="0" sx="100000" sy="100000">
              <a:srgbClr val="9db0c4">
                <a:alpha val="2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Shape 11"/>
          <p:cNvSpPr/>
          <p:nvPr/>
        </p:nvSpPr>
        <p:spPr>
          <a:xfrm>
            <a:off x="8476560" y="1691640"/>
            <a:ext cx="731160" cy="731160"/>
          </a:xfrm>
          <a:prstGeom prst="ellipse">
            <a:avLst/>
          </a:prstGeom>
          <a:solidFill>
            <a:srgbClr val="0078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61" name="Image 2" descr="preencoded.png"/>
          <p:cNvPicPr/>
          <p:nvPr/>
        </p:nvPicPr>
        <p:blipFill>
          <a:blip r:embed="rId3"/>
          <a:stretch/>
        </p:blipFill>
        <p:spPr>
          <a:xfrm>
            <a:off x="8688600" y="1903680"/>
            <a:ext cx="306720" cy="306720"/>
          </a:xfrm>
          <a:prstGeom prst="rect">
            <a:avLst/>
          </a:prstGeom>
          <a:ln w="0">
            <a:noFill/>
          </a:ln>
        </p:spPr>
      </p:pic>
      <p:sp>
        <p:nvSpPr>
          <p:cNvPr id="162" name="Text 12"/>
          <p:cNvSpPr/>
          <p:nvPr/>
        </p:nvSpPr>
        <p:spPr>
          <a:xfrm>
            <a:off x="9345240" y="1682640"/>
            <a:ext cx="20203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2233f"/>
                </a:solidFill>
                <a:latin typeface="Cambria"/>
                <a:ea typeface="Cambria"/>
              </a:rPr>
              <a:t>Visual DAG Designer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Text 13"/>
          <p:cNvSpPr/>
          <p:nvPr/>
        </p:nvSpPr>
        <p:spPr>
          <a:xfrm>
            <a:off x="8476560" y="2468880"/>
            <a:ext cx="2751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6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b2a3a"/>
                </a:solidFill>
                <a:latin typeface="Calibri"/>
                <a:ea typeface="Calibri"/>
              </a:rPr>
              <a:t>Build and change pipelines in the browser. No build pipeline, no redeploy.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Shape 14"/>
          <p:cNvSpPr/>
          <p:nvPr/>
        </p:nvSpPr>
        <p:spPr>
          <a:xfrm>
            <a:off x="640080" y="3474720"/>
            <a:ext cx="3391920" cy="178272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be3ee"/>
            </a:solidFill>
            <a:round/>
          </a:ln>
          <a:effectLst>
            <a:outerShdw algn="bl" blurRad="88920" dir="5400000" dist="38160" kx="0" ky="0" rotWithShape="0" sx="100000" sy="100000">
              <a:srgbClr val="9db0c4">
                <a:alpha val="2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Shape 15"/>
          <p:cNvSpPr/>
          <p:nvPr/>
        </p:nvSpPr>
        <p:spPr>
          <a:xfrm>
            <a:off x="960120" y="3794760"/>
            <a:ext cx="731160" cy="731160"/>
          </a:xfrm>
          <a:prstGeom prst="ellipse">
            <a:avLst/>
          </a:prstGeom>
          <a:solidFill>
            <a:srgbClr val="1223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66" name="Image 3" descr="preencoded.png"/>
          <p:cNvPicPr/>
          <p:nvPr/>
        </p:nvPicPr>
        <p:blipFill>
          <a:blip r:embed="rId4"/>
          <a:stretch/>
        </p:blipFill>
        <p:spPr>
          <a:xfrm>
            <a:off x="1172160" y="4006800"/>
            <a:ext cx="306720" cy="306720"/>
          </a:xfrm>
          <a:prstGeom prst="rect">
            <a:avLst/>
          </a:prstGeom>
          <a:ln w="0">
            <a:noFill/>
          </a:ln>
        </p:spPr>
      </p:pic>
      <p:sp>
        <p:nvSpPr>
          <p:cNvPr id="167" name="Text 16"/>
          <p:cNvSpPr/>
          <p:nvPr/>
        </p:nvSpPr>
        <p:spPr>
          <a:xfrm>
            <a:off x="1828800" y="3785760"/>
            <a:ext cx="20203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2233f"/>
                </a:solidFill>
                <a:latin typeface="Cambria"/>
                <a:ea typeface="Cambria"/>
              </a:rPr>
              <a:t>Reactive engine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Text 17"/>
          <p:cNvSpPr/>
          <p:nvPr/>
        </p:nvSpPr>
        <p:spPr>
          <a:xfrm>
            <a:off x="960120" y="4572000"/>
            <a:ext cx="2751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6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b2a3a"/>
                </a:solidFill>
                <a:latin typeface="Calibri"/>
                <a:ea typeface="Calibri"/>
              </a:rPr>
              <a:t>The equality gate recomputes only on change for predictable latency.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Shape 18"/>
          <p:cNvSpPr/>
          <p:nvPr/>
        </p:nvSpPr>
        <p:spPr>
          <a:xfrm>
            <a:off x="4398120" y="3474720"/>
            <a:ext cx="3391920" cy="178272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be3ee"/>
            </a:solidFill>
            <a:round/>
          </a:ln>
          <a:effectLst>
            <a:outerShdw algn="bl" blurRad="88920" dir="5400000" dist="38160" kx="0" ky="0" rotWithShape="0" sx="100000" sy="100000">
              <a:srgbClr val="9db0c4">
                <a:alpha val="2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Shape 19"/>
          <p:cNvSpPr/>
          <p:nvPr/>
        </p:nvSpPr>
        <p:spPr>
          <a:xfrm>
            <a:off x="4718160" y="3794760"/>
            <a:ext cx="731160" cy="731160"/>
          </a:xfrm>
          <a:prstGeom prst="ellipse">
            <a:avLst/>
          </a:prstGeom>
          <a:solidFill>
            <a:srgbClr val="00a89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71" name="Image 4" descr="preencoded.png"/>
          <p:cNvPicPr/>
          <p:nvPr/>
        </p:nvPicPr>
        <p:blipFill>
          <a:blip r:embed="rId5"/>
          <a:stretch/>
        </p:blipFill>
        <p:spPr>
          <a:xfrm>
            <a:off x="4930560" y="4006800"/>
            <a:ext cx="306720" cy="306720"/>
          </a:xfrm>
          <a:prstGeom prst="rect">
            <a:avLst/>
          </a:prstGeom>
          <a:ln w="0">
            <a:noFill/>
          </a:ln>
        </p:spPr>
      </p:pic>
      <p:sp>
        <p:nvSpPr>
          <p:cNvPr id="172" name="Text 20"/>
          <p:cNvSpPr/>
          <p:nvPr/>
        </p:nvSpPr>
        <p:spPr>
          <a:xfrm>
            <a:off x="5586840" y="3785760"/>
            <a:ext cx="20203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2233f"/>
                </a:solidFill>
                <a:latin typeface="Cambria"/>
                <a:ea typeface="Cambria"/>
              </a:rPr>
              <a:t>Enterprise security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Text 21"/>
          <p:cNvSpPr/>
          <p:nvPr/>
        </p:nvSpPr>
        <p:spPr>
          <a:xfrm>
            <a:off x="4718160" y="4572000"/>
            <a:ext cx="2751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6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b2a3a"/>
                </a:solidFill>
                <a:latin typeface="Calibri"/>
                <a:ea typeface="Calibri"/>
              </a:rPr>
              <a:t>Role-based access, scoped API keys, and a full append-only audit trail.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Shape 22"/>
          <p:cNvSpPr/>
          <p:nvPr/>
        </p:nvSpPr>
        <p:spPr>
          <a:xfrm>
            <a:off x="8156520" y="3474720"/>
            <a:ext cx="3391920" cy="178272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be3ee"/>
            </a:solidFill>
            <a:round/>
          </a:ln>
          <a:effectLst>
            <a:outerShdw algn="bl" blurRad="88920" dir="5400000" dist="38160" kx="0" ky="0" rotWithShape="0" sx="100000" sy="100000">
              <a:srgbClr val="9db0c4">
                <a:alpha val="2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Shape 23"/>
          <p:cNvSpPr/>
          <p:nvPr/>
        </p:nvSpPr>
        <p:spPr>
          <a:xfrm>
            <a:off x="8476560" y="3794760"/>
            <a:ext cx="731160" cy="731160"/>
          </a:xfrm>
          <a:prstGeom prst="ellipse">
            <a:avLst/>
          </a:prstGeom>
          <a:solidFill>
            <a:srgbClr val="0078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76" name="Image 5" descr="preencoded.png"/>
          <p:cNvPicPr/>
          <p:nvPr/>
        </p:nvPicPr>
        <p:blipFill>
          <a:blip r:embed="rId6"/>
          <a:stretch/>
        </p:blipFill>
        <p:spPr>
          <a:xfrm>
            <a:off x="8688600" y="4006800"/>
            <a:ext cx="306720" cy="306720"/>
          </a:xfrm>
          <a:prstGeom prst="rect">
            <a:avLst/>
          </a:prstGeom>
          <a:ln w="0">
            <a:noFill/>
          </a:ln>
        </p:spPr>
      </p:pic>
      <p:sp>
        <p:nvSpPr>
          <p:cNvPr id="177" name="Text 24"/>
          <p:cNvSpPr/>
          <p:nvPr/>
        </p:nvSpPr>
        <p:spPr>
          <a:xfrm>
            <a:off x="9345240" y="3785760"/>
            <a:ext cx="20203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2233f"/>
                </a:solidFill>
                <a:latin typeface="Cambria"/>
                <a:ea typeface="Cambria"/>
              </a:rPr>
              <a:t>Observability &amp; control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Text 25"/>
          <p:cNvSpPr/>
          <p:nvPr/>
        </p:nvSpPr>
        <p:spPr>
          <a:xfrm>
            <a:off x="8476560" y="4572000"/>
            <a:ext cx="2751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6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b2a3a"/>
                </a:solidFill>
                <a:latin typeface="Calibri"/>
                <a:ea typeface="Calibri"/>
              </a:rPr>
              <a:t>Metrics, worker management, and safe maintenance windows out of the box.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Text 0"/>
          <p:cNvSpPr/>
          <p:nvPr/>
        </p:nvSpPr>
        <p:spPr>
          <a:xfrm>
            <a:off x="640080" y="438840"/>
            <a:ext cx="9600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900" spc="-1" strike="noStrike">
                <a:solidFill>
                  <a:srgbClr val="12233f"/>
                </a:solidFill>
                <a:latin typeface="Cambria"/>
                <a:ea typeface="Cambria"/>
              </a:rPr>
              <a:t>Connect anything, compute in any language</a:t>
            </a:r>
            <a:endParaRPr b="0" lang="en-US" sz="2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Text 1"/>
          <p:cNvSpPr/>
          <p:nvPr/>
        </p:nvSpPr>
        <p:spPr>
          <a:xfrm>
            <a:off x="10698480" y="438840"/>
            <a:ext cx="8683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00a896"/>
                </a:solidFill>
                <a:latin typeface="Cambria"/>
                <a:ea typeface="Cambria"/>
              </a:rPr>
              <a:t>07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Shape 2"/>
          <p:cNvSpPr/>
          <p:nvPr/>
        </p:nvSpPr>
        <p:spPr>
          <a:xfrm>
            <a:off x="640080" y="1371600"/>
            <a:ext cx="5257440" cy="4297320"/>
          </a:xfrm>
          <a:prstGeom prst="roundRect">
            <a:avLst>
              <a:gd name="adj" fmla="val 1277"/>
            </a:avLst>
          </a:prstGeom>
          <a:solidFill>
            <a:srgbClr val="ffffff"/>
          </a:solidFill>
          <a:ln w="12700">
            <a:solidFill>
              <a:srgbClr val="dbe3ee"/>
            </a:solidFill>
            <a:round/>
          </a:ln>
          <a:effectLst>
            <a:outerShdw algn="bl" blurRad="88920" dir="5400000" dist="38160" kx="0" ky="0" rotWithShape="0" sx="100000" sy="100000">
              <a:srgbClr val="9db0c4">
                <a:alpha val="2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Text 3"/>
          <p:cNvSpPr/>
          <p:nvPr/>
        </p:nvSpPr>
        <p:spPr>
          <a:xfrm>
            <a:off x="1005840" y="1645920"/>
            <a:ext cx="3657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00786b"/>
                </a:solidFill>
                <a:latin typeface="Cambria"/>
                <a:ea typeface="Cambria"/>
              </a:rPr>
              <a:t>Connectors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Text 4"/>
          <p:cNvSpPr/>
          <p:nvPr/>
        </p:nvSpPr>
        <p:spPr>
          <a:xfrm>
            <a:off x="1005840" y="2148840"/>
            <a:ext cx="4571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00a896"/>
                </a:solidFill>
                <a:latin typeface="Calibri"/>
                <a:ea typeface="Calibri"/>
              </a:rPr>
              <a:t>30</a:t>
            </a:r>
            <a:r>
              <a:rPr b="0" lang="en-US" sz="1500" spc="-1" strike="noStrike">
                <a:solidFill>
                  <a:srgbClr val="5c6b7a"/>
                </a:solidFill>
                <a:latin typeface="Calibri"/>
                <a:ea typeface="Calibri"/>
              </a:rPr>
              <a:t> publishers   ·   </a:t>
            </a:r>
            <a:r>
              <a:rPr b="1" lang="en-US" sz="1500" spc="-1" strike="noStrike">
                <a:solidFill>
                  <a:srgbClr val="00a896"/>
                </a:solidFill>
                <a:latin typeface="Calibri"/>
                <a:ea typeface="Calibri"/>
              </a:rPr>
              <a:t>26</a:t>
            </a:r>
            <a:r>
              <a:rPr b="0" lang="en-US" sz="1500" spc="-1" strike="noStrike">
                <a:solidFill>
                  <a:srgbClr val="5c6b7a"/>
                </a:solidFill>
                <a:latin typeface="Calibri"/>
                <a:ea typeface="Calibri"/>
              </a:rPr>
              <a:t> subscribers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Text 5"/>
          <p:cNvSpPr/>
          <p:nvPr/>
        </p:nvSpPr>
        <p:spPr>
          <a:xfrm>
            <a:off x="1097280" y="2743200"/>
            <a:ext cx="4571640" cy="27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1b2a3a"/>
              </a:buClr>
              <a:buFont typeface="OpenSymbol"/>
              <a:buChar char="▪"/>
            </a:pPr>
            <a:r>
              <a:rPr b="0" lang="en-US" sz="1300" spc="-1" strike="noStrike">
                <a:solidFill>
                  <a:srgbClr val="1b2a3a"/>
                </a:solidFill>
                <a:latin typeface="Calibri"/>
                <a:ea typeface="Calibri"/>
              </a:rPr>
              <a:t>Message brokers — Kafka (two client libraries)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1b2a3a"/>
              </a:buClr>
              <a:buFont typeface="OpenSymbol"/>
              <a:buChar char="▪"/>
            </a:pPr>
            <a:r>
              <a:rPr b="0" lang="en-US" sz="1300" spc="-1" strike="noStrike">
                <a:solidFill>
                  <a:srgbClr val="1b2a3a"/>
                </a:solidFill>
                <a:latin typeface="Calibri"/>
                <a:ea typeface="Calibri"/>
              </a:rPr>
              <a:t>Enterprise MQ — TibcoEMS, IBM WebSphere MQ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1b2a3a"/>
              </a:buClr>
              <a:buFont typeface="OpenSymbol"/>
              <a:buChar char="▪"/>
            </a:pPr>
            <a:r>
              <a:rPr b="0" lang="en-US" sz="1300" spc="-1" strike="noStrike">
                <a:solidFill>
                  <a:srgbClr val="1b2a3a"/>
                </a:solidFill>
                <a:latin typeface="Calibri"/>
                <a:ea typeface="Calibri"/>
              </a:rPr>
              <a:t>Cloud — AWS, Azure, Google Cloud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1b2a3a"/>
              </a:buClr>
              <a:buFont typeface="OpenSymbol"/>
              <a:buChar char="▪"/>
            </a:pPr>
            <a:r>
              <a:rPr b="0" lang="en-US" sz="1300" spc="-1" strike="noStrike">
                <a:solidFill>
                  <a:srgbClr val="1b2a3a"/>
                </a:solidFill>
                <a:latin typeface="Calibri"/>
                <a:ea typeface="Calibri"/>
              </a:rPr>
              <a:t>Data stores — SQL, LMDB, in-memory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1b2a3a"/>
              </a:buClr>
              <a:buFont typeface="OpenSymbol"/>
              <a:buChar char="▪"/>
            </a:pPr>
            <a:r>
              <a:rPr b="0" lang="en-US" sz="1300" spc="-1" strike="noStrike">
                <a:solidFill>
                  <a:srgbClr val="1b2a3a"/>
                </a:solidFill>
                <a:latin typeface="Calibri"/>
                <a:ea typeface="Calibri"/>
              </a:rPr>
              <a:t>Network — REST/HTTP, WebSocket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Shape 6"/>
          <p:cNvSpPr/>
          <p:nvPr/>
        </p:nvSpPr>
        <p:spPr>
          <a:xfrm>
            <a:off x="6291000" y="1371600"/>
            <a:ext cx="5257440" cy="4297320"/>
          </a:xfrm>
          <a:prstGeom prst="roundRect">
            <a:avLst>
              <a:gd name="adj" fmla="val 1277"/>
            </a:avLst>
          </a:prstGeom>
          <a:solidFill>
            <a:srgbClr val="ffffff"/>
          </a:solidFill>
          <a:ln w="12700">
            <a:solidFill>
              <a:srgbClr val="dbe3ee"/>
            </a:solidFill>
            <a:round/>
          </a:ln>
          <a:effectLst>
            <a:outerShdw algn="bl" blurRad="88920" dir="5400000" dist="38160" kx="0" ky="0" rotWithShape="0" sx="100000" sy="100000">
              <a:srgbClr val="9db0c4">
                <a:alpha val="2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Text 7"/>
          <p:cNvSpPr/>
          <p:nvPr/>
        </p:nvSpPr>
        <p:spPr>
          <a:xfrm>
            <a:off x="6656760" y="1645920"/>
            <a:ext cx="3657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00786b"/>
                </a:solidFill>
                <a:latin typeface="Cambria"/>
                <a:ea typeface="Cambria"/>
              </a:rPr>
              <a:t>Calculators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Text 8"/>
          <p:cNvSpPr/>
          <p:nvPr/>
        </p:nvSpPr>
        <p:spPr>
          <a:xfrm>
            <a:off x="6656760" y="2148840"/>
            <a:ext cx="4571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00a896"/>
                </a:solidFill>
                <a:latin typeface="Calibri"/>
                <a:ea typeface="Calibri"/>
              </a:rPr>
              <a:t>6</a:t>
            </a:r>
            <a:r>
              <a:rPr b="0" lang="en-US" sz="1500" spc="-1" strike="noStrike">
                <a:solidFill>
                  <a:srgbClr val="5c6b7a"/>
                </a:solidFill>
                <a:latin typeface="Calibri"/>
                <a:ea typeface="Calibri"/>
              </a:rPr>
              <a:t> languages, one consistent interface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Text 9"/>
          <p:cNvSpPr/>
          <p:nvPr/>
        </p:nvSpPr>
        <p:spPr>
          <a:xfrm>
            <a:off x="6748200" y="2743200"/>
            <a:ext cx="4571640" cy="27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1b2a3a"/>
              </a:buClr>
              <a:buFont typeface="OpenSymbol"/>
              <a:buChar char="▪"/>
            </a:pPr>
            <a:r>
              <a:rPr b="0" lang="en-US" sz="1300" spc="-1" strike="noStrike">
                <a:solidFill>
                  <a:srgbClr val="1b2a3a"/>
                </a:solidFill>
                <a:latin typeface="Calibri"/>
                <a:ea typeface="Calibri"/>
              </a:rPr>
              <a:t>Python — fast to author; business &amp; analytics logic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1b2a3a"/>
              </a:buClr>
              <a:buFont typeface="OpenSymbol"/>
              <a:buChar char="▪"/>
            </a:pPr>
            <a:r>
              <a:rPr b="0" lang="en-US" sz="1300" spc="-1" strike="noStrike">
                <a:solidFill>
                  <a:srgbClr val="1b2a3a"/>
                </a:solidFill>
                <a:latin typeface="Calibri"/>
                <a:ea typeface="Calibri"/>
              </a:rPr>
              <a:t>C++ / Rust — native performance for hot paths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1b2a3a"/>
              </a:buClr>
              <a:buFont typeface="OpenSymbol"/>
              <a:buChar char="▪"/>
            </a:pPr>
            <a:r>
              <a:rPr b="0" lang="en-US" sz="1300" spc="-1" strike="noStrike">
                <a:solidFill>
                  <a:srgbClr val="1b2a3a"/>
                </a:solidFill>
                <a:latin typeface="Calibri"/>
                <a:ea typeface="Calibri"/>
              </a:rPr>
              <a:t>JVM — reuse existing Java / Scala / Kotlin libraries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1b2a3a"/>
              </a:buClr>
              <a:buFont typeface="OpenSymbol"/>
              <a:buChar char="▪"/>
            </a:pPr>
            <a:r>
              <a:rPr b="0" lang="en-US" sz="1300" spc="-1" strike="noStrike">
                <a:solidFill>
                  <a:srgbClr val="1b2a3a"/>
                </a:solidFill>
                <a:latin typeface="Calibri"/>
                <a:ea typeface="Calibri"/>
              </a:rPr>
              <a:t>Apache Arrow — columnar, vectorized throughput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1b2a3a"/>
              </a:buClr>
              <a:buFont typeface="OpenSymbol"/>
              <a:buChar char="▪"/>
            </a:pPr>
            <a:r>
              <a:rPr b="0" lang="en-US" sz="1300" spc="-1" strike="noStrike">
                <a:solidFill>
                  <a:srgbClr val="1b2a3a"/>
                </a:solidFill>
                <a:latin typeface="Calibri"/>
                <a:ea typeface="Calibri"/>
              </a:rPr>
              <a:t>WASM — portable, sandboxed compute modules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Text 10"/>
          <p:cNvSpPr/>
          <p:nvPr/>
        </p:nvSpPr>
        <p:spPr>
          <a:xfrm>
            <a:off x="640080" y="5852160"/>
            <a:ext cx="10908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50" spc="-1" strike="noStrike">
                <a:solidFill>
                  <a:srgbClr val="7a8794"/>
                </a:solidFill>
                <a:latin typeface="Calibri"/>
                <a:ea typeface="Calibri"/>
              </a:rPr>
              <a:t>One uniform contract — any source can feed any calculator and reach any sink.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Text 0"/>
          <p:cNvSpPr/>
          <p:nvPr/>
        </p:nvSpPr>
        <p:spPr>
          <a:xfrm>
            <a:off x="640080" y="438840"/>
            <a:ext cx="9600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900" spc="-1" strike="noStrike">
                <a:solidFill>
                  <a:srgbClr val="12233f"/>
                </a:solidFill>
                <a:latin typeface="Cambria"/>
                <a:ea typeface="Cambria"/>
              </a:rPr>
              <a:t>Performance &amp; efficiency</a:t>
            </a:r>
            <a:endParaRPr b="0" lang="en-US" sz="2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Text 1"/>
          <p:cNvSpPr/>
          <p:nvPr/>
        </p:nvSpPr>
        <p:spPr>
          <a:xfrm>
            <a:off x="10698480" y="438840"/>
            <a:ext cx="8683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00a896"/>
                </a:solidFill>
                <a:latin typeface="Cambria"/>
                <a:ea typeface="Cambria"/>
              </a:rPr>
              <a:t>08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Text 2"/>
          <p:cNvSpPr/>
          <p:nvPr/>
        </p:nvSpPr>
        <p:spPr>
          <a:xfrm>
            <a:off x="640080" y="1325880"/>
            <a:ext cx="109083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50" spc="-1" strike="noStrike">
                <a:solidFill>
                  <a:srgbClr val="5c6b7a"/>
                </a:solidFill>
                <a:latin typeface="Calibri"/>
                <a:ea typeface="Calibri"/>
              </a:rPr>
              <a:t>Same pipeline, three execution lanes — choose throughput where it matters.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93" name="Chart 0"/>
          <p:cNvGraphicFramePr/>
          <p:nvPr/>
        </p:nvGraphicFramePr>
        <p:xfrm>
          <a:off x="640080" y="1828800"/>
          <a:ext cx="6400440" cy="4114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94" name="Shape 3"/>
          <p:cNvSpPr/>
          <p:nvPr/>
        </p:nvSpPr>
        <p:spPr>
          <a:xfrm>
            <a:off x="7315200" y="1920240"/>
            <a:ext cx="4233240" cy="12340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be3ee"/>
            </a:solidFill>
            <a:round/>
          </a:ln>
          <a:effectLst>
            <a:outerShdw algn="bl" blurRad="88920" dir="5400000" dist="38160" kx="0" ky="0" rotWithShape="0" sx="100000" sy="100000">
              <a:srgbClr val="9db0c4">
                <a:alpha val="2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Text 4"/>
          <p:cNvSpPr/>
          <p:nvPr/>
        </p:nvSpPr>
        <p:spPr>
          <a:xfrm>
            <a:off x="7589520" y="2066400"/>
            <a:ext cx="3684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00a896"/>
                </a:solidFill>
                <a:latin typeface="Cambria"/>
                <a:ea typeface="Cambria"/>
              </a:rPr>
              <a:t>7.4×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Text 5"/>
          <p:cNvSpPr/>
          <p:nvPr/>
        </p:nvSpPr>
        <p:spPr>
          <a:xfrm>
            <a:off x="7589520" y="2633400"/>
            <a:ext cx="3684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b2a3a"/>
                </a:solidFill>
                <a:latin typeface="Calibri"/>
                <a:ea typeface="Calibri"/>
              </a:rPr>
              <a:t>faster with the Arrow lane vs. the baseline row lane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Shape 6"/>
          <p:cNvSpPr/>
          <p:nvPr/>
        </p:nvSpPr>
        <p:spPr>
          <a:xfrm>
            <a:off x="7315200" y="3291840"/>
            <a:ext cx="4233240" cy="12340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be3ee"/>
            </a:solidFill>
            <a:round/>
          </a:ln>
          <a:effectLst>
            <a:outerShdw algn="bl" blurRad="88920" dir="5400000" dist="38160" kx="0" ky="0" rotWithShape="0" sx="100000" sy="100000">
              <a:srgbClr val="9db0c4">
                <a:alpha val="2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Text 7"/>
          <p:cNvSpPr/>
          <p:nvPr/>
        </p:nvSpPr>
        <p:spPr>
          <a:xfrm>
            <a:off x="7589520" y="3438000"/>
            <a:ext cx="3684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00a896"/>
                </a:solidFill>
                <a:latin typeface="Cambria"/>
                <a:ea typeface="Cambria"/>
              </a:rPr>
              <a:t>Single node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Text 8"/>
          <p:cNvSpPr/>
          <p:nvPr/>
        </p:nvSpPr>
        <p:spPr>
          <a:xfrm>
            <a:off x="7589520" y="4005000"/>
            <a:ext cx="3684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b2a3a"/>
                </a:solidFill>
                <a:latin typeface="Calibri"/>
                <a:ea typeface="Calibri"/>
              </a:rPr>
              <a:t>in-process engine — fewer moving parts, lower footprint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Shape 9"/>
          <p:cNvSpPr/>
          <p:nvPr/>
        </p:nvSpPr>
        <p:spPr>
          <a:xfrm>
            <a:off x="7315200" y="4663440"/>
            <a:ext cx="4233240" cy="12340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be3ee"/>
            </a:solidFill>
            <a:round/>
          </a:ln>
          <a:effectLst>
            <a:outerShdw algn="bl" blurRad="88920" dir="5400000" dist="38160" kx="0" ky="0" rotWithShape="0" sx="100000" sy="100000">
              <a:srgbClr val="9db0c4">
                <a:alpha val="2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Text 10"/>
          <p:cNvSpPr/>
          <p:nvPr/>
        </p:nvSpPr>
        <p:spPr>
          <a:xfrm>
            <a:off x="7589520" y="4809600"/>
            <a:ext cx="3684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00a896"/>
                </a:solidFill>
                <a:latin typeface="Cambria"/>
                <a:ea typeface="Cambria"/>
              </a:rPr>
              <a:t>Bit-for-bit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Text 11"/>
          <p:cNvSpPr/>
          <p:nvPr/>
        </p:nvSpPr>
        <p:spPr>
          <a:xfrm>
            <a:off x="7589520" y="5376600"/>
            <a:ext cx="3684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b2a3a"/>
                </a:solidFill>
                <a:latin typeface="Calibri"/>
                <a:ea typeface="Calibri"/>
              </a:rPr>
              <a:t>identical results across all three lanes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Text 0"/>
          <p:cNvSpPr/>
          <p:nvPr/>
        </p:nvSpPr>
        <p:spPr>
          <a:xfrm>
            <a:off x="640080" y="438840"/>
            <a:ext cx="9600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900" spc="-1" strike="noStrike">
                <a:solidFill>
                  <a:srgbClr val="12233f"/>
                </a:solidFill>
                <a:latin typeface="Cambria"/>
                <a:ea typeface="Cambria"/>
              </a:rPr>
              <a:t>Enterprise security &amp; governance</a:t>
            </a:r>
            <a:endParaRPr b="0" lang="en-US" sz="2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Text 1"/>
          <p:cNvSpPr/>
          <p:nvPr/>
        </p:nvSpPr>
        <p:spPr>
          <a:xfrm>
            <a:off x="10698480" y="438840"/>
            <a:ext cx="8683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00a896"/>
                </a:solidFill>
                <a:latin typeface="Cambria"/>
                <a:ea typeface="Cambria"/>
              </a:rPr>
              <a:t>09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Text 2"/>
          <p:cNvSpPr/>
          <p:nvPr/>
        </p:nvSpPr>
        <p:spPr>
          <a:xfrm>
            <a:off x="640080" y="1325880"/>
            <a:ext cx="109083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50" spc="-1" strike="noStrike">
                <a:solidFill>
                  <a:srgbClr val="5c6b7a"/>
                </a:solidFill>
                <a:latin typeface="Calibri"/>
                <a:ea typeface="Calibri"/>
              </a:rPr>
              <a:t>Control who does what, prove what happened, and operate without data loss.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Shape 3"/>
          <p:cNvSpPr/>
          <p:nvPr/>
        </p:nvSpPr>
        <p:spPr>
          <a:xfrm>
            <a:off x="640080" y="1828800"/>
            <a:ext cx="5271120" cy="1371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be3ee"/>
            </a:solidFill>
            <a:round/>
          </a:ln>
          <a:effectLst>
            <a:outerShdw algn="bl" blurRad="88920" dir="5400000" dist="38160" kx="0" ky="0" rotWithShape="0" sx="100000" sy="100000">
              <a:srgbClr val="9db0c4">
                <a:alpha val="2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Shape 4"/>
          <p:cNvSpPr/>
          <p:nvPr/>
        </p:nvSpPr>
        <p:spPr>
          <a:xfrm>
            <a:off x="932760" y="2194560"/>
            <a:ext cx="639720" cy="639720"/>
          </a:xfrm>
          <a:prstGeom prst="ellipse">
            <a:avLst/>
          </a:prstGeom>
          <a:solidFill>
            <a:srgbClr val="00a89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08" name="Image 0" descr="preencoded.png"/>
          <p:cNvPicPr/>
          <p:nvPr/>
        </p:nvPicPr>
        <p:blipFill>
          <a:blip r:embed="rId1"/>
          <a:stretch/>
        </p:blipFill>
        <p:spPr>
          <a:xfrm>
            <a:off x="1118160" y="2380320"/>
            <a:ext cx="268560" cy="268560"/>
          </a:xfrm>
          <a:prstGeom prst="rect">
            <a:avLst/>
          </a:prstGeom>
          <a:ln w="0">
            <a:noFill/>
          </a:ln>
        </p:spPr>
      </p:pic>
      <p:sp>
        <p:nvSpPr>
          <p:cNvPr id="209" name="Text 5"/>
          <p:cNvSpPr/>
          <p:nvPr/>
        </p:nvSpPr>
        <p:spPr>
          <a:xfrm>
            <a:off x="1737360" y="2030040"/>
            <a:ext cx="39909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50" spc="-1" strike="noStrike">
                <a:solidFill>
                  <a:srgbClr val="12233f"/>
                </a:solidFill>
                <a:latin typeface="Cambria"/>
                <a:ea typeface="Cambria"/>
              </a:rPr>
              <a:t>Role-based access control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Text 6"/>
          <p:cNvSpPr/>
          <p:nvPr/>
        </p:nvSpPr>
        <p:spPr>
          <a:xfrm>
            <a:off x="1737360" y="2432160"/>
            <a:ext cx="39452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b2a3a"/>
                </a:solidFill>
                <a:latin typeface="Calibri"/>
                <a:ea typeface="Calibri"/>
              </a:rPr>
              <a:t>Users and roles gate every administrative action.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Shape 7"/>
          <p:cNvSpPr/>
          <p:nvPr/>
        </p:nvSpPr>
        <p:spPr>
          <a:xfrm>
            <a:off x="6277320" y="1828800"/>
            <a:ext cx="5271120" cy="1371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be3ee"/>
            </a:solidFill>
            <a:round/>
          </a:ln>
          <a:effectLst>
            <a:outerShdw algn="bl" blurRad="88920" dir="5400000" dist="38160" kx="0" ky="0" rotWithShape="0" sx="100000" sy="100000">
              <a:srgbClr val="9db0c4">
                <a:alpha val="2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Shape 8"/>
          <p:cNvSpPr/>
          <p:nvPr/>
        </p:nvSpPr>
        <p:spPr>
          <a:xfrm>
            <a:off x="6570000" y="2194560"/>
            <a:ext cx="639720" cy="639720"/>
          </a:xfrm>
          <a:prstGeom prst="ellipse">
            <a:avLst/>
          </a:prstGeom>
          <a:solidFill>
            <a:srgbClr val="1223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13" name="Image 1" descr="preencoded.png"/>
          <p:cNvPicPr/>
          <p:nvPr/>
        </p:nvPicPr>
        <p:blipFill>
          <a:blip r:embed="rId2"/>
          <a:stretch/>
        </p:blipFill>
        <p:spPr>
          <a:xfrm>
            <a:off x="6755760" y="2380320"/>
            <a:ext cx="268560" cy="268560"/>
          </a:xfrm>
          <a:prstGeom prst="rect">
            <a:avLst/>
          </a:prstGeom>
          <a:ln w="0">
            <a:noFill/>
          </a:ln>
        </p:spPr>
      </p:pic>
      <p:sp>
        <p:nvSpPr>
          <p:cNvPr id="214" name="Text 9"/>
          <p:cNvSpPr/>
          <p:nvPr/>
        </p:nvSpPr>
        <p:spPr>
          <a:xfrm>
            <a:off x="7374600" y="2030040"/>
            <a:ext cx="39909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50" spc="-1" strike="noStrike">
                <a:solidFill>
                  <a:srgbClr val="12233f"/>
                </a:solidFill>
                <a:latin typeface="Cambria"/>
                <a:ea typeface="Cambria"/>
              </a:rPr>
              <a:t>API-key authentication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Text 10"/>
          <p:cNvSpPr/>
          <p:nvPr/>
        </p:nvSpPr>
        <p:spPr>
          <a:xfrm>
            <a:off x="7374600" y="2432160"/>
            <a:ext cx="39452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b2a3a"/>
                </a:solidFill>
                <a:latin typeface="Calibri"/>
                <a:ea typeface="Calibri"/>
              </a:rPr>
              <a:t>Scoped, revocable keys for automation — no shared passwords.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Shape 11"/>
          <p:cNvSpPr/>
          <p:nvPr/>
        </p:nvSpPr>
        <p:spPr>
          <a:xfrm>
            <a:off x="640080" y="3474720"/>
            <a:ext cx="5271120" cy="1371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be3ee"/>
            </a:solidFill>
            <a:round/>
          </a:ln>
          <a:effectLst>
            <a:outerShdw algn="bl" blurRad="88920" dir="5400000" dist="38160" kx="0" ky="0" rotWithShape="0" sx="100000" sy="100000">
              <a:srgbClr val="9db0c4">
                <a:alpha val="2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Shape 12"/>
          <p:cNvSpPr/>
          <p:nvPr/>
        </p:nvSpPr>
        <p:spPr>
          <a:xfrm>
            <a:off x="932760" y="3840480"/>
            <a:ext cx="639720" cy="639720"/>
          </a:xfrm>
          <a:prstGeom prst="ellipse">
            <a:avLst/>
          </a:prstGeom>
          <a:solidFill>
            <a:srgbClr val="00a89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18" name="Image 2" descr="preencoded.png"/>
          <p:cNvPicPr/>
          <p:nvPr/>
        </p:nvPicPr>
        <p:blipFill>
          <a:blip r:embed="rId3"/>
          <a:stretch/>
        </p:blipFill>
        <p:spPr>
          <a:xfrm>
            <a:off x="1118160" y="4026240"/>
            <a:ext cx="268560" cy="268560"/>
          </a:xfrm>
          <a:prstGeom prst="rect">
            <a:avLst/>
          </a:prstGeom>
          <a:ln w="0">
            <a:noFill/>
          </a:ln>
        </p:spPr>
      </p:pic>
      <p:sp>
        <p:nvSpPr>
          <p:cNvPr id="219" name="Text 13"/>
          <p:cNvSpPr/>
          <p:nvPr/>
        </p:nvSpPr>
        <p:spPr>
          <a:xfrm>
            <a:off x="1737360" y="3675960"/>
            <a:ext cx="39909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50" spc="-1" strike="noStrike">
                <a:solidFill>
                  <a:srgbClr val="12233f"/>
                </a:solidFill>
                <a:latin typeface="Cambria"/>
                <a:ea typeface="Cambria"/>
              </a:rPr>
              <a:t>Append-only audit trail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Text 14"/>
          <p:cNvSpPr/>
          <p:nvPr/>
        </p:nvSpPr>
        <p:spPr>
          <a:xfrm>
            <a:off x="1737360" y="4078080"/>
            <a:ext cx="39452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b2a3a"/>
                </a:solidFill>
                <a:latin typeface="Calibri"/>
                <a:ea typeface="Calibri"/>
              </a:rPr>
              <a:t>Who did what, when, and from where — with automatic retention.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Shape 15"/>
          <p:cNvSpPr/>
          <p:nvPr/>
        </p:nvSpPr>
        <p:spPr>
          <a:xfrm>
            <a:off x="6277320" y="3474720"/>
            <a:ext cx="5271120" cy="1371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be3ee"/>
            </a:solidFill>
            <a:round/>
          </a:ln>
          <a:effectLst>
            <a:outerShdw algn="bl" blurRad="88920" dir="5400000" dist="38160" kx="0" ky="0" rotWithShape="0" sx="100000" sy="100000">
              <a:srgbClr val="9db0c4">
                <a:alpha val="2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Shape 16"/>
          <p:cNvSpPr/>
          <p:nvPr/>
        </p:nvSpPr>
        <p:spPr>
          <a:xfrm>
            <a:off x="6570000" y="3840480"/>
            <a:ext cx="639720" cy="639720"/>
          </a:xfrm>
          <a:prstGeom prst="ellipse">
            <a:avLst/>
          </a:prstGeom>
          <a:solidFill>
            <a:srgbClr val="1223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23" name="Image 3" descr="preencoded.png"/>
          <p:cNvPicPr/>
          <p:nvPr/>
        </p:nvPicPr>
        <p:blipFill>
          <a:blip r:embed="rId4"/>
          <a:stretch/>
        </p:blipFill>
        <p:spPr>
          <a:xfrm>
            <a:off x="6755760" y="4026240"/>
            <a:ext cx="268560" cy="268560"/>
          </a:xfrm>
          <a:prstGeom prst="rect">
            <a:avLst/>
          </a:prstGeom>
          <a:ln w="0">
            <a:noFill/>
          </a:ln>
        </p:spPr>
      </p:pic>
      <p:sp>
        <p:nvSpPr>
          <p:cNvPr id="224" name="Text 17"/>
          <p:cNvSpPr/>
          <p:nvPr/>
        </p:nvSpPr>
        <p:spPr>
          <a:xfrm>
            <a:off x="7374600" y="3675960"/>
            <a:ext cx="39909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50" spc="-1" strike="noStrike">
                <a:solidFill>
                  <a:srgbClr val="12233f"/>
                </a:solidFill>
                <a:latin typeface="Cambria"/>
                <a:ea typeface="Cambria"/>
              </a:rPr>
              <a:t>Maintenance &amp; drain windows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Text 18"/>
          <p:cNvSpPr/>
          <p:nvPr/>
        </p:nvSpPr>
        <p:spPr>
          <a:xfrm>
            <a:off x="7374600" y="4078080"/>
            <a:ext cx="39452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b2a3a"/>
                </a:solidFill>
                <a:latin typeface="Calibri"/>
                <a:ea typeface="Calibri"/>
              </a:rPr>
              <a:t>Freeze and drain pipelines for safe, zero-loss operations.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Shape 19"/>
          <p:cNvSpPr/>
          <p:nvPr/>
        </p:nvSpPr>
        <p:spPr>
          <a:xfrm>
            <a:off x="640080" y="5120640"/>
            <a:ext cx="5271120" cy="1371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be3ee"/>
            </a:solidFill>
            <a:round/>
          </a:ln>
          <a:effectLst>
            <a:outerShdw algn="bl" blurRad="88920" dir="5400000" dist="38160" kx="0" ky="0" rotWithShape="0" sx="100000" sy="100000">
              <a:srgbClr val="9db0c4">
                <a:alpha val="2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Shape 20"/>
          <p:cNvSpPr/>
          <p:nvPr/>
        </p:nvSpPr>
        <p:spPr>
          <a:xfrm>
            <a:off x="932760" y="5486400"/>
            <a:ext cx="639720" cy="639720"/>
          </a:xfrm>
          <a:prstGeom prst="ellipse">
            <a:avLst/>
          </a:prstGeom>
          <a:solidFill>
            <a:srgbClr val="00a89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28" name="Image 4" descr="preencoded.png"/>
          <p:cNvPicPr/>
          <p:nvPr/>
        </p:nvPicPr>
        <p:blipFill>
          <a:blip r:embed="rId5"/>
          <a:stretch/>
        </p:blipFill>
        <p:spPr>
          <a:xfrm>
            <a:off x="1118160" y="5672160"/>
            <a:ext cx="268560" cy="268560"/>
          </a:xfrm>
          <a:prstGeom prst="rect">
            <a:avLst/>
          </a:prstGeom>
          <a:ln w="0">
            <a:noFill/>
          </a:ln>
        </p:spPr>
      </p:pic>
      <p:sp>
        <p:nvSpPr>
          <p:cNvPr id="229" name="Text 21"/>
          <p:cNvSpPr/>
          <p:nvPr/>
        </p:nvSpPr>
        <p:spPr>
          <a:xfrm>
            <a:off x="1737360" y="5321880"/>
            <a:ext cx="39909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50" spc="-1" strike="noStrike">
                <a:solidFill>
                  <a:srgbClr val="12233f"/>
                </a:solidFill>
                <a:latin typeface="Cambria"/>
                <a:ea typeface="Cambria"/>
              </a:rPr>
              <a:t>Durable delivery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Text 22"/>
          <p:cNvSpPr/>
          <p:nvPr/>
        </p:nvSpPr>
        <p:spPr>
          <a:xfrm>
            <a:off x="1737360" y="5724000"/>
            <a:ext cx="39452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b2a3a"/>
                </a:solidFill>
                <a:latin typeface="Calibri"/>
                <a:ea typeface="Calibri"/>
              </a:rPr>
              <a:t>Write-ahead-log–backed egress protects in-flight results.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Shape 23"/>
          <p:cNvSpPr/>
          <p:nvPr/>
        </p:nvSpPr>
        <p:spPr>
          <a:xfrm>
            <a:off x="6277320" y="5120640"/>
            <a:ext cx="5271120" cy="1371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be3ee"/>
            </a:solidFill>
            <a:round/>
          </a:ln>
          <a:effectLst>
            <a:outerShdw algn="bl" blurRad="88920" dir="5400000" dist="38160" kx="0" ky="0" rotWithShape="0" sx="100000" sy="100000">
              <a:srgbClr val="9db0c4">
                <a:alpha val="2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Shape 24"/>
          <p:cNvSpPr/>
          <p:nvPr/>
        </p:nvSpPr>
        <p:spPr>
          <a:xfrm>
            <a:off x="6570000" y="5486400"/>
            <a:ext cx="639720" cy="639720"/>
          </a:xfrm>
          <a:prstGeom prst="ellipse">
            <a:avLst/>
          </a:prstGeom>
          <a:solidFill>
            <a:srgbClr val="1223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33" name="Image 5" descr="preencoded.png"/>
          <p:cNvPicPr/>
          <p:nvPr/>
        </p:nvPicPr>
        <p:blipFill>
          <a:blip r:embed="rId6"/>
          <a:stretch/>
        </p:blipFill>
        <p:spPr>
          <a:xfrm>
            <a:off x="6755760" y="5672160"/>
            <a:ext cx="268560" cy="268560"/>
          </a:xfrm>
          <a:prstGeom prst="rect">
            <a:avLst/>
          </a:prstGeom>
          <a:ln w="0">
            <a:noFill/>
          </a:ln>
        </p:spPr>
      </p:pic>
      <p:sp>
        <p:nvSpPr>
          <p:cNvPr id="234" name="Text 25"/>
          <p:cNvSpPr/>
          <p:nvPr/>
        </p:nvSpPr>
        <p:spPr>
          <a:xfrm>
            <a:off x="7374600" y="5321880"/>
            <a:ext cx="39909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50" spc="-1" strike="noStrike">
                <a:solidFill>
                  <a:srgbClr val="12233f"/>
                </a:solidFill>
                <a:latin typeface="Cambria"/>
                <a:ea typeface="Cambria"/>
              </a:rPr>
              <a:t>Operational visibility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Text 26"/>
          <p:cNvSpPr/>
          <p:nvPr/>
        </p:nvSpPr>
        <p:spPr>
          <a:xfrm>
            <a:off x="7374600" y="5724000"/>
            <a:ext cx="39452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b2a3a"/>
                </a:solidFill>
                <a:latin typeface="Calibri"/>
                <a:ea typeface="Calibri"/>
              </a:rPr>
              <a:t>Live metrics and worker controls for day-2 operations.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Text 0"/>
          <p:cNvSpPr/>
          <p:nvPr/>
        </p:nvSpPr>
        <p:spPr>
          <a:xfrm>
            <a:off x="640080" y="438840"/>
            <a:ext cx="9600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900" spc="-1" strike="noStrike">
                <a:solidFill>
                  <a:srgbClr val="12233f"/>
                </a:solidFill>
                <a:latin typeface="Cambria"/>
                <a:ea typeface="Cambria"/>
              </a:rPr>
              <a:t>Where it delivers</a:t>
            </a:r>
            <a:endParaRPr b="0" lang="en-US" sz="2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Text 1"/>
          <p:cNvSpPr/>
          <p:nvPr/>
        </p:nvSpPr>
        <p:spPr>
          <a:xfrm>
            <a:off x="10698480" y="438840"/>
            <a:ext cx="8683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00a896"/>
                </a:solidFill>
                <a:latin typeface="Cambria"/>
                <a:ea typeface="Cambria"/>
              </a:rPr>
              <a:t>10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Shape 2"/>
          <p:cNvSpPr/>
          <p:nvPr/>
        </p:nvSpPr>
        <p:spPr>
          <a:xfrm>
            <a:off x="640080" y="1417320"/>
            <a:ext cx="5271120" cy="20113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be3ee"/>
            </a:solidFill>
            <a:round/>
          </a:ln>
          <a:effectLst>
            <a:outerShdw algn="bl" blurRad="88920" dir="5400000" dist="38160" kx="0" ky="0" rotWithShape="0" sx="100000" sy="100000">
              <a:srgbClr val="9db0c4">
                <a:alpha val="2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Shape 3"/>
          <p:cNvSpPr/>
          <p:nvPr/>
        </p:nvSpPr>
        <p:spPr>
          <a:xfrm>
            <a:off x="1005840" y="1783080"/>
            <a:ext cx="822600" cy="822600"/>
          </a:xfrm>
          <a:prstGeom prst="ellipse">
            <a:avLst/>
          </a:prstGeom>
          <a:solidFill>
            <a:srgbClr val="00a89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40" name="Image 0" descr="preencoded.png"/>
          <p:cNvPicPr/>
          <p:nvPr/>
        </p:nvPicPr>
        <p:blipFill>
          <a:blip r:embed="rId1"/>
          <a:stretch/>
        </p:blipFill>
        <p:spPr>
          <a:xfrm>
            <a:off x="1244520" y="2021760"/>
            <a:ext cx="345240" cy="345240"/>
          </a:xfrm>
          <a:prstGeom prst="rect">
            <a:avLst/>
          </a:prstGeom>
          <a:ln w="0">
            <a:noFill/>
          </a:ln>
        </p:spPr>
      </p:pic>
      <p:sp>
        <p:nvSpPr>
          <p:cNvPr id="241" name="Text 4"/>
          <p:cNvSpPr/>
          <p:nvPr/>
        </p:nvSpPr>
        <p:spPr>
          <a:xfrm>
            <a:off x="2011680" y="1801440"/>
            <a:ext cx="36252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2233f"/>
                </a:solidFill>
                <a:latin typeface="Cambria"/>
                <a:ea typeface="Cambria"/>
              </a:rPr>
              <a:t>Real-time trade ETL &amp; risk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Text 5"/>
          <p:cNvSpPr/>
          <p:nvPr/>
        </p:nvSpPr>
        <p:spPr>
          <a:xfrm>
            <a:off x="1005840" y="2651760"/>
            <a:ext cx="45396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b2a3a"/>
                </a:solidFill>
                <a:latin typeface="Calibri"/>
                <a:ea typeface="Calibri"/>
              </a:rPr>
              <a:t>Validate, enrich, value, and risk-score trades as they arrive — the same logic scaled by lane.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Shape 6"/>
          <p:cNvSpPr/>
          <p:nvPr/>
        </p:nvSpPr>
        <p:spPr>
          <a:xfrm>
            <a:off x="6277320" y="1417320"/>
            <a:ext cx="5271120" cy="20113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be3ee"/>
            </a:solidFill>
            <a:round/>
          </a:ln>
          <a:effectLst>
            <a:outerShdw algn="bl" blurRad="88920" dir="5400000" dist="38160" kx="0" ky="0" rotWithShape="0" sx="100000" sy="100000">
              <a:srgbClr val="9db0c4">
                <a:alpha val="2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Shape 7"/>
          <p:cNvSpPr/>
          <p:nvPr/>
        </p:nvSpPr>
        <p:spPr>
          <a:xfrm>
            <a:off x="6643080" y="1783080"/>
            <a:ext cx="822600" cy="822600"/>
          </a:xfrm>
          <a:prstGeom prst="ellipse">
            <a:avLst/>
          </a:prstGeom>
          <a:solidFill>
            <a:srgbClr val="1223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45" name="Image 1" descr="preencoded.png"/>
          <p:cNvPicPr/>
          <p:nvPr/>
        </p:nvPicPr>
        <p:blipFill>
          <a:blip r:embed="rId2"/>
          <a:stretch/>
        </p:blipFill>
        <p:spPr>
          <a:xfrm>
            <a:off x="6881760" y="2021760"/>
            <a:ext cx="345240" cy="345240"/>
          </a:xfrm>
          <a:prstGeom prst="rect">
            <a:avLst/>
          </a:prstGeom>
          <a:ln w="0">
            <a:noFill/>
          </a:ln>
        </p:spPr>
      </p:pic>
      <p:sp>
        <p:nvSpPr>
          <p:cNvPr id="246" name="Text 8"/>
          <p:cNvSpPr/>
          <p:nvPr/>
        </p:nvSpPr>
        <p:spPr>
          <a:xfrm>
            <a:off x="7648920" y="1801440"/>
            <a:ext cx="36252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2233f"/>
                </a:solidFill>
                <a:latin typeface="Cambria"/>
                <a:ea typeface="Cambria"/>
              </a:rPr>
              <a:t>Streaming enrichment &amp; normalization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Text 9"/>
          <p:cNvSpPr/>
          <p:nvPr/>
        </p:nvSpPr>
        <p:spPr>
          <a:xfrm>
            <a:off x="6643080" y="2651760"/>
            <a:ext cx="45396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b2a3a"/>
                </a:solidFill>
                <a:latin typeface="Calibri"/>
                <a:ea typeface="Calibri"/>
              </a:rPr>
              <a:t>Turn heterogeneous inbound events into clean, standardized records downstream systems trust.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Shape 10"/>
          <p:cNvSpPr/>
          <p:nvPr/>
        </p:nvSpPr>
        <p:spPr>
          <a:xfrm>
            <a:off x="640080" y="3749040"/>
            <a:ext cx="5271120" cy="20113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be3ee"/>
            </a:solidFill>
            <a:round/>
          </a:ln>
          <a:effectLst>
            <a:outerShdw algn="bl" blurRad="88920" dir="5400000" dist="38160" kx="0" ky="0" rotWithShape="0" sx="100000" sy="100000">
              <a:srgbClr val="9db0c4">
                <a:alpha val="2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Shape 11"/>
          <p:cNvSpPr/>
          <p:nvPr/>
        </p:nvSpPr>
        <p:spPr>
          <a:xfrm>
            <a:off x="1005840" y="4114800"/>
            <a:ext cx="822600" cy="822600"/>
          </a:xfrm>
          <a:prstGeom prst="ellipse">
            <a:avLst/>
          </a:prstGeom>
          <a:solidFill>
            <a:srgbClr val="1223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50" name="Image 2" descr="preencoded.png"/>
          <p:cNvPicPr/>
          <p:nvPr/>
        </p:nvPicPr>
        <p:blipFill>
          <a:blip r:embed="rId3"/>
          <a:stretch/>
        </p:blipFill>
        <p:spPr>
          <a:xfrm>
            <a:off x="1244520" y="4353480"/>
            <a:ext cx="345240" cy="345240"/>
          </a:xfrm>
          <a:prstGeom prst="rect">
            <a:avLst/>
          </a:prstGeom>
          <a:ln w="0">
            <a:noFill/>
          </a:ln>
        </p:spPr>
      </p:pic>
      <p:sp>
        <p:nvSpPr>
          <p:cNvPr id="251" name="Text 12"/>
          <p:cNvSpPr/>
          <p:nvPr/>
        </p:nvSpPr>
        <p:spPr>
          <a:xfrm>
            <a:off x="2011680" y="4133160"/>
            <a:ext cx="36252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2233f"/>
                </a:solidFill>
                <a:latin typeface="Cambria"/>
                <a:ea typeface="Cambria"/>
              </a:rPr>
              <a:t>Market-data fan-out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Text 13"/>
          <p:cNvSpPr/>
          <p:nvPr/>
        </p:nvSpPr>
        <p:spPr>
          <a:xfrm>
            <a:off x="1005840" y="4983480"/>
            <a:ext cx="45396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b2a3a"/>
                </a:solidFill>
                <a:latin typeface="Calibri"/>
                <a:ea typeface="Calibri"/>
              </a:rPr>
              <a:t>Subscribe once, transform, and distribute to many partitions and destinations by key.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Shape 14"/>
          <p:cNvSpPr/>
          <p:nvPr/>
        </p:nvSpPr>
        <p:spPr>
          <a:xfrm>
            <a:off x="6277320" y="3749040"/>
            <a:ext cx="5271120" cy="20113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be3ee"/>
            </a:solidFill>
            <a:round/>
          </a:ln>
          <a:effectLst>
            <a:outerShdw algn="bl" blurRad="88920" dir="5400000" dist="38160" kx="0" ky="0" rotWithShape="0" sx="100000" sy="100000">
              <a:srgbClr val="9db0c4">
                <a:alpha val="2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Shape 15"/>
          <p:cNvSpPr/>
          <p:nvPr/>
        </p:nvSpPr>
        <p:spPr>
          <a:xfrm>
            <a:off x="6643080" y="4114800"/>
            <a:ext cx="822600" cy="822600"/>
          </a:xfrm>
          <a:prstGeom prst="ellipse">
            <a:avLst/>
          </a:prstGeom>
          <a:solidFill>
            <a:srgbClr val="00a89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55" name="Image 3" descr="preencoded.png"/>
          <p:cNvPicPr/>
          <p:nvPr/>
        </p:nvPicPr>
        <p:blipFill>
          <a:blip r:embed="rId4"/>
          <a:stretch/>
        </p:blipFill>
        <p:spPr>
          <a:xfrm>
            <a:off x="6881760" y="4353480"/>
            <a:ext cx="345240" cy="345240"/>
          </a:xfrm>
          <a:prstGeom prst="rect">
            <a:avLst/>
          </a:prstGeom>
          <a:ln w="0">
            <a:noFill/>
          </a:ln>
        </p:spPr>
      </p:pic>
      <p:sp>
        <p:nvSpPr>
          <p:cNvPr id="256" name="Text 16"/>
          <p:cNvSpPr/>
          <p:nvPr/>
        </p:nvSpPr>
        <p:spPr>
          <a:xfrm>
            <a:off x="7648920" y="4133160"/>
            <a:ext cx="36252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2233f"/>
                </a:solidFill>
                <a:latin typeface="Cambria"/>
                <a:ea typeface="Cambria"/>
              </a:rPr>
              <a:t>Operational analytics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Text 17"/>
          <p:cNvSpPr/>
          <p:nvPr/>
        </p:nvSpPr>
        <p:spPr>
          <a:xfrm>
            <a:off x="6643080" y="4983480"/>
            <a:ext cx="45396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b2a3a"/>
                </a:solidFill>
                <a:latin typeface="Calibri"/>
                <a:ea typeface="Calibri"/>
              </a:rPr>
              <a:t>Continuously compute KPIs and alerts from live operational streams.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Text 0"/>
          <p:cNvSpPr/>
          <p:nvPr/>
        </p:nvSpPr>
        <p:spPr>
          <a:xfrm>
            <a:off x="640080" y="438840"/>
            <a:ext cx="9600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900" spc="-1" strike="noStrike">
                <a:solidFill>
                  <a:srgbClr val="12233f"/>
                </a:solidFill>
                <a:latin typeface="Cambria"/>
                <a:ea typeface="Cambria"/>
              </a:rPr>
              <a:t>Business value</a:t>
            </a:r>
            <a:endParaRPr b="0" lang="en-US" sz="2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Text 1"/>
          <p:cNvSpPr/>
          <p:nvPr/>
        </p:nvSpPr>
        <p:spPr>
          <a:xfrm>
            <a:off x="10698480" y="438840"/>
            <a:ext cx="8683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00a896"/>
                </a:solidFill>
                <a:latin typeface="Cambria"/>
                <a:ea typeface="Cambria"/>
              </a:rPr>
              <a:t>11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Text 2"/>
          <p:cNvSpPr/>
          <p:nvPr/>
        </p:nvSpPr>
        <p:spPr>
          <a:xfrm>
            <a:off x="640080" y="1325880"/>
            <a:ext cx="109083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50" spc="-1" strike="noStrike">
                <a:solidFill>
                  <a:srgbClr val="5c6b7a"/>
                </a:solidFill>
                <a:latin typeface="Calibri"/>
                <a:ea typeface="Calibri"/>
              </a:rPr>
              <a:t>What the platform changes for the organization.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Shape 3"/>
          <p:cNvSpPr/>
          <p:nvPr/>
        </p:nvSpPr>
        <p:spPr>
          <a:xfrm>
            <a:off x="640080" y="1828800"/>
            <a:ext cx="5271120" cy="178272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be3ee"/>
            </a:solidFill>
            <a:round/>
          </a:ln>
          <a:effectLst>
            <a:outerShdw algn="bl" blurRad="88920" dir="5400000" dist="38160" kx="0" ky="0" rotWithShape="0" sx="100000" sy="100000">
              <a:srgbClr val="9db0c4">
                <a:alpha val="2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Shape 4"/>
          <p:cNvSpPr/>
          <p:nvPr/>
        </p:nvSpPr>
        <p:spPr>
          <a:xfrm>
            <a:off x="1005840" y="2194560"/>
            <a:ext cx="776880" cy="776880"/>
          </a:xfrm>
          <a:prstGeom prst="ellipse">
            <a:avLst/>
          </a:prstGeom>
          <a:solidFill>
            <a:srgbClr val="00a89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63" name="Image 0" descr="preencoded.png"/>
          <p:cNvPicPr/>
          <p:nvPr/>
        </p:nvPicPr>
        <p:blipFill>
          <a:blip r:embed="rId1"/>
          <a:stretch/>
        </p:blipFill>
        <p:spPr>
          <a:xfrm>
            <a:off x="1231200" y="2419920"/>
            <a:ext cx="326160" cy="326160"/>
          </a:xfrm>
          <a:prstGeom prst="rect">
            <a:avLst/>
          </a:prstGeom>
          <a:ln w="0">
            <a:noFill/>
          </a:ln>
        </p:spPr>
      </p:pic>
      <p:sp>
        <p:nvSpPr>
          <p:cNvPr id="264" name="Text 5"/>
          <p:cNvSpPr/>
          <p:nvPr/>
        </p:nvSpPr>
        <p:spPr>
          <a:xfrm>
            <a:off x="1965960" y="2176200"/>
            <a:ext cx="3716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2233f"/>
                </a:solidFill>
                <a:latin typeface="Cambria"/>
                <a:ea typeface="Cambria"/>
              </a:rPr>
              <a:t>Faster time-to-insight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Text 6"/>
          <p:cNvSpPr/>
          <p:nvPr/>
        </p:nvSpPr>
        <p:spPr>
          <a:xfrm>
            <a:off x="1965960" y="2651760"/>
            <a:ext cx="37166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b2a3a"/>
                </a:solidFill>
                <a:latin typeface="Calibri"/>
                <a:ea typeface="Calibri"/>
              </a:rPr>
              <a:t>Real-time pipelines replace overnight batch — decisions made on current data, not yesterday's.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Shape 7"/>
          <p:cNvSpPr/>
          <p:nvPr/>
        </p:nvSpPr>
        <p:spPr>
          <a:xfrm>
            <a:off x="6277320" y="1828800"/>
            <a:ext cx="5271120" cy="178272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be3ee"/>
            </a:solidFill>
            <a:round/>
          </a:ln>
          <a:effectLst>
            <a:outerShdw algn="bl" blurRad="88920" dir="5400000" dist="38160" kx="0" ky="0" rotWithShape="0" sx="100000" sy="100000">
              <a:srgbClr val="9db0c4">
                <a:alpha val="2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Shape 8"/>
          <p:cNvSpPr/>
          <p:nvPr/>
        </p:nvSpPr>
        <p:spPr>
          <a:xfrm>
            <a:off x="6643080" y="2194560"/>
            <a:ext cx="776880" cy="776880"/>
          </a:xfrm>
          <a:prstGeom prst="ellipse">
            <a:avLst/>
          </a:prstGeom>
          <a:solidFill>
            <a:srgbClr val="1223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68" name="Image 1" descr="preencoded.png"/>
          <p:cNvPicPr/>
          <p:nvPr/>
        </p:nvPicPr>
        <p:blipFill>
          <a:blip r:embed="rId2"/>
          <a:stretch/>
        </p:blipFill>
        <p:spPr>
          <a:xfrm>
            <a:off x="6868440" y="2419920"/>
            <a:ext cx="326160" cy="326160"/>
          </a:xfrm>
          <a:prstGeom prst="rect">
            <a:avLst/>
          </a:prstGeom>
          <a:ln w="0">
            <a:noFill/>
          </a:ln>
        </p:spPr>
      </p:pic>
      <p:sp>
        <p:nvSpPr>
          <p:cNvPr id="269" name="Text 9"/>
          <p:cNvSpPr/>
          <p:nvPr/>
        </p:nvSpPr>
        <p:spPr>
          <a:xfrm>
            <a:off x="7603200" y="2176200"/>
            <a:ext cx="3716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2233f"/>
                </a:solidFill>
                <a:latin typeface="Cambria"/>
                <a:ea typeface="Cambria"/>
              </a:rPr>
              <a:t>Lower infrastructure footprint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Text 10"/>
          <p:cNvSpPr/>
          <p:nvPr/>
        </p:nvSpPr>
        <p:spPr>
          <a:xfrm>
            <a:off x="7603200" y="2651760"/>
            <a:ext cx="37166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b2a3a"/>
                </a:solidFill>
                <a:latin typeface="Calibri"/>
                <a:ea typeface="Calibri"/>
              </a:rPr>
              <a:t>An efficient single-node engine does more per machine, directly reducing cost to operate.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Shape 11"/>
          <p:cNvSpPr/>
          <p:nvPr/>
        </p:nvSpPr>
        <p:spPr>
          <a:xfrm>
            <a:off x="640080" y="3886200"/>
            <a:ext cx="5271120" cy="178272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be3ee"/>
            </a:solidFill>
            <a:round/>
          </a:ln>
          <a:effectLst>
            <a:outerShdw algn="bl" blurRad="88920" dir="5400000" dist="38160" kx="0" ky="0" rotWithShape="0" sx="100000" sy="100000">
              <a:srgbClr val="9db0c4">
                <a:alpha val="2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Shape 12"/>
          <p:cNvSpPr/>
          <p:nvPr/>
        </p:nvSpPr>
        <p:spPr>
          <a:xfrm>
            <a:off x="1005840" y="4251960"/>
            <a:ext cx="776880" cy="776880"/>
          </a:xfrm>
          <a:prstGeom prst="ellipse">
            <a:avLst/>
          </a:prstGeom>
          <a:solidFill>
            <a:srgbClr val="00a89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73" name="Image 2" descr="preencoded.png"/>
          <p:cNvPicPr/>
          <p:nvPr/>
        </p:nvPicPr>
        <p:blipFill>
          <a:blip r:embed="rId3"/>
          <a:stretch/>
        </p:blipFill>
        <p:spPr>
          <a:xfrm>
            <a:off x="1231200" y="4477320"/>
            <a:ext cx="326160" cy="326160"/>
          </a:xfrm>
          <a:prstGeom prst="rect">
            <a:avLst/>
          </a:prstGeom>
          <a:ln w="0">
            <a:noFill/>
          </a:ln>
        </p:spPr>
      </p:pic>
      <p:sp>
        <p:nvSpPr>
          <p:cNvPr id="274" name="Text 13"/>
          <p:cNvSpPr/>
          <p:nvPr/>
        </p:nvSpPr>
        <p:spPr>
          <a:xfrm>
            <a:off x="1965960" y="4233600"/>
            <a:ext cx="3716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2233f"/>
                </a:solidFill>
                <a:latin typeface="Cambria"/>
                <a:ea typeface="Cambria"/>
              </a:rPr>
              <a:t>Developer productivity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Text 14"/>
          <p:cNvSpPr/>
          <p:nvPr/>
        </p:nvSpPr>
        <p:spPr>
          <a:xfrm>
            <a:off x="1965960" y="4709160"/>
            <a:ext cx="37166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b2a3a"/>
                </a:solidFill>
                <a:latin typeface="Calibri"/>
                <a:ea typeface="Calibri"/>
              </a:rPr>
              <a:t>Visual design, reusable calculators, and no redeploy compress delivery time from weeks to days.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Shape 15"/>
          <p:cNvSpPr/>
          <p:nvPr/>
        </p:nvSpPr>
        <p:spPr>
          <a:xfrm>
            <a:off x="6277320" y="3886200"/>
            <a:ext cx="5271120" cy="178272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be3ee"/>
            </a:solidFill>
            <a:round/>
          </a:ln>
          <a:effectLst>
            <a:outerShdw algn="bl" blurRad="88920" dir="5400000" dist="38160" kx="0" ky="0" rotWithShape="0" sx="100000" sy="100000">
              <a:srgbClr val="9db0c4">
                <a:alpha val="2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Shape 16"/>
          <p:cNvSpPr/>
          <p:nvPr/>
        </p:nvSpPr>
        <p:spPr>
          <a:xfrm>
            <a:off x="6643080" y="4251960"/>
            <a:ext cx="776880" cy="776880"/>
          </a:xfrm>
          <a:prstGeom prst="ellipse">
            <a:avLst/>
          </a:prstGeom>
          <a:solidFill>
            <a:srgbClr val="1223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78" name="Image 3" descr="preencoded.png"/>
          <p:cNvPicPr/>
          <p:nvPr/>
        </p:nvPicPr>
        <p:blipFill>
          <a:blip r:embed="rId4"/>
          <a:stretch/>
        </p:blipFill>
        <p:spPr>
          <a:xfrm>
            <a:off x="6868440" y="4477320"/>
            <a:ext cx="326160" cy="326160"/>
          </a:xfrm>
          <a:prstGeom prst="rect">
            <a:avLst/>
          </a:prstGeom>
          <a:ln w="0">
            <a:noFill/>
          </a:ln>
        </p:spPr>
      </p:pic>
      <p:sp>
        <p:nvSpPr>
          <p:cNvPr id="279" name="Text 17"/>
          <p:cNvSpPr/>
          <p:nvPr/>
        </p:nvSpPr>
        <p:spPr>
          <a:xfrm>
            <a:off x="7603200" y="4233600"/>
            <a:ext cx="3716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2233f"/>
                </a:solidFill>
                <a:latin typeface="Cambria"/>
                <a:ea typeface="Cambria"/>
              </a:rPr>
              <a:t>Governance &amp; control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Text 18"/>
          <p:cNvSpPr/>
          <p:nvPr/>
        </p:nvSpPr>
        <p:spPr>
          <a:xfrm>
            <a:off x="7603200" y="4709160"/>
            <a:ext cx="37166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b2a3a"/>
                </a:solidFill>
                <a:latin typeface="Calibri"/>
                <a:ea typeface="Calibri"/>
              </a:rPr>
              <a:t>Built-in access control, audit, and safe operations reduce operational and compliance risk.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Text 0"/>
          <p:cNvSpPr/>
          <p:nvPr/>
        </p:nvSpPr>
        <p:spPr>
          <a:xfrm>
            <a:off x="640080" y="438840"/>
            <a:ext cx="9600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900" spc="-1" strike="noStrike">
                <a:solidFill>
                  <a:srgbClr val="12233f"/>
                </a:solidFill>
                <a:latin typeface="Cambria"/>
                <a:ea typeface="Cambria"/>
              </a:rPr>
              <a:t>By the numbers</a:t>
            </a:r>
            <a:endParaRPr b="0" lang="en-US" sz="2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Text 1"/>
          <p:cNvSpPr/>
          <p:nvPr/>
        </p:nvSpPr>
        <p:spPr>
          <a:xfrm>
            <a:off x="10698480" y="438840"/>
            <a:ext cx="8683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00a896"/>
                </a:solidFill>
                <a:latin typeface="Cambria"/>
                <a:ea typeface="Cambria"/>
              </a:rPr>
              <a:t>12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Text 2"/>
          <p:cNvSpPr/>
          <p:nvPr/>
        </p:nvSpPr>
        <p:spPr>
          <a:xfrm>
            <a:off x="640080" y="1325880"/>
            <a:ext cx="109083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50" spc="-1" strike="noStrike">
                <a:solidFill>
                  <a:srgbClr val="5c6b7a"/>
                </a:solidFill>
                <a:latin typeface="Calibri"/>
                <a:ea typeface="Calibri"/>
              </a:rPr>
              <a:t>Proof points that anchor the executive case.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Shape 3"/>
          <p:cNvSpPr/>
          <p:nvPr/>
        </p:nvSpPr>
        <p:spPr>
          <a:xfrm>
            <a:off x="640080" y="2057400"/>
            <a:ext cx="2486880" cy="228564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be3ee"/>
            </a:solidFill>
            <a:round/>
          </a:ln>
          <a:effectLst>
            <a:outerShdw algn="bl" blurRad="88920" dir="5400000" dist="38160" kx="0" ky="0" rotWithShape="0" sx="100000" sy="100000">
              <a:srgbClr val="9db0c4">
                <a:alpha val="2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Text 4"/>
          <p:cNvSpPr/>
          <p:nvPr/>
        </p:nvSpPr>
        <p:spPr>
          <a:xfrm>
            <a:off x="777240" y="2514600"/>
            <a:ext cx="221256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200" spc="-1" strike="noStrike">
                <a:solidFill>
                  <a:srgbClr val="00a896"/>
                </a:solidFill>
                <a:latin typeface="Cambria"/>
                <a:ea typeface="Cambria"/>
              </a:rPr>
              <a:t>7.4×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Text 5"/>
          <p:cNvSpPr/>
          <p:nvPr/>
        </p:nvSpPr>
        <p:spPr>
          <a:xfrm>
            <a:off x="822960" y="3474720"/>
            <a:ext cx="21211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1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b2a3a"/>
                </a:solidFill>
                <a:latin typeface="Calibri"/>
                <a:ea typeface="Calibri"/>
              </a:rPr>
              <a:t>Arrow-lane throughput vs. the baseline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Shape 6"/>
          <p:cNvSpPr/>
          <p:nvPr/>
        </p:nvSpPr>
        <p:spPr>
          <a:xfrm>
            <a:off x="3447360" y="2057400"/>
            <a:ext cx="2486880" cy="228564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be3ee"/>
            </a:solidFill>
            <a:round/>
          </a:ln>
          <a:effectLst>
            <a:outerShdw algn="bl" blurRad="88920" dir="5400000" dist="38160" kx="0" ky="0" rotWithShape="0" sx="100000" sy="100000">
              <a:srgbClr val="9db0c4">
                <a:alpha val="2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Text 7"/>
          <p:cNvSpPr/>
          <p:nvPr/>
        </p:nvSpPr>
        <p:spPr>
          <a:xfrm>
            <a:off x="3584520" y="2514600"/>
            <a:ext cx="221256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200" spc="-1" strike="noStrike">
                <a:solidFill>
                  <a:srgbClr val="12233f"/>
                </a:solidFill>
                <a:latin typeface="Cambria"/>
                <a:ea typeface="Cambria"/>
              </a:rPr>
              <a:t>55k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Text 8"/>
          <p:cNvSpPr/>
          <p:nvPr/>
        </p:nvSpPr>
        <p:spPr>
          <a:xfrm>
            <a:off x="3630240" y="3474720"/>
            <a:ext cx="21211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1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b2a3a"/>
                </a:solidFill>
                <a:latin typeface="Calibri"/>
                <a:ea typeface="Calibri"/>
              </a:rPr>
              <a:t>records/sec on a single node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Shape 9"/>
          <p:cNvSpPr/>
          <p:nvPr/>
        </p:nvSpPr>
        <p:spPr>
          <a:xfrm>
            <a:off x="6254640" y="2057400"/>
            <a:ext cx="2486880" cy="228564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be3ee"/>
            </a:solidFill>
            <a:round/>
          </a:ln>
          <a:effectLst>
            <a:outerShdw algn="bl" blurRad="88920" dir="5400000" dist="38160" kx="0" ky="0" rotWithShape="0" sx="100000" sy="100000">
              <a:srgbClr val="9db0c4">
                <a:alpha val="2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Text 10"/>
          <p:cNvSpPr/>
          <p:nvPr/>
        </p:nvSpPr>
        <p:spPr>
          <a:xfrm>
            <a:off x="6391800" y="2514600"/>
            <a:ext cx="221256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200" spc="-1" strike="noStrike">
                <a:solidFill>
                  <a:srgbClr val="00a896"/>
                </a:solidFill>
                <a:latin typeface="Cambria"/>
                <a:ea typeface="Cambria"/>
              </a:rPr>
              <a:t>30+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Text 11"/>
          <p:cNvSpPr/>
          <p:nvPr/>
        </p:nvSpPr>
        <p:spPr>
          <a:xfrm>
            <a:off x="6437520" y="3474720"/>
            <a:ext cx="21211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1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b2a3a"/>
                </a:solidFill>
                <a:latin typeface="Calibri"/>
                <a:ea typeface="Calibri"/>
              </a:rPr>
              <a:t>connector types, 8 families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Shape 12"/>
          <p:cNvSpPr/>
          <p:nvPr/>
        </p:nvSpPr>
        <p:spPr>
          <a:xfrm>
            <a:off x="9061560" y="2057400"/>
            <a:ext cx="2486880" cy="228564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be3ee"/>
            </a:solidFill>
            <a:round/>
          </a:ln>
          <a:effectLst>
            <a:outerShdw algn="bl" blurRad="88920" dir="5400000" dist="38160" kx="0" ky="0" rotWithShape="0" sx="100000" sy="100000">
              <a:srgbClr val="9db0c4">
                <a:alpha val="2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Text 13"/>
          <p:cNvSpPr/>
          <p:nvPr/>
        </p:nvSpPr>
        <p:spPr>
          <a:xfrm>
            <a:off x="9198720" y="2514600"/>
            <a:ext cx="221256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200" spc="-1" strike="noStrike">
                <a:solidFill>
                  <a:srgbClr val="12233f"/>
                </a:solidFill>
                <a:latin typeface="Cambria"/>
                <a:ea typeface="Cambria"/>
              </a:rPr>
              <a:t>247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Text 14"/>
          <p:cNvSpPr/>
          <p:nvPr/>
        </p:nvSpPr>
        <p:spPr>
          <a:xfrm>
            <a:off x="9244440" y="3474720"/>
            <a:ext cx="21211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1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b2a3a"/>
                </a:solidFill>
                <a:latin typeface="Calibri"/>
                <a:ea typeface="Calibri"/>
              </a:rPr>
              <a:t>automated tests per release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Shape 15"/>
          <p:cNvSpPr/>
          <p:nvPr/>
        </p:nvSpPr>
        <p:spPr>
          <a:xfrm>
            <a:off x="640080" y="4617720"/>
            <a:ext cx="10908360" cy="685440"/>
          </a:xfrm>
          <a:prstGeom prst="roundRect">
            <a:avLst>
              <a:gd name="adj" fmla="val 6667"/>
            </a:avLst>
          </a:prstGeom>
          <a:solidFill>
            <a:srgbClr val="eaf1f8"/>
          </a:solidFill>
          <a:ln w="15875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Text 16"/>
          <p:cNvSpPr/>
          <p:nvPr/>
        </p:nvSpPr>
        <p:spPr>
          <a:xfrm>
            <a:off x="914400" y="4617720"/>
            <a:ext cx="103597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0786b"/>
                </a:solidFill>
                <a:latin typeface="Calibri"/>
                <a:ea typeface="Calibri"/>
              </a:rPr>
              <a:t>In short:  </a:t>
            </a:r>
            <a:r>
              <a:rPr b="0" i="1" lang="en-US" sz="1400" spc="-1" strike="noStrike">
                <a:solidFill>
                  <a:srgbClr val="12233f"/>
                </a:solidFill>
                <a:latin typeface="Calibri"/>
                <a:ea typeface="Calibri"/>
              </a:rPr>
              <a:t>more throughput per machine, broad connectivity, and a release discipline that makes the platform safe to depend on.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Text 0"/>
          <p:cNvSpPr/>
          <p:nvPr/>
        </p:nvSpPr>
        <p:spPr>
          <a:xfrm>
            <a:off x="640080" y="438840"/>
            <a:ext cx="9600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900" spc="-1" strike="noStrike">
                <a:solidFill>
                  <a:srgbClr val="12233f"/>
                </a:solidFill>
                <a:latin typeface="Cambria"/>
                <a:ea typeface="Cambria"/>
              </a:rPr>
              <a:t>Scale-out &amp; high availability</a:t>
            </a:r>
            <a:endParaRPr b="0" lang="en-US" sz="2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Text 1"/>
          <p:cNvSpPr/>
          <p:nvPr/>
        </p:nvSpPr>
        <p:spPr>
          <a:xfrm>
            <a:off x="10698480" y="438840"/>
            <a:ext cx="8683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00a896"/>
                </a:solidFill>
                <a:latin typeface="Cambria"/>
                <a:ea typeface="Cambria"/>
              </a:rPr>
              <a:t>13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Text 2"/>
          <p:cNvSpPr/>
          <p:nvPr/>
        </p:nvSpPr>
        <p:spPr>
          <a:xfrm>
            <a:off x="640080" y="1325880"/>
            <a:ext cx="10908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5c6b7a"/>
                </a:solidFill>
                <a:latin typeface="Calibri"/>
                <a:ea typeface="Calibri"/>
              </a:rPr>
              <a:t>Pipeline the stream across many single-process nodes — scaling horizontally while every node stays simple.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Shape 3"/>
          <p:cNvSpPr/>
          <p:nvPr/>
        </p:nvSpPr>
        <p:spPr>
          <a:xfrm>
            <a:off x="640080" y="1965960"/>
            <a:ext cx="3391920" cy="320004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2700">
            <a:solidFill>
              <a:srgbClr val="dbe3ee"/>
            </a:solidFill>
            <a:round/>
          </a:ln>
          <a:effectLst>
            <a:outerShdw algn="bl" blurRad="88920" dir="5400000" dist="38160" kx="0" ky="0" rotWithShape="0" sx="100000" sy="100000">
              <a:srgbClr val="9db0c4">
                <a:alpha val="2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Shape 4"/>
          <p:cNvSpPr/>
          <p:nvPr/>
        </p:nvSpPr>
        <p:spPr>
          <a:xfrm>
            <a:off x="1005840" y="2331720"/>
            <a:ext cx="822600" cy="822600"/>
          </a:xfrm>
          <a:prstGeom prst="ellipse">
            <a:avLst/>
          </a:prstGeom>
          <a:solidFill>
            <a:srgbClr val="00a89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03" name="Image 0" descr="preencoded.png"/>
          <p:cNvPicPr/>
          <p:nvPr/>
        </p:nvPicPr>
        <p:blipFill>
          <a:blip r:embed="rId1"/>
          <a:stretch/>
        </p:blipFill>
        <p:spPr>
          <a:xfrm>
            <a:off x="1244520" y="2570400"/>
            <a:ext cx="345240" cy="345240"/>
          </a:xfrm>
          <a:prstGeom prst="rect">
            <a:avLst/>
          </a:prstGeom>
          <a:ln w="0">
            <a:noFill/>
          </a:ln>
        </p:spPr>
      </p:pic>
      <p:sp>
        <p:nvSpPr>
          <p:cNvPr id="304" name="Text 5"/>
          <p:cNvSpPr/>
          <p:nvPr/>
        </p:nvSpPr>
        <p:spPr>
          <a:xfrm>
            <a:off x="1005840" y="3291840"/>
            <a:ext cx="2660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12233f"/>
                </a:solidFill>
                <a:latin typeface="Cambria"/>
                <a:ea typeface="Cambria"/>
              </a:rPr>
              <a:t>Pipeline &amp; shard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Text 6"/>
          <p:cNvSpPr/>
          <p:nvPr/>
        </p:nvSpPr>
        <p:spPr>
          <a:xfrm>
            <a:off x="1005840" y="3840480"/>
            <a:ext cx="270612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3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b2a3a"/>
                </a:solidFill>
                <a:latin typeface="Calibri"/>
                <a:ea typeface="Calibri"/>
              </a:rPr>
              <a:t>Split the stream by Kafka partition, key range, or destination — each shard runs on its own independent node.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Shape 7"/>
          <p:cNvSpPr/>
          <p:nvPr/>
        </p:nvSpPr>
        <p:spPr>
          <a:xfrm>
            <a:off x="4398120" y="1965960"/>
            <a:ext cx="3391920" cy="320004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2700">
            <a:solidFill>
              <a:srgbClr val="dbe3ee"/>
            </a:solidFill>
            <a:round/>
          </a:ln>
          <a:effectLst>
            <a:outerShdw algn="bl" blurRad="88920" dir="5400000" dist="38160" kx="0" ky="0" rotWithShape="0" sx="100000" sy="100000">
              <a:srgbClr val="9db0c4">
                <a:alpha val="2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Shape 8"/>
          <p:cNvSpPr/>
          <p:nvPr/>
        </p:nvSpPr>
        <p:spPr>
          <a:xfrm>
            <a:off x="4763880" y="2331720"/>
            <a:ext cx="822600" cy="822600"/>
          </a:xfrm>
          <a:prstGeom prst="ellipse">
            <a:avLst/>
          </a:prstGeom>
          <a:solidFill>
            <a:srgbClr val="1223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08" name="Image 1" descr="preencoded.png"/>
          <p:cNvPicPr/>
          <p:nvPr/>
        </p:nvPicPr>
        <p:blipFill>
          <a:blip r:embed="rId2"/>
          <a:stretch/>
        </p:blipFill>
        <p:spPr>
          <a:xfrm>
            <a:off x="5002560" y="2570400"/>
            <a:ext cx="345240" cy="345240"/>
          </a:xfrm>
          <a:prstGeom prst="rect">
            <a:avLst/>
          </a:prstGeom>
          <a:ln w="0">
            <a:noFill/>
          </a:ln>
        </p:spPr>
      </p:pic>
      <p:sp>
        <p:nvSpPr>
          <p:cNvPr id="309" name="Text 9"/>
          <p:cNvSpPr/>
          <p:nvPr/>
        </p:nvSpPr>
        <p:spPr>
          <a:xfrm>
            <a:off x="4763880" y="3291840"/>
            <a:ext cx="2660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12233f"/>
                </a:solidFill>
                <a:latin typeface="Cambria"/>
                <a:ea typeface="Cambria"/>
              </a:rPr>
              <a:t>Primary–secondary pairs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Text 10"/>
          <p:cNvSpPr/>
          <p:nvPr/>
        </p:nvSpPr>
        <p:spPr>
          <a:xfrm>
            <a:off x="4763880" y="3840480"/>
            <a:ext cx="270612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3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b2a3a"/>
                </a:solidFill>
                <a:latin typeface="Calibri"/>
                <a:ea typeface="Calibri"/>
              </a:rPr>
              <a:t>Each node runs active with a hot standby; on failure the standby is promoted automatically and in-flight results are protected.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Shape 11"/>
          <p:cNvSpPr/>
          <p:nvPr/>
        </p:nvSpPr>
        <p:spPr>
          <a:xfrm>
            <a:off x="8156520" y="1965960"/>
            <a:ext cx="3391920" cy="320004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2700">
            <a:solidFill>
              <a:srgbClr val="dbe3ee"/>
            </a:solidFill>
            <a:round/>
          </a:ln>
          <a:effectLst>
            <a:outerShdw algn="bl" blurRad="88920" dir="5400000" dist="38160" kx="0" ky="0" rotWithShape="0" sx="100000" sy="100000">
              <a:srgbClr val="9db0c4">
                <a:alpha val="2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Shape 12"/>
          <p:cNvSpPr/>
          <p:nvPr/>
        </p:nvSpPr>
        <p:spPr>
          <a:xfrm>
            <a:off x="8522280" y="2331720"/>
            <a:ext cx="822600" cy="822600"/>
          </a:xfrm>
          <a:prstGeom prst="ellipse">
            <a:avLst/>
          </a:prstGeom>
          <a:solidFill>
            <a:srgbClr val="00a89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13" name="Image 2" descr="preencoded.png"/>
          <p:cNvPicPr/>
          <p:nvPr/>
        </p:nvPicPr>
        <p:blipFill>
          <a:blip r:embed="rId3"/>
          <a:stretch/>
        </p:blipFill>
        <p:spPr>
          <a:xfrm>
            <a:off x="8760960" y="2570400"/>
            <a:ext cx="345240" cy="345240"/>
          </a:xfrm>
          <a:prstGeom prst="rect">
            <a:avLst/>
          </a:prstGeom>
          <a:ln w="0">
            <a:noFill/>
          </a:ln>
        </p:spPr>
      </p:pic>
      <p:sp>
        <p:nvSpPr>
          <p:cNvPr id="314" name="Text 13"/>
          <p:cNvSpPr/>
          <p:nvPr/>
        </p:nvSpPr>
        <p:spPr>
          <a:xfrm>
            <a:off x="8522280" y="3291840"/>
            <a:ext cx="2660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12233f"/>
                </a:solidFill>
                <a:latin typeface="Cambria"/>
                <a:ea typeface="Cambria"/>
              </a:rPr>
              <a:t>Scale by adding nodes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Text 14"/>
          <p:cNvSpPr/>
          <p:nvPr/>
        </p:nvSpPr>
        <p:spPr>
          <a:xfrm>
            <a:off x="8522280" y="3840480"/>
            <a:ext cx="270612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3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b2a3a"/>
                </a:solidFill>
                <a:latin typeface="Calibri"/>
                <a:ea typeface="Calibri"/>
              </a:rPr>
              <a:t>Add node pairs to add throughput, near-linearly — no node ever becomes distributed or complex.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Shape 15"/>
          <p:cNvSpPr/>
          <p:nvPr/>
        </p:nvSpPr>
        <p:spPr>
          <a:xfrm>
            <a:off x="640080" y="5349240"/>
            <a:ext cx="10908360" cy="639720"/>
          </a:xfrm>
          <a:prstGeom prst="roundRect">
            <a:avLst>
              <a:gd name="adj" fmla="val 7143"/>
            </a:avLst>
          </a:prstGeom>
          <a:solidFill>
            <a:srgbClr val="eaf1f8"/>
          </a:solidFill>
          <a:ln w="15875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Text 16"/>
          <p:cNvSpPr/>
          <p:nvPr/>
        </p:nvSpPr>
        <p:spPr>
          <a:xfrm>
            <a:off x="914400" y="5349240"/>
            <a:ext cx="10359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00786b"/>
                </a:solidFill>
                <a:latin typeface="Calibri"/>
                <a:ea typeface="Calibri"/>
              </a:rPr>
              <a:t>The model:  </a:t>
            </a:r>
            <a:r>
              <a:rPr b="0" i="1" lang="en-US" sz="1350" spc="-1" strike="noStrike">
                <a:solidFill>
                  <a:srgbClr val="12233f"/>
                </a:solidFill>
                <a:latin typeface="Calibri"/>
                <a:ea typeface="Calibri"/>
              </a:rPr>
              <a:t>horizontal scale and high availability from simple parts — the single-process engine, paired and multiplied.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Text 0"/>
          <p:cNvSpPr/>
          <p:nvPr/>
        </p:nvSpPr>
        <p:spPr>
          <a:xfrm>
            <a:off x="640080" y="548640"/>
            <a:ext cx="1090836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2233f"/>
                </a:solidFill>
                <a:latin typeface="Cambria"/>
                <a:ea typeface="Cambria"/>
              </a:rPr>
              <a:t>The simplicity of a single process</a:t>
            </a:r>
            <a:r>
              <a:rPr b="1" lang="en-US" sz="2700" spc="-1" strike="noStrike">
                <a:solidFill>
                  <a:srgbClr val="5c6b7a"/>
                </a:solidFill>
                <a:latin typeface="Cambria"/>
                <a:ea typeface="Cambria"/>
              </a:rPr>
              <a:t>  —  with the  </a:t>
            </a:r>
            <a:r>
              <a:rPr b="1" lang="en-US" sz="2700" spc="-1" strike="noStrike">
                <a:solidFill>
                  <a:srgbClr val="00786b"/>
                </a:solidFill>
                <a:latin typeface="Cambria"/>
                <a:ea typeface="Cambria"/>
              </a:rPr>
              <a:t>scalability of a loose cluster</a:t>
            </a:r>
            <a:r>
              <a:rPr b="1" lang="en-US" sz="2700" spc="-1" strike="noStrike">
                <a:solidFill>
                  <a:srgbClr val="5c6b7a"/>
                </a:solidFill>
                <a:latin typeface="Cambria"/>
                <a:ea typeface="Cambria"/>
              </a:rPr>
              <a:t>.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Text 1"/>
          <p:cNvSpPr/>
          <p:nvPr/>
        </p:nvSpPr>
        <p:spPr>
          <a:xfrm>
            <a:off x="640080" y="1645920"/>
            <a:ext cx="109083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600" spc="-1" strike="noStrike">
                <a:solidFill>
                  <a:srgbClr val="5c6b7a"/>
                </a:solidFill>
                <a:latin typeface="Calibri"/>
                <a:ea typeface="Calibri"/>
              </a:rPr>
              <a:t>Built on the right data-pipeline design and a reactive engine — high performance, frugal on infrastructure and on the learning curve.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Shape 2"/>
          <p:cNvSpPr/>
          <p:nvPr/>
        </p:nvSpPr>
        <p:spPr>
          <a:xfrm>
            <a:off x="640080" y="2377440"/>
            <a:ext cx="3391920" cy="1663920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12700">
            <a:solidFill>
              <a:srgbClr val="dbe3ee"/>
            </a:solidFill>
            <a:round/>
          </a:ln>
          <a:effectLst>
            <a:outerShdw algn="bl" blurRad="88920" dir="5400000" dist="38160" kx="0" ky="0" rotWithShape="0" sx="100000" sy="100000">
              <a:srgbClr val="9db0c4">
                <a:alpha val="2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Shape 3"/>
          <p:cNvSpPr/>
          <p:nvPr/>
        </p:nvSpPr>
        <p:spPr>
          <a:xfrm>
            <a:off x="941760" y="2670120"/>
            <a:ext cx="658080" cy="658080"/>
          </a:xfrm>
          <a:prstGeom prst="ellipse">
            <a:avLst/>
          </a:prstGeom>
          <a:solidFill>
            <a:srgbClr val="00a89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22" name="Image 0" descr="preencoded.png"/>
          <p:cNvPicPr/>
          <p:nvPr/>
        </p:nvPicPr>
        <p:blipFill>
          <a:blip r:embed="rId1"/>
          <a:stretch/>
        </p:blipFill>
        <p:spPr>
          <a:xfrm>
            <a:off x="1132920" y="2860920"/>
            <a:ext cx="276120" cy="276120"/>
          </a:xfrm>
          <a:prstGeom prst="rect">
            <a:avLst/>
          </a:prstGeom>
          <a:ln w="0">
            <a:noFill/>
          </a:ln>
        </p:spPr>
      </p:pic>
      <p:sp>
        <p:nvSpPr>
          <p:cNvPr id="323" name="Text 4"/>
          <p:cNvSpPr/>
          <p:nvPr/>
        </p:nvSpPr>
        <p:spPr>
          <a:xfrm>
            <a:off x="1737360" y="2633400"/>
            <a:ext cx="211176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12233f"/>
                </a:solidFill>
                <a:latin typeface="Cambria"/>
                <a:ea typeface="Cambria"/>
              </a:rPr>
              <a:t>Single-process simplicity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Text 5"/>
          <p:cNvSpPr/>
          <p:nvPr/>
        </p:nvSpPr>
        <p:spPr>
          <a:xfrm>
            <a:off x="941760" y="3383280"/>
            <a:ext cx="28432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b2a3a"/>
                </a:solidFill>
                <a:latin typeface="Calibri"/>
                <a:ea typeface="Calibri"/>
              </a:rPr>
              <a:t>One process to reason about, deploy, and operate.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Shape 6"/>
          <p:cNvSpPr/>
          <p:nvPr/>
        </p:nvSpPr>
        <p:spPr>
          <a:xfrm>
            <a:off x="4398120" y="2377440"/>
            <a:ext cx="3391920" cy="1663920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12700">
            <a:solidFill>
              <a:srgbClr val="dbe3ee"/>
            </a:solidFill>
            <a:round/>
          </a:ln>
          <a:effectLst>
            <a:outerShdw algn="bl" blurRad="88920" dir="5400000" dist="38160" kx="0" ky="0" rotWithShape="0" sx="100000" sy="100000">
              <a:srgbClr val="9db0c4">
                <a:alpha val="2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Shape 7"/>
          <p:cNvSpPr/>
          <p:nvPr/>
        </p:nvSpPr>
        <p:spPr>
          <a:xfrm>
            <a:off x="4700160" y="2670120"/>
            <a:ext cx="658080" cy="658080"/>
          </a:xfrm>
          <a:prstGeom prst="ellipse">
            <a:avLst/>
          </a:prstGeom>
          <a:solidFill>
            <a:srgbClr val="1223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27" name="Image 1" descr="preencoded.png"/>
          <p:cNvPicPr/>
          <p:nvPr/>
        </p:nvPicPr>
        <p:blipFill>
          <a:blip r:embed="rId2"/>
          <a:stretch/>
        </p:blipFill>
        <p:spPr>
          <a:xfrm>
            <a:off x="4890960" y="2860920"/>
            <a:ext cx="276120" cy="276120"/>
          </a:xfrm>
          <a:prstGeom prst="rect">
            <a:avLst/>
          </a:prstGeom>
          <a:ln w="0">
            <a:noFill/>
          </a:ln>
        </p:spPr>
      </p:pic>
      <p:sp>
        <p:nvSpPr>
          <p:cNvPr id="328" name="Text 8"/>
          <p:cNvSpPr/>
          <p:nvPr/>
        </p:nvSpPr>
        <p:spPr>
          <a:xfrm>
            <a:off x="5495400" y="2633400"/>
            <a:ext cx="211176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12233f"/>
                </a:solidFill>
                <a:latin typeface="Cambria"/>
                <a:ea typeface="Cambria"/>
              </a:rPr>
              <a:t>Loose-cluster scalability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Text 9"/>
          <p:cNvSpPr/>
          <p:nvPr/>
        </p:nvSpPr>
        <p:spPr>
          <a:xfrm>
            <a:off x="4700160" y="3383280"/>
            <a:ext cx="28432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b2a3a"/>
                </a:solidFill>
                <a:latin typeface="Calibri"/>
                <a:ea typeface="Calibri"/>
              </a:rPr>
              <a:t>Pair and shard into a horizontally scalable, HA fleet.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Shape 10"/>
          <p:cNvSpPr/>
          <p:nvPr/>
        </p:nvSpPr>
        <p:spPr>
          <a:xfrm>
            <a:off x="8156520" y="2377440"/>
            <a:ext cx="3391920" cy="1663920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12700">
            <a:solidFill>
              <a:srgbClr val="dbe3ee"/>
            </a:solidFill>
            <a:round/>
          </a:ln>
          <a:effectLst>
            <a:outerShdw algn="bl" blurRad="88920" dir="5400000" dist="38160" kx="0" ky="0" rotWithShape="0" sx="100000" sy="100000">
              <a:srgbClr val="9db0c4">
                <a:alpha val="2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Shape 11"/>
          <p:cNvSpPr/>
          <p:nvPr/>
        </p:nvSpPr>
        <p:spPr>
          <a:xfrm>
            <a:off x="8458200" y="2670120"/>
            <a:ext cx="658080" cy="658080"/>
          </a:xfrm>
          <a:prstGeom prst="ellipse">
            <a:avLst/>
          </a:prstGeom>
          <a:solidFill>
            <a:srgbClr val="00a89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32" name="Image 2" descr="preencoded.png"/>
          <p:cNvPicPr/>
          <p:nvPr/>
        </p:nvPicPr>
        <p:blipFill>
          <a:blip r:embed="rId3"/>
          <a:stretch/>
        </p:blipFill>
        <p:spPr>
          <a:xfrm>
            <a:off x="8649000" y="2860920"/>
            <a:ext cx="276120" cy="276120"/>
          </a:xfrm>
          <a:prstGeom prst="rect">
            <a:avLst/>
          </a:prstGeom>
          <a:ln w="0">
            <a:noFill/>
          </a:ln>
        </p:spPr>
      </p:pic>
      <p:sp>
        <p:nvSpPr>
          <p:cNvPr id="333" name="Text 12"/>
          <p:cNvSpPr/>
          <p:nvPr/>
        </p:nvSpPr>
        <p:spPr>
          <a:xfrm>
            <a:off x="9253800" y="2633400"/>
            <a:ext cx="211176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12233f"/>
                </a:solidFill>
                <a:latin typeface="Cambria"/>
                <a:ea typeface="Cambria"/>
              </a:rPr>
              <a:t>Reactive engine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Text 13"/>
          <p:cNvSpPr/>
          <p:nvPr/>
        </p:nvSpPr>
        <p:spPr>
          <a:xfrm>
            <a:off x="8458200" y="3383280"/>
            <a:ext cx="28432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b2a3a"/>
                </a:solidFill>
                <a:latin typeface="Calibri"/>
                <a:ea typeface="Calibri"/>
              </a:rPr>
              <a:t>The equality gate recomputes only on change.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Shape 14"/>
          <p:cNvSpPr/>
          <p:nvPr/>
        </p:nvSpPr>
        <p:spPr>
          <a:xfrm>
            <a:off x="640080" y="4316040"/>
            <a:ext cx="3391920" cy="1663920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12700">
            <a:solidFill>
              <a:srgbClr val="dbe3ee"/>
            </a:solidFill>
            <a:round/>
          </a:ln>
          <a:effectLst>
            <a:outerShdw algn="bl" blurRad="88920" dir="5400000" dist="38160" kx="0" ky="0" rotWithShape="0" sx="100000" sy="100000">
              <a:srgbClr val="9db0c4">
                <a:alpha val="2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Shape 15"/>
          <p:cNvSpPr/>
          <p:nvPr/>
        </p:nvSpPr>
        <p:spPr>
          <a:xfrm>
            <a:off x="941760" y="4608720"/>
            <a:ext cx="658080" cy="658080"/>
          </a:xfrm>
          <a:prstGeom prst="ellipse">
            <a:avLst/>
          </a:prstGeom>
          <a:solidFill>
            <a:srgbClr val="1223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37" name="Image 3" descr="preencoded.png"/>
          <p:cNvPicPr/>
          <p:nvPr/>
        </p:nvPicPr>
        <p:blipFill>
          <a:blip r:embed="rId4"/>
          <a:stretch/>
        </p:blipFill>
        <p:spPr>
          <a:xfrm>
            <a:off x="1132920" y="4799520"/>
            <a:ext cx="276120" cy="276120"/>
          </a:xfrm>
          <a:prstGeom prst="rect">
            <a:avLst/>
          </a:prstGeom>
          <a:ln w="0">
            <a:noFill/>
          </a:ln>
        </p:spPr>
      </p:pic>
      <p:sp>
        <p:nvSpPr>
          <p:cNvPr id="338" name="Text 16"/>
          <p:cNvSpPr/>
          <p:nvPr/>
        </p:nvSpPr>
        <p:spPr>
          <a:xfrm>
            <a:off x="1737360" y="4572000"/>
            <a:ext cx="211176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12233f"/>
                </a:solidFill>
                <a:latin typeface="Cambria"/>
                <a:ea typeface="Cambria"/>
              </a:rPr>
              <a:t>High performance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9" name="Text 17"/>
          <p:cNvSpPr/>
          <p:nvPr/>
        </p:nvSpPr>
        <p:spPr>
          <a:xfrm>
            <a:off x="941760" y="5321880"/>
            <a:ext cx="28432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b2a3a"/>
                </a:solidFill>
                <a:latin typeface="Calibri"/>
                <a:ea typeface="Calibri"/>
              </a:rPr>
              <a:t>Row, array, and Arrow lanes — up to ~7.4x throughput.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Shape 18"/>
          <p:cNvSpPr/>
          <p:nvPr/>
        </p:nvSpPr>
        <p:spPr>
          <a:xfrm>
            <a:off x="4398120" y="4316040"/>
            <a:ext cx="3391920" cy="1663920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12700">
            <a:solidFill>
              <a:srgbClr val="dbe3ee"/>
            </a:solidFill>
            <a:round/>
          </a:ln>
          <a:effectLst>
            <a:outerShdw algn="bl" blurRad="88920" dir="5400000" dist="38160" kx="0" ky="0" rotWithShape="0" sx="100000" sy="100000">
              <a:srgbClr val="9db0c4">
                <a:alpha val="2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" name="Shape 19"/>
          <p:cNvSpPr/>
          <p:nvPr/>
        </p:nvSpPr>
        <p:spPr>
          <a:xfrm>
            <a:off x="4700160" y="4608720"/>
            <a:ext cx="658080" cy="658080"/>
          </a:xfrm>
          <a:prstGeom prst="ellipse">
            <a:avLst/>
          </a:prstGeom>
          <a:solidFill>
            <a:srgbClr val="00a89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42" name="Image 4" descr="preencoded.png"/>
          <p:cNvPicPr/>
          <p:nvPr/>
        </p:nvPicPr>
        <p:blipFill>
          <a:blip r:embed="rId5"/>
          <a:stretch/>
        </p:blipFill>
        <p:spPr>
          <a:xfrm>
            <a:off x="4890960" y="4799520"/>
            <a:ext cx="276120" cy="276120"/>
          </a:xfrm>
          <a:prstGeom prst="rect">
            <a:avLst/>
          </a:prstGeom>
          <a:ln w="0">
            <a:noFill/>
          </a:ln>
        </p:spPr>
      </p:pic>
      <p:sp>
        <p:nvSpPr>
          <p:cNvPr id="343" name="Text 20"/>
          <p:cNvSpPr/>
          <p:nvPr/>
        </p:nvSpPr>
        <p:spPr>
          <a:xfrm>
            <a:off x="5495400" y="4572000"/>
            <a:ext cx="211176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12233f"/>
                </a:solidFill>
                <a:latin typeface="Cambria"/>
                <a:ea typeface="Cambria"/>
              </a:rPr>
              <a:t>Frugal on infrastructure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4" name="Text 21"/>
          <p:cNvSpPr/>
          <p:nvPr/>
        </p:nvSpPr>
        <p:spPr>
          <a:xfrm>
            <a:off x="4700160" y="5321880"/>
            <a:ext cx="28432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b2a3a"/>
                </a:solidFill>
                <a:latin typeface="Calibri"/>
                <a:ea typeface="Calibri"/>
              </a:rPr>
              <a:t>Do more per machine; scale only the hot shards.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Shape 22"/>
          <p:cNvSpPr/>
          <p:nvPr/>
        </p:nvSpPr>
        <p:spPr>
          <a:xfrm>
            <a:off x="8156520" y="4316040"/>
            <a:ext cx="3391920" cy="1663920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12700">
            <a:solidFill>
              <a:srgbClr val="dbe3ee"/>
            </a:solidFill>
            <a:round/>
          </a:ln>
          <a:effectLst>
            <a:outerShdw algn="bl" blurRad="88920" dir="5400000" dist="38160" kx="0" ky="0" rotWithShape="0" sx="100000" sy="100000">
              <a:srgbClr val="9db0c4">
                <a:alpha val="2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Shape 23"/>
          <p:cNvSpPr/>
          <p:nvPr/>
        </p:nvSpPr>
        <p:spPr>
          <a:xfrm>
            <a:off x="8458200" y="4608720"/>
            <a:ext cx="658080" cy="658080"/>
          </a:xfrm>
          <a:prstGeom prst="ellipse">
            <a:avLst/>
          </a:prstGeom>
          <a:solidFill>
            <a:srgbClr val="1223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47" name="Image 5" descr="preencoded.png"/>
          <p:cNvPicPr/>
          <p:nvPr/>
        </p:nvPicPr>
        <p:blipFill>
          <a:blip r:embed="rId6"/>
          <a:stretch/>
        </p:blipFill>
        <p:spPr>
          <a:xfrm>
            <a:off x="8649000" y="4799520"/>
            <a:ext cx="276120" cy="276120"/>
          </a:xfrm>
          <a:prstGeom prst="rect">
            <a:avLst/>
          </a:prstGeom>
          <a:ln w="0">
            <a:noFill/>
          </a:ln>
        </p:spPr>
      </p:pic>
      <p:sp>
        <p:nvSpPr>
          <p:cNvPr id="348" name="Text 24"/>
          <p:cNvSpPr/>
          <p:nvPr/>
        </p:nvSpPr>
        <p:spPr>
          <a:xfrm>
            <a:off x="9253800" y="4572000"/>
            <a:ext cx="211176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12233f"/>
                </a:solidFill>
                <a:latin typeface="Cambria"/>
                <a:ea typeface="Cambria"/>
              </a:rPr>
              <a:t>Gentle learning curve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Text 25"/>
          <p:cNvSpPr/>
          <p:nvPr/>
        </p:nvSpPr>
        <p:spPr>
          <a:xfrm>
            <a:off x="8458200" y="5321880"/>
            <a:ext cx="28432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b2a3a"/>
                </a:solidFill>
                <a:latin typeface="Calibri"/>
                <a:ea typeface="Calibri"/>
              </a:rPr>
              <a:t>Design visually in the browser — no build pipeline.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2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Shape 0"/>
          <p:cNvSpPr/>
          <p:nvPr/>
        </p:nvSpPr>
        <p:spPr>
          <a:xfrm>
            <a:off x="10332720" y="-1097280"/>
            <a:ext cx="2925720" cy="2925720"/>
          </a:xfrm>
          <a:prstGeom prst="ellipse">
            <a:avLst/>
          </a:prstGeom>
          <a:solidFill>
            <a:srgbClr val="1c335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1" name="Shape 1"/>
          <p:cNvSpPr/>
          <p:nvPr/>
        </p:nvSpPr>
        <p:spPr>
          <a:xfrm>
            <a:off x="11155680" y="4937760"/>
            <a:ext cx="2377080" cy="2377080"/>
          </a:xfrm>
          <a:prstGeom prst="ellipse">
            <a:avLst/>
          </a:prstGeom>
          <a:solidFill>
            <a:srgbClr val="1c335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2" name="Text 2"/>
          <p:cNvSpPr/>
          <p:nvPr/>
        </p:nvSpPr>
        <p:spPr>
          <a:xfrm>
            <a:off x="731520" y="1097280"/>
            <a:ext cx="10058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398" strike="noStrike">
                <a:solidFill>
                  <a:srgbClr val="00a896"/>
                </a:solidFill>
                <a:latin typeface="Calibri"/>
                <a:ea typeface="Calibri"/>
              </a:rPr>
              <a:t>THE INSTRUMENT FOR REAL-TIME DATA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3" name="Text 3"/>
          <p:cNvSpPr/>
          <p:nvPr/>
        </p:nvSpPr>
        <p:spPr>
          <a:xfrm>
            <a:off x="685800" y="1600200"/>
            <a:ext cx="1051524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3500" spc="-1" strike="noStrike">
                <a:solidFill>
                  <a:srgbClr val="ffffff"/>
                </a:solidFill>
                <a:latin typeface="Cambria"/>
                <a:ea typeface="Cambria"/>
              </a:rPr>
              <a:t>Connect everything. Compute on change.</a:t>
            </a:r>
            <a:endParaRPr b="0" lang="en-US" sz="35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3500" spc="-1" strike="noStrike">
                <a:solidFill>
                  <a:srgbClr val="ffffff"/>
                </a:solidFill>
                <a:latin typeface="Cambria"/>
                <a:ea typeface="Cambria"/>
              </a:rPr>
              <a:t>Publish in real time.</a:t>
            </a:r>
            <a:endParaRPr b="0" lang="en-US" sz="3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4" name="Text 4"/>
          <p:cNvSpPr/>
          <p:nvPr/>
        </p:nvSpPr>
        <p:spPr>
          <a:xfrm>
            <a:off x="731520" y="3154680"/>
            <a:ext cx="10058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600" spc="-1" strike="noStrike">
                <a:solidFill>
                  <a:srgbClr val="cfe3f2"/>
                </a:solidFill>
                <a:latin typeface="Calibri"/>
                <a:ea typeface="Calibri"/>
              </a:rPr>
              <a:t>Single-process simplicity, loose-cluster scale — governed, real-time, and frugal.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5" name="Text 5"/>
          <p:cNvSpPr/>
          <p:nvPr/>
        </p:nvSpPr>
        <p:spPr>
          <a:xfrm>
            <a:off x="731520" y="384048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199" strike="noStrike">
                <a:solidFill>
                  <a:srgbClr val="cadcfc"/>
                </a:solidFill>
                <a:latin typeface="Calibri"/>
                <a:ea typeface="Calibri"/>
              </a:rPr>
              <a:t>On the roadmap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6" name="Text 6"/>
          <p:cNvSpPr/>
          <p:nvPr/>
        </p:nvSpPr>
        <p:spPr>
          <a:xfrm>
            <a:off x="777240" y="4251960"/>
            <a:ext cx="914364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dce6f4"/>
              </a:buClr>
              <a:buFont typeface="OpenSymbol"/>
              <a:buChar char="▪"/>
            </a:pPr>
            <a:r>
              <a:rPr b="0" lang="en-US" sz="1500" spc="-1" strike="noStrike">
                <a:solidFill>
                  <a:srgbClr val="dce6f4"/>
                </a:solidFill>
                <a:latin typeface="Calibri"/>
                <a:ea typeface="Calibri"/>
              </a:rPr>
              <a:t>API-driven designer palette for faster authoring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dce6f4"/>
              </a:buClr>
              <a:buFont typeface="OpenSymbol"/>
              <a:buChar char="▪"/>
            </a:pPr>
            <a:r>
              <a:rPr b="0" lang="en-US" sz="1500" spc="-1" strike="noStrike">
                <a:solidFill>
                  <a:srgbClr val="dce6f4"/>
                </a:solidFill>
                <a:latin typeface="Calibri"/>
                <a:ea typeface="Calibri"/>
              </a:rPr>
              <a:t>Broader connector catalog and managed key administration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dce6f4"/>
              </a:buClr>
              <a:buFont typeface="OpenSymbol"/>
              <a:buChar char="▪"/>
            </a:pPr>
            <a:r>
              <a:rPr b="0" lang="en-US" sz="1500" spc="-1" strike="noStrike">
                <a:solidFill>
                  <a:srgbClr val="dce6f4"/>
                </a:solidFill>
                <a:latin typeface="Calibri"/>
                <a:ea typeface="Calibri"/>
              </a:rPr>
              <a:t>Horizontal scale-out for the highest-volume workloads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7" name="Text 7"/>
          <p:cNvSpPr/>
          <p:nvPr/>
        </p:nvSpPr>
        <p:spPr>
          <a:xfrm>
            <a:off x="731520" y="6126480"/>
            <a:ext cx="10058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Ashutosh Sinha</a:t>
            </a:r>
            <a:r>
              <a:rPr b="0" lang="en-US" sz="1300" spc="-1" strike="noStrike">
                <a:solidFill>
                  <a:srgbClr val="8fa6c2"/>
                </a:solidFill>
                <a:latin typeface="Calibri"/>
                <a:ea typeface="Calibri"/>
              </a:rPr>
              <a:t>   ·   ajsinha@gmail.com   ·   DishtaYantra v5.25.1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2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Shape 0"/>
          <p:cNvSpPr/>
          <p:nvPr/>
        </p:nvSpPr>
        <p:spPr>
          <a:xfrm>
            <a:off x="9116280" y="1663920"/>
            <a:ext cx="1188720" cy="1005840"/>
          </a:xfrm>
          <a:prstGeom prst="line">
            <a:avLst/>
          </a:prstGeom>
          <a:ln w="25400">
            <a:solidFill>
              <a:srgbClr val="31507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9" name="Shape 1"/>
          <p:cNvSpPr/>
          <p:nvPr/>
        </p:nvSpPr>
        <p:spPr>
          <a:xfrm flipV="1">
            <a:off x="9116280" y="2669760"/>
            <a:ext cx="1188720" cy="1005840"/>
          </a:xfrm>
          <a:prstGeom prst="line">
            <a:avLst/>
          </a:prstGeom>
          <a:ln w="25400">
            <a:solidFill>
              <a:srgbClr val="31507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0" name="Shape 2"/>
          <p:cNvSpPr/>
          <p:nvPr/>
        </p:nvSpPr>
        <p:spPr>
          <a:xfrm flipV="1">
            <a:off x="10305000" y="1846800"/>
            <a:ext cx="1188720" cy="822960"/>
          </a:xfrm>
          <a:prstGeom prst="line">
            <a:avLst/>
          </a:prstGeom>
          <a:ln w="25400">
            <a:solidFill>
              <a:srgbClr val="31507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1" name="Shape 3"/>
          <p:cNvSpPr/>
          <p:nvPr/>
        </p:nvSpPr>
        <p:spPr>
          <a:xfrm>
            <a:off x="10305000" y="2669760"/>
            <a:ext cx="1188720" cy="914400"/>
          </a:xfrm>
          <a:prstGeom prst="line">
            <a:avLst/>
          </a:prstGeom>
          <a:ln w="25400">
            <a:solidFill>
              <a:srgbClr val="31507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2" name="Shape 4"/>
          <p:cNvSpPr/>
          <p:nvPr/>
        </p:nvSpPr>
        <p:spPr>
          <a:xfrm>
            <a:off x="8869680" y="1417320"/>
            <a:ext cx="493560" cy="493560"/>
          </a:xfrm>
          <a:prstGeom prst="ellipse">
            <a:avLst/>
          </a:prstGeom>
          <a:solidFill>
            <a:srgbClr val="234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3" name="Shape 5"/>
          <p:cNvSpPr/>
          <p:nvPr/>
        </p:nvSpPr>
        <p:spPr>
          <a:xfrm>
            <a:off x="8869680" y="3429000"/>
            <a:ext cx="493560" cy="493560"/>
          </a:xfrm>
          <a:prstGeom prst="ellipse">
            <a:avLst/>
          </a:prstGeom>
          <a:solidFill>
            <a:srgbClr val="234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4" name="Shape 6"/>
          <p:cNvSpPr/>
          <p:nvPr/>
        </p:nvSpPr>
        <p:spPr>
          <a:xfrm>
            <a:off x="10058400" y="2423160"/>
            <a:ext cx="493560" cy="493560"/>
          </a:xfrm>
          <a:prstGeom prst="ellipse">
            <a:avLst/>
          </a:prstGeom>
          <a:solidFill>
            <a:srgbClr val="00a89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5" name="Shape 7"/>
          <p:cNvSpPr/>
          <p:nvPr/>
        </p:nvSpPr>
        <p:spPr>
          <a:xfrm>
            <a:off x="11247120" y="1600200"/>
            <a:ext cx="493560" cy="493560"/>
          </a:xfrm>
          <a:prstGeom prst="ellipse">
            <a:avLst/>
          </a:prstGeom>
          <a:solidFill>
            <a:srgbClr val="234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6" name="Shape 8"/>
          <p:cNvSpPr/>
          <p:nvPr/>
        </p:nvSpPr>
        <p:spPr>
          <a:xfrm>
            <a:off x="11247120" y="3337560"/>
            <a:ext cx="493560" cy="493560"/>
          </a:xfrm>
          <a:prstGeom prst="ellipse">
            <a:avLst/>
          </a:prstGeom>
          <a:solidFill>
            <a:srgbClr val="234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7" name="Text 9"/>
          <p:cNvSpPr/>
          <p:nvPr/>
        </p:nvSpPr>
        <p:spPr>
          <a:xfrm>
            <a:off x="731520" y="219456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497" strike="noStrike">
                <a:solidFill>
                  <a:srgbClr val="00a896"/>
                </a:solidFill>
                <a:latin typeface="Calibri"/>
                <a:ea typeface="Calibri"/>
              </a:rPr>
              <a:t>APPENDIX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8" name="Text 10"/>
          <p:cNvSpPr/>
          <p:nvPr/>
        </p:nvSpPr>
        <p:spPr>
          <a:xfrm>
            <a:off x="685800" y="2697480"/>
            <a:ext cx="8229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pc="-1" strike="noStrike">
                <a:solidFill>
                  <a:srgbClr val="ffffff"/>
                </a:solidFill>
                <a:latin typeface="Cambria"/>
                <a:ea typeface="Cambria"/>
              </a:rPr>
              <a:t>Trade processing &amp; competitive analysis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9" name="Text 11"/>
          <p:cNvSpPr/>
          <p:nvPr/>
        </p:nvSpPr>
        <p:spPr>
          <a:xfrm>
            <a:off x="731520" y="3749040"/>
            <a:ext cx="7772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700" spc="-1" strike="noStrike">
                <a:solidFill>
                  <a:srgbClr val="cadcfc"/>
                </a:solidFill>
                <a:latin typeface="Calibri"/>
                <a:ea typeface="Calibri"/>
              </a:rPr>
              <a:t>Worked data examples in three execution modes, plus how DishtaYantra compares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Text 0"/>
          <p:cNvSpPr/>
          <p:nvPr/>
        </p:nvSpPr>
        <p:spPr>
          <a:xfrm>
            <a:off x="640080" y="438840"/>
            <a:ext cx="9600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900" spc="-1" strike="noStrike">
                <a:solidFill>
                  <a:srgbClr val="12233f"/>
                </a:solidFill>
                <a:latin typeface="Cambria"/>
                <a:ea typeface="Cambria"/>
              </a:rPr>
              <a:t>Trade ETL — One Trade at a Time (Row Mode)</a:t>
            </a:r>
            <a:endParaRPr b="0" lang="en-US" sz="2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" name="Text 1"/>
          <p:cNvSpPr/>
          <p:nvPr/>
        </p:nvSpPr>
        <p:spPr>
          <a:xfrm>
            <a:off x="10698480" y="438840"/>
            <a:ext cx="8683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00a896"/>
                </a:solidFill>
                <a:latin typeface="Cambria"/>
                <a:ea typeface="Cambria"/>
              </a:rPr>
              <a:t>A1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2" name="Shape 2"/>
          <p:cNvSpPr/>
          <p:nvPr/>
        </p:nvSpPr>
        <p:spPr>
          <a:xfrm>
            <a:off x="640080" y="1371600"/>
            <a:ext cx="10908360" cy="456840"/>
          </a:xfrm>
          <a:prstGeom prst="roundRect">
            <a:avLst>
              <a:gd name="adj" fmla="val 10000"/>
            </a:avLst>
          </a:prstGeom>
          <a:solidFill>
            <a:srgbClr val="0078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3" name="Text 3"/>
          <p:cNvSpPr/>
          <p:nvPr/>
        </p:nvSpPr>
        <p:spPr>
          <a:xfrm>
            <a:off x="640080" y="1371600"/>
            <a:ext cx="10908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  <a:ea typeface="Calibri"/>
              </a:rPr>
              <a:t>ROW MODE  —  a single trade flows through the calculator chain as a dict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4" name="Shape 4"/>
          <p:cNvSpPr/>
          <p:nvPr/>
        </p:nvSpPr>
        <p:spPr>
          <a:xfrm>
            <a:off x="640080" y="1920240"/>
            <a:ext cx="10908360" cy="3931560"/>
          </a:xfrm>
          <a:prstGeom prst="roundRect">
            <a:avLst>
              <a:gd name="adj" fmla="val 1163"/>
            </a:avLst>
          </a:prstGeom>
          <a:solidFill>
            <a:srgbClr val="1024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5" name="Text 5"/>
          <p:cNvSpPr/>
          <p:nvPr/>
        </p:nvSpPr>
        <p:spPr>
          <a:xfrm>
            <a:off x="960120" y="2084760"/>
            <a:ext cx="10268280" cy="370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algn="l" pos="0"/>
              </a:tabLst>
            </a:pPr>
            <a:r>
              <a:rPr b="0" lang="en-US" sz="1150" spc="-1" strike="noStrike">
                <a:solidFill>
                  <a:srgbClr val="6fd3c5"/>
                </a:solidFill>
                <a:latin typeface="Courier New"/>
                <a:ea typeface="Courier New"/>
              </a:rPr>
              <a:t># INPUT  — one trade off the source (validate -&gt; FX -&gt; notional -&gt; fees -&gt; risk)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algn="l" pos="0"/>
              </a:tabLst>
            </a:pPr>
            <a:r>
              <a:rPr b="0" lang="en-US" sz="1150" spc="-1" strike="noStrike">
                <a:solidFill>
                  <a:srgbClr val="ddeaf3"/>
                </a:solidFill>
                <a:latin typeface="Courier New"/>
                <a:ea typeface="Courier New"/>
              </a:rPr>
              <a:t>{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algn="l" pos="0"/>
              </a:tabLst>
            </a:pPr>
            <a:r>
              <a:rPr b="0" lang="en-US" sz="1150" spc="-1" strike="noStrike">
                <a:solidFill>
                  <a:srgbClr val="ddeaf3"/>
                </a:solidFill>
                <a:latin typeface="Courier New"/>
                <a:ea typeface="Courier New"/>
              </a:rPr>
              <a:t>  </a:t>
            </a:r>
            <a:r>
              <a:rPr b="0" lang="en-US" sz="1150" spc="-1" strike="noStrike">
                <a:solidFill>
                  <a:srgbClr val="ddeaf3"/>
                </a:solidFill>
                <a:latin typeface="Courier New"/>
                <a:ea typeface="Courier New"/>
              </a:rPr>
              <a:t>"trade_id": "T-1000042", "symbol": "AAPL", "side": "BUY",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algn="l" pos="0"/>
              </a:tabLst>
            </a:pPr>
            <a:r>
              <a:rPr b="0" lang="en-US" sz="1150" spc="-1" strike="noStrike">
                <a:solidFill>
                  <a:srgbClr val="ddeaf3"/>
                </a:solidFill>
                <a:latin typeface="Courier New"/>
                <a:ea typeface="Courier New"/>
              </a:rPr>
              <a:t>  </a:t>
            </a:r>
            <a:r>
              <a:rPr b="0" lang="en-US" sz="1150" spc="-1" strike="noStrike">
                <a:solidFill>
                  <a:srgbClr val="ddeaf3"/>
                </a:solidFill>
                <a:latin typeface="Courier New"/>
                <a:ea typeface="Courier New"/>
              </a:rPr>
              <a:t>"quantity": 500, "price": 187.45, "currency": "USD",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algn="l" pos="0"/>
              </a:tabLst>
            </a:pPr>
            <a:r>
              <a:rPr b="0" lang="en-US" sz="1150" spc="-1" strike="noStrike">
                <a:solidFill>
                  <a:srgbClr val="ddeaf3"/>
                </a:solidFill>
                <a:latin typeface="Courier New"/>
                <a:ea typeface="Courier New"/>
              </a:rPr>
              <a:t>  </a:t>
            </a:r>
            <a:r>
              <a:rPr b="0" lang="en-US" sz="1150" spc="-1" strike="noStrike">
                <a:solidFill>
                  <a:srgbClr val="ddeaf3"/>
                </a:solidFill>
                <a:latin typeface="Courier New"/>
                <a:ea typeface="Courier New"/>
              </a:rPr>
              <a:t>"venue": "NASDAQ", "ts": "2026-06-22T14:31:07.812Z"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algn="l" pos="0"/>
              </a:tabLst>
            </a:pPr>
            <a:r>
              <a:rPr b="0" lang="en-US" sz="1150" spc="-1" strike="noStrike">
                <a:solidFill>
                  <a:srgbClr val="ddeaf3"/>
                </a:solidFill>
                <a:latin typeface="Courier New"/>
                <a:ea typeface="Courier New"/>
              </a:rPr>
              <a:t>}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algn="l" pos="0"/>
              </a:tabLst>
            </a:pP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algn="l" pos="0"/>
              </a:tabLst>
            </a:pPr>
            <a:r>
              <a:rPr b="0" lang="en-US" sz="1150" spc="-1" strike="noStrike">
                <a:solidFill>
                  <a:srgbClr val="6fd3c5"/>
                </a:solidFill>
                <a:latin typeface="Courier New"/>
                <a:ea typeface="Courier New"/>
              </a:rPr>
              <a:t># OUTPUT — enriched, valued, and risk-scored result published downstream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algn="l" pos="0"/>
              </a:tabLst>
            </a:pPr>
            <a:r>
              <a:rPr b="0" lang="en-US" sz="1150" spc="-1" strike="noStrike">
                <a:solidFill>
                  <a:srgbClr val="ddeaf3"/>
                </a:solidFill>
                <a:latin typeface="Courier New"/>
                <a:ea typeface="Courier New"/>
              </a:rPr>
              <a:t>{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algn="l" pos="0"/>
              </a:tabLst>
            </a:pPr>
            <a:r>
              <a:rPr b="0" lang="en-US" sz="1150" spc="-1" strike="noStrike">
                <a:solidFill>
                  <a:srgbClr val="ddeaf3"/>
                </a:solidFill>
                <a:latin typeface="Courier New"/>
                <a:ea typeface="Courier New"/>
              </a:rPr>
              <a:t>  </a:t>
            </a:r>
            <a:r>
              <a:rPr b="0" lang="en-US" sz="1150" spc="-1" strike="noStrike">
                <a:solidFill>
                  <a:srgbClr val="ddeaf3"/>
                </a:solidFill>
                <a:latin typeface="Courier New"/>
                <a:ea typeface="Courier New"/>
              </a:rPr>
              <a:t>"trade_id": "T-1000042", "symbol": "AAPL", "side": "BUY",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algn="l" pos="0"/>
              </a:tabLst>
            </a:pPr>
            <a:r>
              <a:rPr b="0" lang="en-US" sz="1150" spc="-1" strike="noStrike">
                <a:solidFill>
                  <a:srgbClr val="ddeaf3"/>
                </a:solidFill>
                <a:latin typeface="Courier New"/>
                <a:ea typeface="Courier New"/>
              </a:rPr>
              <a:t>  </a:t>
            </a:r>
            <a:r>
              <a:rPr b="0" lang="en-US" sz="1150" spc="-1" strike="noStrike">
                <a:solidFill>
                  <a:srgbClr val="ddeaf3"/>
                </a:solidFill>
                <a:latin typeface="Courier New"/>
                <a:ea typeface="Courier New"/>
              </a:rPr>
              <a:t>"quantity": 500, "price": 187.45, "fx_rate": 1.00,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algn="l" pos="0"/>
              </a:tabLst>
            </a:pPr>
            <a:r>
              <a:rPr b="0" lang="en-US" sz="1150" spc="-1" strike="noStrike">
                <a:solidFill>
                  <a:srgbClr val="ddeaf3"/>
                </a:solidFill>
                <a:latin typeface="Courier New"/>
                <a:ea typeface="Courier New"/>
              </a:rPr>
              <a:t>  </a:t>
            </a:r>
            <a:r>
              <a:rPr b="0" lang="en-US" sz="1150" spc="-1" strike="noStrike">
                <a:solidFill>
                  <a:srgbClr val="ddeaf3"/>
                </a:solidFill>
                <a:latin typeface="Courier New"/>
                <a:ea typeface="Courier New"/>
              </a:rPr>
              <a:t>"notional_usd": 93725.00, "fees_usd": 4.69,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algn="l" pos="0"/>
              </a:tabLst>
            </a:pPr>
            <a:r>
              <a:rPr b="0" lang="en-US" sz="1150" spc="-1" strike="noStrike">
                <a:solidFill>
                  <a:srgbClr val="ddeaf3"/>
                </a:solidFill>
                <a:latin typeface="Courier New"/>
                <a:ea typeface="Courier New"/>
              </a:rPr>
              <a:t>  </a:t>
            </a:r>
            <a:r>
              <a:rPr b="0" lang="en-US" sz="1150" spc="-1" strike="noStrike">
                <a:solidFill>
                  <a:srgbClr val="ddeaf3"/>
                </a:solidFill>
                <a:latin typeface="Courier New"/>
                <a:ea typeface="Courier New"/>
              </a:rPr>
              <a:t>"risk_score": 0.18, "risk_band": "LOW", "anomaly": false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algn="l" pos="0"/>
              </a:tabLst>
            </a:pPr>
            <a:r>
              <a:rPr b="0" lang="en-US" sz="1150" spc="-1" strike="noStrike">
                <a:solidFill>
                  <a:srgbClr val="ddeaf3"/>
                </a:solidFill>
                <a:latin typeface="Courier New"/>
                <a:ea typeface="Courier New"/>
              </a:rPr>
              <a:t>}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6" name="Text 6"/>
          <p:cNvSpPr/>
          <p:nvPr/>
        </p:nvSpPr>
        <p:spPr>
          <a:xfrm>
            <a:off x="640080" y="5943600"/>
            <a:ext cx="10908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7a8794"/>
                </a:solidFill>
                <a:latin typeface="Calibri"/>
                <a:ea typeface="Calibri"/>
              </a:rPr>
              <a:t>Simplest authoring; the equality gate re-fires the chain only when this trade changes.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Text 0"/>
          <p:cNvSpPr/>
          <p:nvPr/>
        </p:nvSpPr>
        <p:spPr>
          <a:xfrm>
            <a:off x="640080" y="438840"/>
            <a:ext cx="9600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900" spc="-1" strike="noStrike">
                <a:solidFill>
                  <a:srgbClr val="12233f"/>
                </a:solidFill>
                <a:latin typeface="Cambria"/>
                <a:ea typeface="Cambria"/>
              </a:rPr>
              <a:t>Trade ETL — Array of Trades (Array Mode)</a:t>
            </a:r>
            <a:endParaRPr b="0" lang="en-US" sz="2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8" name="Text 1"/>
          <p:cNvSpPr/>
          <p:nvPr/>
        </p:nvSpPr>
        <p:spPr>
          <a:xfrm>
            <a:off x="10698480" y="438840"/>
            <a:ext cx="8683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00a896"/>
                </a:solidFill>
                <a:latin typeface="Cambria"/>
                <a:ea typeface="Cambria"/>
              </a:rPr>
              <a:t>A2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9" name="Shape 2"/>
          <p:cNvSpPr/>
          <p:nvPr/>
        </p:nvSpPr>
        <p:spPr>
          <a:xfrm>
            <a:off x="640080" y="1371600"/>
            <a:ext cx="10908360" cy="456840"/>
          </a:xfrm>
          <a:prstGeom prst="roundRect">
            <a:avLst>
              <a:gd name="adj" fmla="val 10000"/>
            </a:avLst>
          </a:prstGeom>
          <a:solidFill>
            <a:srgbClr val="0078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0" name="Text 3"/>
          <p:cNvSpPr/>
          <p:nvPr/>
        </p:nvSpPr>
        <p:spPr>
          <a:xfrm>
            <a:off x="640080" y="1371600"/>
            <a:ext cx="10908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  <a:ea typeface="Calibri"/>
              </a:rPr>
              <a:t>ARRAY MODE  —  a batch is processed as a list of dicts (same chain across the list)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1" name="Shape 4"/>
          <p:cNvSpPr/>
          <p:nvPr/>
        </p:nvSpPr>
        <p:spPr>
          <a:xfrm>
            <a:off x="640080" y="1920240"/>
            <a:ext cx="10908360" cy="3931560"/>
          </a:xfrm>
          <a:prstGeom prst="roundRect">
            <a:avLst>
              <a:gd name="adj" fmla="val 1163"/>
            </a:avLst>
          </a:prstGeom>
          <a:solidFill>
            <a:srgbClr val="1024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2" name="Text 5"/>
          <p:cNvSpPr/>
          <p:nvPr/>
        </p:nvSpPr>
        <p:spPr>
          <a:xfrm>
            <a:off x="960120" y="2084760"/>
            <a:ext cx="10268280" cy="370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algn="l" pos="0"/>
              </a:tabLst>
            </a:pPr>
            <a:r>
              <a:rPr b="0" lang="en-US" sz="1150" spc="-1" strike="noStrike">
                <a:solidFill>
                  <a:srgbClr val="6fd3c5"/>
                </a:solidFill>
                <a:latin typeface="Courier New"/>
                <a:ea typeface="Courier New"/>
              </a:rPr>
              <a:t># INPUT  — a micro-batch of heterogeneous trades (USD, GBP, JPY)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algn="l" pos="0"/>
              </a:tabLst>
            </a:pPr>
            <a:r>
              <a:rPr b="0" lang="en-US" sz="1150" spc="-1" strike="noStrike">
                <a:solidFill>
                  <a:srgbClr val="ddeaf3"/>
                </a:solidFill>
                <a:latin typeface="Courier New"/>
                <a:ea typeface="Courier New"/>
              </a:rPr>
              <a:t>[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algn="l" pos="0"/>
              </a:tabLst>
            </a:pPr>
            <a:r>
              <a:rPr b="0" lang="en-US" sz="1150" spc="-1" strike="noStrike">
                <a:solidFill>
                  <a:srgbClr val="ddeaf3"/>
                </a:solidFill>
                <a:latin typeface="Courier New"/>
                <a:ea typeface="Courier New"/>
              </a:rPr>
              <a:t>  </a:t>
            </a:r>
            <a:r>
              <a:rPr b="0" lang="en-US" sz="1150" spc="-1" strike="noStrike">
                <a:solidFill>
                  <a:srgbClr val="ddeaf3"/>
                </a:solidFill>
                <a:latin typeface="Courier New"/>
                <a:ea typeface="Courier New"/>
              </a:rPr>
              <a:t>{"trade_id":"T-1000042","symbol":"AAPL",  "side":"BUY", "qty":500, "price":187.45,"ccy":"USD"},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algn="l" pos="0"/>
              </a:tabLst>
            </a:pPr>
            <a:r>
              <a:rPr b="0" lang="en-US" sz="1150" spc="-1" strike="noStrike">
                <a:solidFill>
                  <a:srgbClr val="ddeaf3"/>
                </a:solidFill>
                <a:latin typeface="Courier New"/>
                <a:ea typeface="Courier New"/>
              </a:rPr>
              <a:t>  </a:t>
            </a:r>
            <a:r>
              <a:rPr b="0" lang="en-US" sz="1150" spc="-1" strike="noStrike">
                <a:solidFill>
                  <a:srgbClr val="ddeaf3"/>
                </a:solidFill>
                <a:latin typeface="Courier New"/>
                <a:ea typeface="Courier New"/>
              </a:rPr>
              <a:t>{"trade_id":"T-1000043","symbol":"BP.L",  "side":"SELL","qty":1200,"price":4.78,  "ccy":"GBP"},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algn="l" pos="0"/>
              </a:tabLst>
            </a:pPr>
            <a:r>
              <a:rPr b="0" lang="en-US" sz="1150" spc="-1" strike="noStrike">
                <a:solidFill>
                  <a:srgbClr val="ddeaf3"/>
                </a:solidFill>
                <a:latin typeface="Courier New"/>
                <a:ea typeface="Courier New"/>
              </a:rPr>
              <a:t>  </a:t>
            </a:r>
            <a:r>
              <a:rPr b="0" lang="en-US" sz="1150" spc="-1" strike="noStrike">
                <a:solidFill>
                  <a:srgbClr val="ddeaf3"/>
                </a:solidFill>
                <a:latin typeface="Courier New"/>
                <a:ea typeface="Courier New"/>
              </a:rPr>
              <a:t>{"trade_id":"T-1000044","symbol":"7203.T","side":"BUY", "qty":300, "price":2810,  "ccy":"JPY"}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algn="l" pos="0"/>
              </a:tabLst>
            </a:pPr>
            <a:r>
              <a:rPr b="0" lang="en-US" sz="1150" spc="-1" strike="noStrike">
                <a:solidFill>
                  <a:srgbClr val="ddeaf3"/>
                </a:solidFill>
                <a:latin typeface="Courier New"/>
                <a:ea typeface="Courier New"/>
              </a:rPr>
              <a:t>]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algn="l" pos="0"/>
              </a:tabLst>
            </a:pP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algn="l" pos="0"/>
              </a:tabLst>
            </a:pPr>
            <a:r>
              <a:rPr b="0" lang="en-US" sz="1150" spc="-1" strike="noStrike">
                <a:solidFill>
                  <a:srgbClr val="6fd3c5"/>
                </a:solidFill>
                <a:latin typeface="Courier New"/>
                <a:ea typeface="Courier New"/>
              </a:rPr>
              <a:t># OUTPUT — FX-normalized to USD, valued and banded across the whole batch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algn="l" pos="0"/>
              </a:tabLst>
            </a:pPr>
            <a:r>
              <a:rPr b="0" lang="en-US" sz="1150" spc="-1" strike="noStrike">
                <a:solidFill>
                  <a:srgbClr val="ddeaf3"/>
                </a:solidFill>
                <a:latin typeface="Courier New"/>
                <a:ea typeface="Courier New"/>
              </a:rPr>
              <a:t>[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algn="l" pos="0"/>
              </a:tabLst>
            </a:pPr>
            <a:r>
              <a:rPr b="0" lang="en-US" sz="1150" spc="-1" strike="noStrike">
                <a:solidFill>
                  <a:srgbClr val="ddeaf3"/>
                </a:solidFill>
                <a:latin typeface="Courier New"/>
                <a:ea typeface="Courier New"/>
              </a:rPr>
              <a:t>  </a:t>
            </a:r>
            <a:r>
              <a:rPr b="0" lang="en-US" sz="1150" spc="-1" strike="noStrike">
                <a:solidFill>
                  <a:srgbClr val="ddeaf3"/>
                </a:solidFill>
                <a:latin typeface="Courier New"/>
                <a:ea typeface="Courier New"/>
              </a:rPr>
              <a:t>{"trade_id":"T-1000042","notional_usd":93725.00,"risk_band":"LOW"},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algn="l" pos="0"/>
              </a:tabLst>
            </a:pPr>
            <a:r>
              <a:rPr b="0" lang="en-US" sz="1150" spc="-1" strike="noStrike">
                <a:solidFill>
                  <a:srgbClr val="ddeaf3"/>
                </a:solidFill>
                <a:latin typeface="Courier New"/>
                <a:ea typeface="Courier New"/>
              </a:rPr>
              <a:t>  </a:t>
            </a:r>
            <a:r>
              <a:rPr b="0" lang="en-US" sz="1150" spc="-1" strike="noStrike">
                <a:solidFill>
                  <a:srgbClr val="ddeaf3"/>
                </a:solidFill>
                <a:latin typeface="Courier New"/>
                <a:ea typeface="Courier New"/>
              </a:rPr>
              <a:t>{"trade_id":"T-1000043","notional_usd": 7285.72,"risk_band":"MEDIUM"},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algn="l" pos="0"/>
              </a:tabLst>
            </a:pPr>
            <a:r>
              <a:rPr b="0" lang="en-US" sz="1150" spc="-1" strike="noStrike">
                <a:solidFill>
                  <a:srgbClr val="ddeaf3"/>
                </a:solidFill>
                <a:latin typeface="Courier New"/>
                <a:ea typeface="Courier New"/>
              </a:rPr>
              <a:t>  </a:t>
            </a:r>
            <a:r>
              <a:rPr b="0" lang="en-US" sz="1150" spc="-1" strike="noStrike">
                <a:solidFill>
                  <a:srgbClr val="ddeaf3"/>
                </a:solidFill>
                <a:latin typeface="Courier New"/>
                <a:ea typeface="Courier New"/>
              </a:rPr>
              <a:t>{"trade_id":"T-1000044","notional_usd": 5648.10,"risk_band":"LOW"}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algn="l" pos="0"/>
              </a:tabLst>
            </a:pPr>
            <a:r>
              <a:rPr b="0" lang="en-US" sz="1150" spc="-1" strike="noStrike">
                <a:solidFill>
                  <a:srgbClr val="ddeaf3"/>
                </a:solidFill>
                <a:latin typeface="Courier New"/>
                <a:ea typeface="Courier New"/>
              </a:rPr>
              <a:t>]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3" name="Text 6"/>
          <p:cNvSpPr/>
          <p:nvPr/>
        </p:nvSpPr>
        <p:spPr>
          <a:xfrm>
            <a:off x="640080" y="5943600"/>
            <a:ext cx="10908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7a8794"/>
                </a:solidFill>
                <a:latin typeface="Calibri"/>
                <a:ea typeface="Calibri"/>
              </a:rPr>
              <a:t>Amortizes per-call overhead across the batch — about 2.3x the row lane on the benchmark.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Text 0"/>
          <p:cNvSpPr/>
          <p:nvPr/>
        </p:nvSpPr>
        <p:spPr>
          <a:xfrm>
            <a:off x="640080" y="438840"/>
            <a:ext cx="9600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900" spc="-1" strike="noStrike">
                <a:solidFill>
                  <a:srgbClr val="12233f"/>
                </a:solidFill>
                <a:latin typeface="Cambria"/>
                <a:ea typeface="Cambria"/>
              </a:rPr>
              <a:t>Trade ETL — Apache Arrow Record Batch (Columnar)</a:t>
            </a:r>
            <a:endParaRPr b="0" lang="en-US" sz="2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5" name="Text 1"/>
          <p:cNvSpPr/>
          <p:nvPr/>
        </p:nvSpPr>
        <p:spPr>
          <a:xfrm>
            <a:off x="10698480" y="438840"/>
            <a:ext cx="8683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00a896"/>
                </a:solidFill>
                <a:latin typeface="Cambria"/>
                <a:ea typeface="Cambria"/>
              </a:rPr>
              <a:t>A3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6" name="Shape 2"/>
          <p:cNvSpPr/>
          <p:nvPr/>
        </p:nvSpPr>
        <p:spPr>
          <a:xfrm>
            <a:off x="640080" y="1371600"/>
            <a:ext cx="10908360" cy="456840"/>
          </a:xfrm>
          <a:prstGeom prst="roundRect">
            <a:avLst>
              <a:gd name="adj" fmla="val 10000"/>
            </a:avLst>
          </a:prstGeom>
          <a:solidFill>
            <a:srgbClr val="0078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7" name="Text 3"/>
          <p:cNvSpPr/>
          <p:nvPr/>
        </p:nvSpPr>
        <p:spPr>
          <a:xfrm>
            <a:off x="640080" y="1371600"/>
            <a:ext cx="10908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  <a:ea typeface="Calibri"/>
              </a:rPr>
              <a:t>ARROW MODE  —  columnar batch, operations run vectorized across whole columns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8" name="Shape 4"/>
          <p:cNvSpPr/>
          <p:nvPr/>
        </p:nvSpPr>
        <p:spPr>
          <a:xfrm>
            <a:off x="640080" y="1920240"/>
            <a:ext cx="10908360" cy="3931560"/>
          </a:xfrm>
          <a:prstGeom prst="roundRect">
            <a:avLst>
              <a:gd name="adj" fmla="val 1163"/>
            </a:avLst>
          </a:prstGeom>
          <a:solidFill>
            <a:srgbClr val="1024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9" name="Text 5"/>
          <p:cNvSpPr/>
          <p:nvPr/>
        </p:nvSpPr>
        <p:spPr>
          <a:xfrm>
            <a:off x="960120" y="2084760"/>
            <a:ext cx="10268280" cy="370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algn="l" pos="0"/>
              </a:tabLst>
            </a:pPr>
            <a:r>
              <a:rPr b="0" lang="en-US" sz="1150" spc="-1" strike="noStrike">
                <a:solidFill>
                  <a:srgbClr val="6fd3c5"/>
                </a:solidFill>
                <a:latin typeface="Courier New"/>
                <a:ea typeface="Courier New"/>
              </a:rPr>
              <a:t># Arrow RecordBatch  (3 rows x 7 columns)  -- schema: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algn="l" pos="0"/>
              </a:tabLst>
            </a:pPr>
            <a:r>
              <a:rPr b="0" lang="en-US" sz="1150" spc="-1" strike="noStrike">
                <a:solidFill>
                  <a:srgbClr val="6fd3c5"/>
                </a:solidFill>
                <a:latin typeface="Courier New"/>
                <a:ea typeface="Courier New"/>
              </a:rPr>
              <a:t>#   trade_id: string   symbol: string   side: dictionary&lt;string&gt;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algn="l" pos="0"/>
              </a:tabLst>
            </a:pPr>
            <a:r>
              <a:rPr b="0" lang="en-US" sz="1150" spc="-1" strike="noStrike">
                <a:solidFill>
                  <a:srgbClr val="6fd3c5"/>
                </a:solidFill>
                <a:latin typeface="Courier New"/>
                <a:ea typeface="Courier New"/>
              </a:rPr>
              <a:t>#   quantity: int64    price: float64   currency: dictionary&lt;string&gt;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algn="l" pos="0"/>
              </a:tabLst>
            </a:pPr>
            <a:r>
              <a:rPr b="0" lang="en-US" sz="1150" spc="-1" strike="noStrike">
                <a:solidFill>
                  <a:srgbClr val="6fd3c5"/>
                </a:solidFill>
                <a:latin typeface="Courier New"/>
                <a:ea typeface="Courier New"/>
              </a:rPr>
              <a:t>#   notional_usd: float64   (computed)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algn="l" pos="0"/>
              </a:tabLst>
            </a:pP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algn="l" pos="0"/>
              </a:tabLst>
            </a:pPr>
            <a:r>
              <a:rPr b="0" lang="en-US" sz="1150" spc="-1" strike="noStrike">
                <a:solidFill>
                  <a:srgbClr val="6fd3c5"/>
                </a:solidFill>
                <a:latin typeface="Courier New"/>
                <a:ea typeface="Courier New"/>
              </a:rPr>
              <a:t># Column-oriented storage (each column is a contiguous vector):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algn="l" pos="0"/>
              </a:tabLst>
            </a:pPr>
            <a:r>
              <a:rPr b="0" lang="en-US" sz="1150" spc="-1" strike="noStrike">
                <a:solidFill>
                  <a:srgbClr val="ddeaf3"/>
                </a:solidFill>
                <a:latin typeface="Courier New"/>
                <a:ea typeface="Courier New"/>
              </a:rPr>
              <a:t>symbol       = ["AAPL",  "BP.L",  "7203.T"]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algn="l" pos="0"/>
              </a:tabLst>
            </a:pPr>
            <a:r>
              <a:rPr b="0" lang="en-US" sz="1150" spc="-1" strike="noStrike">
                <a:solidFill>
                  <a:srgbClr val="ddeaf3"/>
                </a:solidFill>
                <a:latin typeface="Courier New"/>
                <a:ea typeface="Courier New"/>
              </a:rPr>
              <a:t>quantity     = [500,      1200,     300]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algn="l" pos="0"/>
              </a:tabLst>
            </a:pPr>
            <a:r>
              <a:rPr b="0" lang="en-US" sz="1150" spc="-1" strike="noStrike">
                <a:solidFill>
                  <a:srgbClr val="ddeaf3"/>
                </a:solidFill>
                <a:latin typeface="Courier New"/>
                <a:ea typeface="Courier New"/>
              </a:rPr>
              <a:t>price        = [187.45,   4.78,     2810.0]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algn="l" pos="0"/>
              </a:tabLst>
            </a:pPr>
            <a:r>
              <a:rPr b="0" lang="en-US" sz="1150" spc="-1" strike="noStrike">
                <a:solidFill>
                  <a:srgbClr val="ddeaf3"/>
                </a:solidFill>
                <a:latin typeface="Courier New"/>
                <a:ea typeface="Courier New"/>
              </a:rPr>
              <a:t>currency     = ["USD",    "GBP",    "JPY"]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algn="l" pos="0"/>
              </a:tabLst>
            </a:pPr>
            <a:r>
              <a:rPr b="0" lang="en-US" sz="1150" spc="-1" strike="noStrike">
                <a:solidFill>
                  <a:srgbClr val="ddeaf3"/>
                </a:solidFill>
                <a:latin typeface="Courier New"/>
                <a:ea typeface="Courier New"/>
              </a:rPr>
              <a:t>fx_rate      = [1.00,     1.2710,   0.006700]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algn="l" pos="0"/>
              </a:tabLst>
            </a:pPr>
            <a:r>
              <a:rPr b="0" lang="en-US" sz="1150" spc="-1" strike="noStrike">
                <a:solidFill>
                  <a:srgbClr val="ddeaf3"/>
                </a:solidFill>
                <a:latin typeface="Courier New"/>
                <a:ea typeface="Courier New"/>
              </a:rPr>
              <a:t>notional_usd = [93725.00, 7285.72,  5648.10]   # qty * price * fx, vectorized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algn="l" pos="0"/>
              </a:tabLst>
            </a:pPr>
            <a:r>
              <a:rPr b="0" lang="en-US" sz="1150" spc="-1" strike="noStrike">
                <a:solidFill>
                  <a:srgbClr val="ddeaf3"/>
                </a:solidFill>
                <a:latin typeface="Courier New"/>
                <a:ea typeface="Courier New"/>
              </a:rPr>
              <a:t>risk_band    = ["LOW",    "MEDIUM", "LOW"]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0" name="Text 6"/>
          <p:cNvSpPr/>
          <p:nvPr/>
        </p:nvSpPr>
        <p:spPr>
          <a:xfrm>
            <a:off x="640080" y="5943600"/>
            <a:ext cx="10908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7a8794"/>
                </a:solidFill>
                <a:latin typeface="Calibri"/>
                <a:ea typeface="Calibri"/>
              </a:rPr>
              <a:t>Highest throughput — about 7.4x the row lane on 50k heterogeneous trades, bit-for-bit identical.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Text 0"/>
          <p:cNvSpPr/>
          <p:nvPr/>
        </p:nvSpPr>
        <p:spPr>
          <a:xfrm>
            <a:off x="640080" y="438840"/>
            <a:ext cx="9600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900" spc="-1" strike="noStrike">
                <a:solidFill>
                  <a:srgbClr val="12233f"/>
                </a:solidFill>
                <a:latin typeface="Cambria"/>
                <a:ea typeface="Cambria"/>
              </a:rPr>
              <a:t>Competitive Analysis — How DishtaYantra Compares</a:t>
            </a:r>
            <a:endParaRPr b="0" lang="en-US" sz="2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2" name="Text 1"/>
          <p:cNvSpPr/>
          <p:nvPr/>
        </p:nvSpPr>
        <p:spPr>
          <a:xfrm>
            <a:off x="10698480" y="438840"/>
            <a:ext cx="8683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00a896"/>
                </a:solidFill>
                <a:latin typeface="Cambria"/>
                <a:ea typeface="Cambria"/>
              </a:rPr>
              <a:t>A4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393" name="Table 0"/>
          <p:cNvGraphicFramePr/>
          <p:nvPr/>
        </p:nvGraphicFramePr>
        <p:xfrm>
          <a:off x="640080" y="1371600"/>
          <a:ext cx="10908360" cy="4160160"/>
        </p:xfrm>
        <a:graphic>
          <a:graphicData uri="http://schemas.openxmlformats.org/drawingml/2006/table">
            <a:tbl>
              <a:tblPr/>
              <a:tblGrid>
                <a:gridCol w="2377440"/>
                <a:gridCol w="2971800"/>
                <a:gridCol w="2907720"/>
                <a:gridCol w="2651760"/>
              </a:tblGrid>
              <a:tr h="462240">
                <a:tc>
                  <a:txBody>
                    <a:bodyPr lIns="88560" rIns="8856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Dimension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12240">
                      <a:solidFill>
                        <a:srgbClr val="dbe3ee"/>
                      </a:solidFill>
                      <a:prstDash val="solid"/>
                    </a:lnL>
                    <a:lnR w="12240">
                      <a:solidFill>
                        <a:srgbClr val="dbe3ee"/>
                      </a:solidFill>
                      <a:prstDash val="solid"/>
                    </a:lnR>
                    <a:lnT w="12240">
                      <a:solidFill>
                        <a:srgbClr val="dbe3ee"/>
                      </a:solidFill>
                      <a:prstDash val="solid"/>
                    </a:lnT>
                    <a:lnB w="12240">
                      <a:solidFill>
                        <a:srgbClr val="dbe3ee"/>
                      </a:solidFill>
                      <a:prstDash val="solid"/>
                    </a:lnB>
                    <a:solidFill>
                      <a:srgbClr val="12233f"/>
                    </a:solidFill>
                  </a:tcPr>
                </a:tc>
                <a:tc>
                  <a:txBody>
                    <a:bodyPr lIns="88560" rIns="8856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DishtaYantra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12240">
                      <a:solidFill>
                        <a:srgbClr val="dbe3ee"/>
                      </a:solidFill>
                      <a:prstDash val="solid"/>
                    </a:lnL>
                    <a:lnR w="12240">
                      <a:solidFill>
                        <a:srgbClr val="dbe3ee"/>
                      </a:solidFill>
                      <a:prstDash val="solid"/>
                    </a:lnR>
                    <a:lnT w="12240">
                      <a:solidFill>
                        <a:srgbClr val="dbe3ee"/>
                      </a:solidFill>
                      <a:prstDash val="solid"/>
                    </a:lnT>
                    <a:lnB w="12240">
                      <a:solidFill>
                        <a:srgbClr val="dbe3ee"/>
                      </a:solidFill>
                      <a:prstDash val="solid"/>
                    </a:lnB>
                    <a:solidFill>
                      <a:srgbClr val="12233f"/>
                    </a:solidFill>
                  </a:tcPr>
                </a:tc>
                <a:tc>
                  <a:txBody>
                    <a:bodyPr lIns="88560" rIns="8856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Cluster stream processors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12240">
                      <a:solidFill>
                        <a:srgbClr val="dbe3ee"/>
                      </a:solidFill>
                      <a:prstDash val="solid"/>
                    </a:lnL>
                    <a:lnR w="12240">
                      <a:solidFill>
                        <a:srgbClr val="dbe3ee"/>
                      </a:solidFill>
                      <a:prstDash val="solid"/>
                    </a:lnR>
                    <a:lnT w="12240">
                      <a:solidFill>
                        <a:srgbClr val="dbe3ee"/>
                      </a:solidFill>
                      <a:prstDash val="solid"/>
                    </a:lnT>
                    <a:lnB w="12240">
                      <a:solidFill>
                        <a:srgbClr val="dbe3ee"/>
                      </a:solidFill>
                      <a:prstDash val="solid"/>
                    </a:lnB>
                    <a:solidFill>
                      <a:srgbClr val="12233f"/>
                    </a:solidFill>
                  </a:tcPr>
                </a:tc>
                <a:tc>
                  <a:txBody>
                    <a:bodyPr lIns="88560" rIns="8856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Traditional ETL / custom code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12240">
                      <a:solidFill>
                        <a:srgbClr val="dbe3ee"/>
                      </a:solidFill>
                      <a:prstDash val="solid"/>
                    </a:lnL>
                    <a:lnR w="12240">
                      <a:solidFill>
                        <a:srgbClr val="dbe3ee"/>
                      </a:solidFill>
                      <a:prstDash val="solid"/>
                    </a:lnR>
                    <a:lnT w="12240">
                      <a:solidFill>
                        <a:srgbClr val="dbe3ee"/>
                      </a:solidFill>
                      <a:prstDash val="solid"/>
                    </a:lnT>
                    <a:lnB w="12240">
                      <a:solidFill>
                        <a:srgbClr val="dbe3ee"/>
                      </a:solidFill>
                      <a:prstDash val="solid"/>
                    </a:lnB>
                    <a:solidFill>
                      <a:srgbClr val="12233f"/>
                    </a:solidFill>
                  </a:tcPr>
                </a:tc>
              </a:tr>
              <a:tr h="462240">
                <a:tc>
                  <a:txBody>
                    <a:bodyPr lIns="88560" rIns="8856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1b2a3a"/>
                          </a:solidFill>
                          <a:latin typeface="Calibri"/>
                          <a:ea typeface="Calibri"/>
                        </a:rPr>
                        <a:t>Deployment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12240">
                      <a:solidFill>
                        <a:srgbClr val="dbe3ee"/>
                      </a:solidFill>
                      <a:prstDash val="solid"/>
                    </a:lnL>
                    <a:lnR w="12240">
                      <a:solidFill>
                        <a:srgbClr val="dbe3ee"/>
                      </a:solidFill>
                      <a:prstDash val="solid"/>
                    </a:lnR>
                    <a:lnT w="12240">
                      <a:solidFill>
                        <a:srgbClr val="dbe3ee"/>
                      </a:solidFill>
                      <a:prstDash val="solid"/>
                    </a:lnT>
                    <a:lnB w="12240">
                      <a:solidFill>
                        <a:srgbClr val="dbe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8560" rIns="8856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50" spc="-1" strike="noStrike">
                          <a:solidFill>
                            <a:srgbClr val="00786b"/>
                          </a:solidFill>
                          <a:latin typeface="Calibri"/>
                          <a:ea typeface="Calibri"/>
                        </a:rPr>
                        <a:t>Single node, in-process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12240">
                      <a:solidFill>
                        <a:srgbClr val="dbe3ee"/>
                      </a:solidFill>
                      <a:prstDash val="solid"/>
                    </a:lnL>
                    <a:lnR w="12240">
                      <a:solidFill>
                        <a:srgbClr val="dbe3ee"/>
                      </a:solidFill>
                      <a:prstDash val="solid"/>
                    </a:lnR>
                    <a:lnT w="12240">
                      <a:solidFill>
                        <a:srgbClr val="dbe3ee"/>
                      </a:solidFill>
                      <a:prstDash val="solid"/>
                    </a:lnT>
                    <a:lnB w="12240">
                      <a:solidFill>
                        <a:srgbClr val="dbe3ee"/>
                      </a:solidFill>
                      <a:prstDash val="solid"/>
                    </a:lnB>
                    <a:solidFill>
                      <a:srgbClr val="eaf6f4"/>
                    </a:solidFill>
                  </a:tcPr>
                </a:tc>
                <a:tc>
                  <a:txBody>
                    <a:bodyPr lIns="88560" rIns="8856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1b2a3a"/>
                          </a:solidFill>
                          <a:latin typeface="Calibri"/>
                          <a:ea typeface="Calibri"/>
                        </a:rPr>
                        <a:t>Distributed cluster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12240">
                      <a:solidFill>
                        <a:srgbClr val="dbe3ee"/>
                      </a:solidFill>
                      <a:prstDash val="solid"/>
                    </a:lnL>
                    <a:lnR w="12240">
                      <a:solidFill>
                        <a:srgbClr val="dbe3ee"/>
                      </a:solidFill>
                      <a:prstDash val="solid"/>
                    </a:lnR>
                    <a:lnT w="12240">
                      <a:solidFill>
                        <a:srgbClr val="dbe3ee"/>
                      </a:solidFill>
                      <a:prstDash val="solid"/>
                    </a:lnT>
                    <a:lnB w="12240">
                      <a:solidFill>
                        <a:srgbClr val="dbe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8560" rIns="8856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1b2a3a"/>
                          </a:solidFill>
                          <a:latin typeface="Calibri"/>
                          <a:ea typeface="Calibri"/>
                        </a:rPr>
                        <a:t>Servers / many services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12240">
                      <a:solidFill>
                        <a:srgbClr val="dbe3ee"/>
                      </a:solidFill>
                      <a:prstDash val="solid"/>
                    </a:lnL>
                    <a:lnR w="12240">
                      <a:solidFill>
                        <a:srgbClr val="dbe3ee"/>
                      </a:solidFill>
                      <a:prstDash val="solid"/>
                    </a:lnR>
                    <a:lnT w="12240">
                      <a:solidFill>
                        <a:srgbClr val="dbe3ee"/>
                      </a:solidFill>
                      <a:prstDash val="solid"/>
                    </a:lnT>
                    <a:lnB w="12240">
                      <a:solidFill>
                        <a:srgbClr val="dbe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2240">
                <a:tc>
                  <a:txBody>
                    <a:bodyPr lIns="88560" rIns="8856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1b2a3a"/>
                          </a:solidFill>
                          <a:latin typeface="Calibri"/>
                          <a:ea typeface="Calibri"/>
                        </a:rPr>
                        <a:t>Scaling model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12240">
                      <a:solidFill>
                        <a:srgbClr val="dbe3ee"/>
                      </a:solidFill>
                      <a:prstDash val="solid"/>
                    </a:lnL>
                    <a:lnR w="12240">
                      <a:solidFill>
                        <a:srgbClr val="dbe3ee"/>
                      </a:solidFill>
                      <a:prstDash val="solid"/>
                    </a:lnR>
                    <a:lnT w="12240">
                      <a:solidFill>
                        <a:srgbClr val="dbe3ee"/>
                      </a:solidFill>
                      <a:prstDash val="solid"/>
                    </a:lnT>
                    <a:lnB w="12240">
                      <a:solidFill>
                        <a:srgbClr val="dbe3e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88560" rIns="8856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50" spc="-1" strike="noStrike">
                          <a:solidFill>
                            <a:srgbClr val="00786b"/>
                          </a:solidFill>
                          <a:latin typeface="Calibri"/>
                          <a:ea typeface="Calibri"/>
                        </a:rPr>
                        <a:t>Loose cluster of paired nodes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12240">
                      <a:solidFill>
                        <a:srgbClr val="dbe3ee"/>
                      </a:solidFill>
                      <a:prstDash val="solid"/>
                    </a:lnL>
                    <a:lnR w="12240">
                      <a:solidFill>
                        <a:srgbClr val="dbe3ee"/>
                      </a:solidFill>
                      <a:prstDash val="solid"/>
                    </a:lnR>
                    <a:lnT w="12240">
                      <a:solidFill>
                        <a:srgbClr val="dbe3ee"/>
                      </a:solidFill>
                      <a:prstDash val="solid"/>
                    </a:lnT>
                    <a:lnB w="12240">
                      <a:solidFill>
                        <a:srgbClr val="dbe3ee"/>
                      </a:solidFill>
                      <a:prstDash val="solid"/>
                    </a:lnB>
                    <a:solidFill>
                      <a:srgbClr val="eaf6f4"/>
                    </a:solidFill>
                  </a:tcPr>
                </a:tc>
                <a:tc>
                  <a:txBody>
                    <a:bodyPr lIns="88560" rIns="8856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1b2a3a"/>
                          </a:solidFill>
                          <a:latin typeface="Calibri"/>
                          <a:ea typeface="Calibri"/>
                        </a:rPr>
                        <a:t>Tightly-coupled cluster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12240">
                      <a:solidFill>
                        <a:srgbClr val="dbe3ee"/>
                      </a:solidFill>
                      <a:prstDash val="solid"/>
                    </a:lnL>
                    <a:lnR w="12240">
                      <a:solidFill>
                        <a:srgbClr val="dbe3ee"/>
                      </a:solidFill>
                      <a:prstDash val="solid"/>
                    </a:lnR>
                    <a:lnT w="12240">
                      <a:solidFill>
                        <a:srgbClr val="dbe3ee"/>
                      </a:solidFill>
                      <a:prstDash val="solid"/>
                    </a:lnT>
                    <a:lnB w="12240">
                      <a:solidFill>
                        <a:srgbClr val="dbe3e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88560" rIns="8856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1b2a3a"/>
                          </a:solidFill>
                          <a:latin typeface="Calibri"/>
                          <a:ea typeface="Calibri"/>
                        </a:rPr>
                        <a:t>Scale-up or bespoke sharding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12240">
                      <a:solidFill>
                        <a:srgbClr val="dbe3ee"/>
                      </a:solidFill>
                      <a:prstDash val="solid"/>
                    </a:lnL>
                    <a:lnR w="12240">
                      <a:solidFill>
                        <a:srgbClr val="dbe3ee"/>
                      </a:solidFill>
                      <a:prstDash val="solid"/>
                    </a:lnR>
                    <a:lnT w="12240">
                      <a:solidFill>
                        <a:srgbClr val="dbe3ee"/>
                      </a:solidFill>
                      <a:prstDash val="solid"/>
                    </a:lnT>
                    <a:lnB w="12240">
                      <a:solidFill>
                        <a:srgbClr val="dbe3e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</a:tr>
              <a:tr h="462240">
                <a:tc>
                  <a:txBody>
                    <a:bodyPr lIns="88560" rIns="8856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1b2a3a"/>
                          </a:solidFill>
                          <a:latin typeface="Calibri"/>
                          <a:ea typeface="Calibri"/>
                        </a:rPr>
                        <a:t>Latency model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12240">
                      <a:solidFill>
                        <a:srgbClr val="dbe3ee"/>
                      </a:solidFill>
                      <a:prstDash val="solid"/>
                    </a:lnL>
                    <a:lnR w="12240">
                      <a:solidFill>
                        <a:srgbClr val="dbe3ee"/>
                      </a:solidFill>
                      <a:prstDash val="solid"/>
                    </a:lnR>
                    <a:lnT w="12240">
                      <a:solidFill>
                        <a:srgbClr val="dbe3ee"/>
                      </a:solidFill>
                      <a:prstDash val="solid"/>
                    </a:lnT>
                    <a:lnB w="12240">
                      <a:solidFill>
                        <a:srgbClr val="dbe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8560" rIns="8856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50" spc="-1" strike="noStrike">
                          <a:solidFill>
                            <a:srgbClr val="00786b"/>
                          </a:solidFill>
                          <a:latin typeface="Calibri"/>
                          <a:ea typeface="Calibri"/>
                        </a:rPr>
                        <a:t>Reactive — only on change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12240">
                      <a:solidFill>
                        <a:srgbClr val="dbe3ee"/>
                      </a:solidFill>
                      <a:prstDash val="solid"/>
                    </a:lnL>
                    <a:lnR w="12240">
                      <a:solidFill>
                        <a:srgbClr val="dbe3ee"/>
                      </a:solidFill>
                      <a:prstDash val="solid"/>
                    </a:lnR>
                    <a:lnT w="12240">
                      <a:solidFill>
                        <a:srgbClr val="dbe3ee"/>
                      </a:solidFill>
                      <a:prstDash val="solid"/>
                    </a:lnT>
                    <a:lnB w="12240">
                      <a:solidFill>
                        <a:srgbClr val="dbe3ee"/>
                      </a:solidFill>
                      <a:prstDash val="solid"/>
                    </a:lnB>
                    <a:solidFill>
                      <a:srgbClr val="eaf6f4"/>
                    </a:solidFill>
                  </a:tcPr>
                </a:tc>
                <a:tc>
                  <a:txBody>
                    <a:bodyPr lIns="88560" rIns="8856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1b2a3a"/>
                          </a:solidFill>
                          <a:latin typeface="Calibri"/>
                          <a:ea typeface="Calibri"/>
                        </a:rPr>
                        <a:t>Continuous reprocess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12240">
                      <a:solidFill>
                        <a:srgbClr val="dbe3ee"/>
                      </a:solidFill>
                      <a:prstDash val="solid"/>
                    </a:lnL>
                    <a:lnR w="12240">
                      <a:solidFill>
                        <a:srgbClr val="dbe3ee"/>
                      </a:solidFill>
                      <a:prstDash val="solid"/>
                    </a:lnR>
                    <a:lnT w="12240">
                      <a:solidFill>
                        <a:srgbClr val="dbe3ee"/>
                      </a:solidFill>
                      <a:prstDash val="solid"/>
                    </a:lnT>
                    <a:lnB w="12240">
                      <a:solidFill>
                        <a:srgbClr val="dbe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8560" rIns="8856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1b2a3a"/>
                          </a:solidFill>
                          <a:latin typeface="Calibri"/>
                          <a:ea typeface="Calibri"/>
                        </a:rPr>
                        <a:t>Batch / micro-batch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12240">
                      <a:solidFill>
                        <a:srgbClr val="dbe3ee"/>
                      </a:solidFill>
                      <a:prstDash val="solid"/>
                    </a:lnL>
                    <a:lnR w="12240">
                      <a:solidFill>
                        <a:srgbClr val="dbe3ee"/>
                      </a:solidFill>
                      <a:prstDash val="solid"/>
                    </a:lnR>
                    <a:lnT w="12240">
                      <a:solidFill>
                        <a:srgbClr val="dbe3ee"/>
                      </a:solidFill>
                      <a:prstDash val="solid"/>
                    </a:lnT>
                    <a:lnB w="12240">
                      <a:solidFill>
                        <a:srgbClr val="dbe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2240">
                <a:tc>
                  <a:txBody>
                    <a:bodyPr lIns="88560" rIns="8856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1b2a3a"/>
                          </a:solidFill>
                          <a:latin typeface="Calibri"/>
                          <a:ea typeface="Calibri"/>
                        </a:rPr>
                        <a:t>Backpressure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12240">
                      <a:solidFill>
                        <a:srgbClr val="dbe3ee"/>
                      </a:solidFill>
                      <a:prstDash val="solid"/>
                    </a:lnL>
                    <a:lnR w="12240">
                      <a:solidFill>
                        <a:srgbClr val="dbe3ee"/>
                      </a:solidFill>
                      <a:prstDash val="solid"/>
                    </a:lnR>
                    <a:lnT w="12240">
                      <a:solidFill>
                        <a:srgbClr val="dbe3ee"/>
                      </a:solidFill>
                      <a:prstDash val="solid"/>
                    </a:lnT>
                    <a:lnB w="12240">
                      <a:solidFill>
                        <a:srgbClr val="dbe3e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88560" rIns="8856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50" spc="-1" strike="noStrike">
                          <a:solidFill>
                            <a:srgbClr val="00786b"/>
                          </a:solidFill>
                          <a:latin typeface="Calibri"/>
                          <a:ea typeface="Calibri"/>
                        </a:rPr>
                        <a:t>Opt-in, credit-based flow control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12240">
                      <a:solidFill>
                        <a:srgbClr val="dbe3ee"/>
                      </a:solidFill>
                      <a:prstDash val="solid"/>
                    </a:lnL>
                    <a:lnR w="12240">
                      <a:solidFill>
                        <a:srgbClr val="dbe3ee"/>
                      </a:solidFill>
                      <a:prstDash val="solid"/>
                    </a:lnR>
                    <a:lnT w="12240">
                      <a:solidFill>
                        <a:srgbClr val="dbe3ee"/>
                      </a:solidFill>
                      <a:prstDash val="solid"/>
                    </a:lnT>
                    <a:lnB w="12240">
                      <a:solidFill>
                        <a:srgbClr val="dbe3ee"/>
                      </a:solidFill>
                      <a:prstDash val="solid"/>
                    </a:lnB>
                    <a:solidFill>
                      <a:srgbClr val="eaf6f4"/>
                    </a:solidFill>
                  </a:tcPr>
                </a:tc>
                <a:tc>
                  <a:txBody>
                    <a:bodyPr lIns="88560" rIns="8856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1b2a3a"/>
                          </a:solidFill>
                          <a:latin typeface="Calibri"/>
                          <a:ea typeface="Calibri"/>
                        </a:rPr>
                        <a:t>Built-in (Flink), manual (Spark)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12240">
                      <a:solidFill>
                        <a:srgbClr val="dbe3ee"/>
                      </a:solidFill>
                      <a:prstDash val="solid"/>
                    </a:lnL>
                    <a:lnR w="12240">
                      <a:solidFill>
                        <a:srgbClr val="dbe3ee"/>
                      </a:solidFill>
                      <a:prstDash val="solid"/>
                    </a:lnR>
                    <a:lnT w="12240">
                      <a:solidFill>
                        <a:srgbClr val="dbe3ee"/>
                      </a:solidFill>
                      <a:prstDash val="solid"/>
                    </a:lnT>
                    <a:lnB w="12240">
                      <a:solidFill>
                        <a:srgbClr val="dbe3e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88560" rIns="8856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1b2a3a"/>
                          </a:solidFill>
                          <a:latin typeface="Calibri"/>
                          <a:ea typeface="Calibri"/>
                        </a:rPr>
                        <a:t>Manual / none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12240">
                      <a:solidFill>
                        <a:srgbClr val="dbe3ee"/>
                      </a:solidFill>
                      <a:prstDash val="solid"/>
                    </a:lnL>
                    <a:lnR w="12240">
                      <a:solidFill>
                        <a:srgbClr val="dbe3ee"/>
                      </a:solidFill>
                      <a:prstDash val="solid"/>
                    </a:lnR>
                    <a:lnT w="12240">
                      <a:solidFill>
                        <a:srgbClr val="dbe3ee"/>
                      </a:solidFill>
                      <a:prstDash val="solid"/>
                    </a:lnT>
                    <a:lnB w="12240">
                      <a:solidFill>
                        <a:srgbClr val="dbe3e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</a:tr>
              <a:tr h="462240">
                <a:tc>
                  <a:txBody>
                    <a:bodyPr lIns="88560" rIns="8856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1b2a3a"/>
                          </a:solidFill>
                          <a:latin typeface="Calibri"/>
                          <a:ea typeface="Calibri"/>
                        </a:rPr>
                        <a:t>Compute languages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12240">
                      <a:solidFill>
                        <a:srgbClr val="dbe3ee"/>
                      </a:solidFill>
                      <a:prstDash val="solid"/>
                    </a:lnL>
                    <a:lnR w="12240">
                      <a:solidFill>
                        <a:srgbClr val="dbe3ee"/>
                      </a:solidFill>
                      <a:prstDash val="solid"/>
                    </a:lnR>
                    <a:lnT w="12240">
                      <a:solidFill>
                        <a:srgbClr val="dbe3ee"/>
                      </a:solidFill>
                      <a:prstDash val="solid"/>
                    </a:lnT>
                    <a:lnB w="12240">
                      <a:solidFill>
                        <a:srgbClr val="dbe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8560" rIns="8856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50" spc="-1" strike="noStrike">
                          <a:solidFill>
                            <a:srgbClr val="00786b"/>
                          </a:solidFill>
                          <a:latin typeface="Calibri"/>
                          <a:ea typeface="Calibri"/>
                        </a:rPr>
                        <a:t>Python, C++, Rust, JVM, Arrow, WASM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12240">
                      <a:solidFill>
                        <a:srgbClr val="dbe3ee"/>
                      </a:solidFill>
                      <a:prstDash val="solid"/>
                    </a:lnL>
                    <a:lnR w="12240">
                      <a:solidFill>
                        <a:srgbClr val="dbe3ee"/>
                      </a:solidFill>
                      <a:prstDash val="solid"/>
                    </a:lnR>
                    <a:lnT w="12240">
                      <a:solidFill>
                        <a:srgbClr val="dbe3ee"/>
                      </a:solidFill>
                      <a:prstDash val="solid"/>
                    </a:lnT>
                    <a:lnB w="12240">
                      <a:solidFill>
                        <a:srgbClr val="dbe3ee"/>
                      </a:solidFill>
                      <a:prstDash val="solid"/>
                    </a:lnB>
                    <a:solidFill>
                      <a:srgbClr val="eaf6f4"/>
                    </a:solidFill>
                  </a:tcPr>
                </a:tc>
                <a:tc>
                  <a:txBody>
                    <a:bodyPr lIns="88560" rIns="8856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1b2a3a"/>
                          </a:solidFill>
                          <a:latin typeface="Calibri"/>
                          <a:ea typeface="Calibri"/>
                        </a:rPr>
                        <a:t>Mostly JVM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12240">
                      <a:solidFill>
                        <a:srgbClr val="dbe3ee"/>
                      </a:solidFill>
                      <a:prstDash val="solid"/>
                    </a:lnL>
                    <a:lnR w="12240">
                      <a:solidFill>
                        <a:srgbClr val="dbe3ee"/>
                      </a:solidFill>
                      <a:prstDash val="solid"/>
                    </a:lnR>
                    <a:lnT w="12240">
                      <a:solidFill>
                        <a:srgbClr val="dbe3ee"/>
                      </a:solidFill>
                      <a:prstDash val="solid"/>
                    </a:lnT>
                    <a:lnB w="12240">
                      <a:solidFill>
                        <a:srgbClr val="dbe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8560" rIns="8856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1b2a3a"/>
                          </a:solidFill>
                          <a:latin typeface="Calibri"/>
                          <a:ea typeface="Calibri"/>
                        </a:rPr>
                        <a:t>Mixed / siloed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12240">
                      <a:solidFill>
                        <a:srgbClr val="dbe3ee"/>
                      </a:solidFill>
                      <a:prstDash val="solid"/>
                    </a:lnL>
                    <a:lnR w="12240">
                      <a:solidFill>
                        <a:srgbClr val="dbe3ee"/>
                      </a:solidFill>
                      <a:prstDash val="solid"/>
                    </a:lnR>
                    <a:lnT w="12240">
                      <a:solidFill>
                        <a:srgbClr val="dbe3ee"/>
                      </a:solidFill>
                      <a:prstDash val="solid"/>
                    </a:lnT>
                    <a:lnB w="12240">
                      <a:solidFill>
                        <a:srgbClr val="dbe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2240">
                <a:tc>
                  <a:txBody>
                    <a:bodyPr lIns="88560" rIns="8856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1b2a3a"/>
                          </a:solidFill>
                          <a:latin typeface="Calibri"/>
                          <a:ea typeface="Calibri"/>
                        </a:rPr>
                        <a:t>Authoring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12240">
                      <a:solidFill>
                        <a:srgbClr val="dbe3ee"/>
                      </a:solidFill>
                      <a:prstDash val="solid"/>
                    </a:lnL>
                    <a:lnR w="12240">
                      <a:solidFill>
                        <a:srgbClr val="dbe3ee"/>
                      </a:solidFill>
                      <a:prstDash val="solid"/>
                    </a:lnR>
                    <a:lnT w="12240">
                      <a:solidFill>
                        <a:srgbClr val="dbe3ee"/>
                      </a:solidFill>
                      <a:prstDash val="solid"/>
                    </a:lnT>
                    <a:lnB w="12240">
                      <a:solidFill>
                        <a:srgbClr val="dbe3e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88560" rIns="8856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50" spc="-1" strike="noStrike">
                          <a:solidFill>
                            <a:srgbClr val="00786b"/>
                          </a:solidFill>
                          <a:latin typeface="Calibri"/>
                          <a:ea typeface="Calibri"/>
                        </a:rPr>
                        <a:t>Visual DAG, no redeploy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12240">
                      <a:solidFill>
                        <a:srgbClr val="dbe3ee"/>
                      </a:solidFill>
                      <a:prstDash val="solid"/>
                    </a:lnL>
                    <a:lnR w="12240">
                      <a:solidFill>
                        <a:srgbClr val="dbe3ee"/>
                      </a:solidFill>
                      <a:prstDash val="solid"/>
                    </a:lnR>
                    <a:lnT w="12240">
                      <a:solidFill>
                        <a:srgbClr val="dbe3ee"/>
                      </a:solidFill>
                      <a:prstDash val="solid"/>
                    </a:lnT>
                    <a:lnB w="12240">
                      <a:solidFill>
                        <a:srgbClr val="dbe3ee"/>
                      </a:solidFill>
                      <a:prstDash val="solid"/>
                    </a:lnB>
                    <a:solidFill>
                      <a:srgbClr val="eaf6f4"/>
                    </a:solidFill>
                  </a:tcPr>
                </a:tc>
                <a:tc>
                  <a:txBody>
                    <a:bodyPr lIns="88560" rIns="8856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1b2a3a"/>
                          </a:solidFill>
                          <a:latin typeface="Calibri"/>
                          <a:ea typeface="Calibri"/>
                        </a:rPr>
                        <a:t>Code-first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12240">
                      <a:solidFill>
                        <a:srgbClr val="dbe3ee"/>
                      </a:solidFill>
                      <a:prstDash val="solid"/>
                    </a:lnL>
                    <a:lnR w="12240">
                      <a:solidFill>
                        <a:srgbClr val="dbe3ee"/>
                      </a:solidFill>
                      <a:prstDash val="solid"/>
                    </a:lnR>
                    <a:lnT w="12240">
                      <a:solidFill>
                        <a:srgbClr val="dbe3ee"/>
                      </a:solidFill>
                      <a:prstDash val="solid"/>
                    </a:lnT>
                    <a:lnB w="12240">
                      <a:solidFill>
                        <a:srgbClr val="dbe3e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88560" rIns="8856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1b2a3a"/>
                          </a:solidFill>
                          <a:latin typeface="Calibri"/>
                          <a:ea typeface="Calibri"/>
                        </a:rPr>
                        <a:t>GUI or hand-coded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12240">
                      <a:solidFill>
                        <a:srgbClr val="dbe3ee"/>
                      </a:solidFill>
                      <a:prstDash val="solid"/>
                    </a:lnL>
                    <a:lnR w="12240">
                      <a:solidFill>
                        <a:srgbClr val="dbe3ee"/>
                      </a:solidFill>
                      <a:prstDash val="solid"/>
                    </a:lnR>
                    <a:lnT w="12240">
                      <a:solidFill>
                        <a:srgbClr val="dbe3ee"/>
                      </a:solidFill>
                      <a:prstDash val="solid"/>
                    </a:lnT>
                    <a:lnB w="12240">
                      <a:solidFill>
                        <a:srgbClr val="dbe3e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</a:tr>
              <a:tr h="462240">
                <a:tc>
                  <a:txBody>
                    <a:bodyPr lIns="88560" rIns="8856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1b2a3a"/>
                          </a:solidFill>
                          <a:latin typeface="Calibri"/>
                          <a:ea typeface="Calibri"/>
                        </a:rPr>
                        <a:t>Governance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12240">
                      <a:solidFill>
                        <a:srgbClr val="dbe3ee"/>
                      </a:solidFill>
                      <a:prstDash val="solid"/>
                    </a:lnL>
                    <a:lnR w="12240">
                      <a:solidFill>
                        <a:srgbClr val="dbe3ee"/>
                      </a:solidFill>
                      <a:prstDash val="solid"/>
                    </a:lnR>
                    <a:lnT w="12240">
                      <a:solidFill>
                        <a:srgbClr val="dbe3ee"/>
                      </a:solidFill>
                      <a:prstDash val="solid"/>
                    </a:lnT>
                    <a:lnB w="12240">
                      <a:solidFill>
                        <a:srgbClr val="dbe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8560" rIns="8856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50" spc="-1" strike="noStrike">
                          <a:solidFill>
                            <a:srgbClr val="00786b"/>
                          </a:solidFill>
                          <a:latin typeface="Calibri"/>
                          <a:ea typeface="Calibri"/>
                        </a:rPr>
                        <a:t>RBAC, API keys, audit built in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12240">
                      <a:solidFill>
                        <a:srgbClr val="dbe3ee"/>
                      </a:solidFill>
                      <a:prstDash val="solid"/>
                    </a:lnL>
                    <a:lnR w="12240">
                      <a:solidFill>
                        <a:srgbClr val="dbe3ee"/>
                      </a:solidFill>
                      <a:prstDash val="solid"/>
                    </a:lnR>
                    <a:lnT w="12240">
                      <a:solidFill>
                        <a:srgbClr val="dbe3ee"/>
                      </a:solidFill>
                      <a:prstDash val="solid"/>
                    </a:lnT>
                    <a:lnB w="12240">
                      <a:solidFill>
                        <a:srgbClr val="dbe3ee"/>
                      </a:solidFill>
                      <a:prstDash val="solid"/>
                    </a:lnB>
                    <a:solidFill>
                      <a:srgbClr val="eaf6f4"/>
                    </a:solidFill>
                  </a:tcPr>
                </a:tc>
                <a:tc>
                  <a:txBody>
                    <a:bodyPr lIns="88560" rIns="8856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1b2a3a"/>
                          </a:solidFill>
                          <a:latin typeface="Calibri"/>
                          <a:ea typeface="Calibri"/>
                        </a:rPr>
                        <a:t>Add-on / DIY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12240">
                      <a:solidFill>
                        <a:srgbClr val="dbe3ee"/>
                      </a:solidFill>
                      <a:prstDash val="solid"/>
                    </a:lnL>
                    <a:lnR w="12240">
                      <a:solidFill>
                        <a:srgbClr val="dbe3ee"/>
                      </a:solidFill>
                      <a:prstDash val="solid"/>
                    </a:lnR>
                    <a:lnT w="12240">
                      <a:solidFill>
                        <a:srgbClr val="dbe3ee"/>
                      </a:solidFill>
                      <a:prstDash val="solid"/>
                    </a:lnT>
                    <a:lnB w="12240">
                      <a:solidFill>
                        <a:srgbClr val="dbe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8560" rIns="8856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1b2a3a"/>
                          </a:solidFill>
                          <a:latin typeface="Calibri"/>
                          <a:ea typeface="Calibri"/>
                        </a:rPr>
                        <a:t>DIY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12240">
                      <a:solidFill>
                        <a:srgbClr val="dbe3ee"/>
                      </a:solidFill>
                      <a:prstDash val="solid"/>
                    </a:lnL>
                    <a:lnR w="12240">
                      <a:solidFill>
                        <a:srgbClr val="dbe3ee"/>
                      </a:solidFill>
                      <a:prstDash val="solid"/>
                    </a:lnR>
                    <a:lnT w="12240">
                      <a:solidFill>
                        <a:srgbClr val="dbe3ee"/>
                      </a:solidFill>
                      <a:prstDash val="solid"/>
                    </a:lnT>
                    <a:lnB w="12240">
                      <a:solidFill>
                        <a:srgbClr val="dbe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2240">
                <a:tc>
                  <a:txBody>
                    <a:bodyPr lIns="88560" rIns="8856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1b2a3a"/>
                          </a:solidFill>
                          <a:latin typeface="Calibri"/>
                          <a:ea typeface="Calibri"/>
                        </a:rPr>
                        <a:t>Footprint &amp; cost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12240">
                      <a:solidFill>
                        <a:srgbClr val="dbe3ee"/>
                      </a:solidFill>
                      <a:prstDash val="solid"/>
                    </a:lnL>
                    <a:lnR w="12240">
                      <a:solidFill>
                        <a:srgbClr val="dbe3ee"/>
                      </a:solidFill>
                      <a:prstDash val="solid"/>
                    </a:lnR>
                    <a:lnT w="12240">
                      <a:solidFill>
                        <a:srgbClr val="dbe3ee"/>
                      </a:solidFill>
                      <a:prstDash val="solid"/>
                    </a:lnT>
                    <a:lnB w="12240">
                      <a:solidFill>
                        <a:srgbClr val="dbe3e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88560" rIns="8856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50" spc="-1" strike="noStrike">
                          <a:solidFill>
                            <a:srgbClr val="00786b"/>
                          </a:solidFill>
                          <a:latin typeface="Calibri"/>
                          <a:ea typeface="Calibri"/>
                        </a:rPr>
                        <a:t>Low — one machine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12240">
                      <a:solidFill>
                        <a:srgbClr val="dbe3ee"/>
                      </a:solidFill>
                      <a:prstDash val="solid"/>
                    </a:lnL>
                    <a:lnR w="12240">
                      <a:solidFill>
                        <a:srgbClr val="dbe3ee"/>
                      </a:solidFill>
                      <a:prstDash val="solid"/>
                    </a:lnR>
                    <a:lnT w="12240">
                      <a:solidFill>
                        <a:srgbClr val="dbe3ee"/>
                      </a:solidFill>
                      <a:prstDash val="solid"/>
                    </a:lnT>
                    <a:lnB w="12240">
                      <a:solidFill>
                        <a:srgbClr val="dbe3ee"/>
                      </a:solidFill>
                      <a:prstDash val="solid"/>
                    </a:lnB>
                    <a:solidFill>
                      <a:srgbClr val="eaf6f4"/>
                    </a:solidFill>
                  </a:tcPr>
                </a:tc>
                <a:tc>
                  <a:txBody>
                    <a:bodyPr lIns="88560" rIns="8856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1b2a3a"/>
                          </a:solidFill>
                          <a:latin typeface="Calibri"/>
                          <a:ea typeface="Calibri"/>
                        </a:rPr>
                        <a:t>High — cluster ops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12240">
                      <a:solidFill>
                        <a:srgbClr val="dbe3ee"/>
                      </a:solidFill>
                      <a:prstDash val="solid"/>
                    </a:lnL>
                    <a:lnR w="12240">
                      <a:solidFill>
                        <a:srgbClr val="dbe3ee"/>
                      </a:solidFill>
                      <a:prstDash val="solid"/>
                    </a:lnR>
                    <a:lnT w="12240">
                      <a:solidFill>
                        <a:srgbClr val="dbe3ee"/>
                      </a:solidFill>
                      <a:prstDash val="solid"/>
                    </a:lnT>
                    <a:lnB w="12240">
                      <a:solidFill>
                        <a:srgbClr val="dbe3e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88560" rIns="8856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1b2a3a"/>
                          </a:solidFill>
                          <a:latin typeface="Calibri"/>
                          <a:ea typeface="Calibri"/>
                        </a:rPr>
                        <a:t>Medium to high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12240">
                      <a:solidFill>
                        <a:srgbClr val="dbe3ee"/>
                      </a:solidFill>
                      <a:prstDash val="solid"/>
                    </a:lnL>
                    <a:lnR w="12240">
                      <a:solidFill>
                        <a:srgbClr val="dbe3ee"/>
                      </a:solidFill>
                      <a:prstDash val="solid"/>
                    </a:lnR>
                    <a:lnT w="12240">
                      <a:solidFill>
                        <a:srgbClr val="dbe3ee"/>
                      </a:solidFill>
                      <a:prstDash val="solid"/>
                    </a:lnT>
                    <a:lnB w="12240">
                      <a:solidFill>
                        <a:srgbClr val="dbe3e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394" name="Shape 2"/>
          <p:cNvSpPr/>
          <p:nvPr/>
        </p:nvSpPr>
        <p:spPr>
          <a:xfrm>
            <a:off x="640080" y="5715000"/>
            <a:ext cx="10908360" cy="639720"/>
          </a:xfrm>
          <a:prstGeom prst="roundRect">
            <a:avLst>
              <a:gd name="adj" fmla="val 7143"/>
            </a:avLst>
          </a:prstGeom>
          <a:solidFill>
            <a:srgbClr val="eaf1f8"/>
          </a:solidFill>
          <a:ln w="15875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5" name="Text 3"/>
          <p:cNvSpPr/>
          <p:nvPr/>
        </p:nvSpPr>
        <p:spPr>
          <a:xfrm>
            <a:off x="914400" y="5715000"/>
            <a:ext cx="10359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00786b"/>
                </a:solidFill>
                <a:latin typeface="Calibri"/>
                <a:ea typeface="Calibri"/>
              </a:rPr>
              <a:t>Takeaway:  </a:t>
            </a:r>
            <a:r>
              <a:rPr b="0" i="1" lang="en-US" sz="1350" spc="-1" strike="noStrike">
                <a:solidFill>
                  <a:srgbClr val="12233f"/>
                </a:solidFill>
                <a:latin typeface="Calibri"/>
                <a:ea typeface="Calibri"/>
              </a:rPr>
              <a:t>Cluster-grade scale and availability from a loose cluster of simple parts — without the tightly-coupled cluster, the polyglot sprawl, or DIY governance.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Text 0"/>
          <p:cNvSpPr/>
          <p:nvPr/>
        </p:nvSpPr>
        <p:spPr>
          <a:xfrm>
            <a:off x="640080" y="438840"/>
            <a:ext cx="9600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900" spc="-1" strike="noStrike">
                <a:solidFill>
                  <a:srgbClr val="12233f"/>
                </a:solidFill>
                <a:latin typeface="Cambria"/>
                <a:ea typeface="Cambria"/>
              </a:rPr>
              <a:t>Why DishtaYantra Is Better</a:t>
            </a:r>
            <a:endParaRPr b="0" lang="en-US" sz="2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7" name="Text 1"/>
          <p:cNvSpPr/>
          <p:nvPr/>
        </p:nvSpPr>
        <p:spPr>
          <a:xfrm>
            <a:off x="10698480" y="438840"/>
            <a:ext cx="8683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00a896"/>
                </a:solidFill>
                <a:latin typeface="Cambria"/>
                <a:ea typeface="Cambria"/>
              </a:rPr>
              <a:t>A5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8" name="Shape 2"/>
          <p:cNvSpPr/>
          <p:nvPr/>
        </p:nvSpPr>
        <p:spPr>
          <a:xfrm>
            <a:off x="640080" y="1371600"/>
            <a:ext cx="3391920" cy="178272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be3ee"/>
            </a:solidFill>
            <a:round/>
          </a:ln>
          <a:effectLst>
            <a:outerShdw algn="bl" blurRad="88920" dir="5400000" dist="38160" kx="0" ky="0" rotWithShape="0" sx="100000" sy="100000">
              <a:srgbClr val="9db0c4">
                <a:alpha val="2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9" name="Shape 3"/>
          <p:cNvSpPr/>
          <p:nvPr/>
        </p:nvSpPr>
        <p:spPr>
          <a:xfrm>
            <a:off x="960120" y="1691640"/>
            <a:ext cx="731160" cy="731160"/>
          </a:xfrm>
          <a:prstGeom prst="ellipse">
            <a:avLst/>
          </a:prstGeom>
          <a:solidFill>
            <a:srgbClr val="00a89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00" name="Image 0" descr="preencoded.png"/>
          <p:cNvPicPr/>
          <p:nvPr/>
        </p:nvPicPr>
        <p:blipFill>
          <a:blip r:embed="rId1"/>
          <a:stretch/>
        </p:blipFill>
        <p:spPr>
          <a:xfrm>
            <a:off x="1172160" y="1903680"/>
            <a:ext cx="306720" cy="306720"/>
          </a:xfrm>
          <a:prstGeom prst="rect">
            <a:avLst/>
          </a:prstGeom>
          <a:ln w="0">
            <a:noFill/>
          </a:ln>
        </p:spPr>
      </p:pic>
      <p:sp>
        <p:nvSpPr>
          <p:cNvPr id="401" name="Text 4"/>
          <p:cNvSpPr/>
          <p:nvPr/>
        </p:nvSpPr>
        <p:spPr>
          <a:xfrm>
            <a:off x="1828800" y="1682640"/>
            <a:ext cx="20203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2233f"/>
                </a:solidFill>
                <a:latin typeface="Cambria"/>
                <a:ea typeface="Cambria"/>
              </a:rPr>
              <a:t>One engine, many languages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2" name="Text 5"/>
          <p:cNvSpPr/>
          <p:nvPr/>
        </p:nvSpPr>
        <p:spPr>
          <a:xfrm>
            <a:off x="960120" y="2450520"/>
            <a:ext cx="27518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b2a3a"/>
                </a:solidFill>
                <a:latin typeface="Calibri"/>
                <a:ea typeface="Calibri"/>
              </a:rPr>
              <a:t>Python, C++, Rust, JVM, Arrow, and WASM behind one interface — no polyglot ops sprawl.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3" name="Shape 6"/>
          <p:cNvSpPr/>
          <p:nvPr/>
        </p:nvSpPr>
        <p:spPr>
          <a:xfrm>
            <a:off x="4398120" y="1371600"/>
            <a:ext cx="3391920" cy="178272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be3ee"/>
            </a:solidFill>
            <a:round/>
          </a:ln>
          <a:effectLst>
            <a:outerShdw algn="bl" blurRad="88920" dir="5400000" dist="38160" kx="0" ky="0" rotWithShape="0" sx="100000" sy="100000">
              <a:srgbClr val="9db0c4">
                <a:alpha val="2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4" name="Shape 7"/>
          <p:cNvSpPr/>
          <p:nvPr/>
        </p:nvSpPr>
        <p:spPr>
          <a:xfrm>
            <a:off x="4718160" y="1691640"/>
            <a:ext cx="731160" cy="731160"/>
          </a:xfrm>
          <a:prstGeom prst="ellipse">
            <a:avLst/>
          </a:prstGeom>
          <a:solidFill>
            <a:srgbClr val="1223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05" name="Image 1" descr="preencoded.png"/>
          <p:cNvPicPr/>
          <p:nvPr/>
        </p:nvPicPr>
        <p:blipFill>
          <a:blip r:embed="rId2"/>
          <a:stretch/>
        </p:blipFill>
        <p:spPr>
          <a:xfrm>
            <a:off x="4930560" y="1903680"/>
            <a:ext cx="306720" cy="306720"/>
          </a:xfrm>
          <a:prstGeom prst="rect">
            <a:avLst/>
          </a:prstGeom>
          <a:ln w="0">
            <a:noFill/>
          </a:ln>
        </p:spPr>
      </p:pic>
      <p:sp>
        <p:nvSpPr>
          <p:cNvPr id="406" name="Text 8"/>
          <p:cNvSpPr/>
          <p:nvPr/>
        </p:nvSpPr>
        <p:spPr>
          <a:xfrm>
            <a:off x="5586840" y="1682640"/>
            <a:ext cx="20203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2233f"/>
                </a:solidFill>
                <a:latin typeface="Cambria"/>
                <a:ea typeface="Cambria"/>
              </a:rPr>
              <a:t>Reactive efficiency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7" name="Text 9"/>
          <p:cNvSpPr/>
          <p:nvPr/>
        </p:nvSpPr>
        <p:spPr>
          <a:xfrm>
            <a:off x="4718160" y="2450520"/>
            <a:ext cx="27518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b2a3a"/>
                </a:solidFill>
                <a:latin typeface="Calibri"/>
                <a:ea typeface="Calibri"/>
              </a:rPr>
              <a:t>The equality gate recomputes only on change — lower latency and cost than always-on reprocessing.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8" name="Shape 10"/>
          <p:cNvSpPr/>
          <p:nvPr/>
        </p:nvSpPr>
        <p:spPr>
          <a:xfrm>
            <a:off x="8156520" y="1371600"/>
            <a:ext cx="3391920" cy="178272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be3ee"/>
            </a:solidFill>
            <a:round/>
          </a:ln>
          <a:effectLst>
            <a:outerShdw algn="bl" blurRad="88920" dir="5400000" dist="38160" kx="0" ky="0" rotWithShape="0" sx="100000" sy="100000">
              <a:srgbClr val="9db0c4">
                <a:alpha val="2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9" name="Shape 11"/>
          <p:cNvSpPr/>
          <p:nvPr/>
        </p:nvSpPr>
        <p:spPr>
          <a:xfrm>
            <a:off x="8476560" y="1691640"/>
            <a:ext cx="731160" cy="731160"/>
          </a:xfrm>
          <a:prstGeom prst="ellipse">
            <a:avLst/>
          </a:prstGeom>
          <a:solidFill>
            <a:srgbClr val="00a89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10" name="Image 2" descr="preencoded.png"/>
          <p:cNvPicPr/>
          <p:nvPr/>
        </p:nvPicPr>
        <p:blipFill>
          <a:blip r:embed="rId3"/>
          <a:stretch/>
        </p:blipFill>
        <p:spPr>
          <a:xfrm>
            <a:off x="8688600" y="1903680"/>
            <a:ext cx="306720" cy="306720"/>
          </a:xfrm>
          <a:prstGeom prst="rect">
            <a:avLst/>
          </a:prstGeom>
          <a:ln w="0">
            <a:noFill/>
          </a:ln>
        </p:spPr>
      </p:pic>
      <p:sp>
        <p:nvSpPr>
          <p:cNvPr id="411" name="Text 12"/>
          <p:cNvSpPr/>
          <p:nvPr/>
        </p:nvSpPr>
        <p:spPr>
          <a:xfrm>
            <a:off x="9345240" y="1682640"/>
            <a:ext cx="20203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2233f"/>
                </a:solidFill>
                <a:latin typeface="Cambria"/>
                <a:ea typeface="Cambria"/>
              </a:rPr>
              <a:t>A loose cluster, not tight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2" name="Text 13"/>
          <p:cNvSpPr/>
          <p:nvPr/>
        </p:nvSpPr>
        <p:spPr>
          <a:xfrm>
            <a:off x="8476560" y="2450520"/>
            <a:ext cx="27518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b2a3a"/>
                </a:solidFill>
                <a:latin typeface="Calibri"/>
                <a:ea typeface="Calibri"/>
              </a:rPr>
              <a:t>Pair and shard single-process nodes into a scalable, highly available fleet — no cluster to coordinate.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3" name="Shape 14"/>
          <p:cNvSpPr/>
          <p:nvPr/>
        </p:nvSpPr>
        <p:spPr>
          <a:xfrm>
            <a:off x="640080" y="3474720"/>
            <a:ext cx="3391920" cy="178272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be3ee"/>
            </a:solidFill>
            <a:round/>
          </a:ln>
          <a:effectLst>
            <a:outerShdw algn="bl" blurRad="88920" dir="5400000" dist="38160" kx="0" ky="0" rotWithShape="0" sx="100000" sy="100000">
              <a:srgbClr val="9db0c4">
                <a:alpha val="2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4" name="Shape 15"/>
          <p:cNvSpPr/>
          <p:nvPr/>
        </p:nvSpPr>
        <p:spPr>
          <a:xfrm>
            <a:off x="960120" y="3794760"/>
            <a:ext cx="731160" cy="731160"/>
          </a:xfrm>
          <a:prstGeom prst="ellipse">
            <a:avLst/>
          </a:prstGeom>
          <a:solidFill>
            <a:srgbClr val="1223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15" name="Image 3" descr="preencoded.png"/>
          <p:cNvPicPr/>
          <p:nvPr/>
        </p:nvPicPr>
        <p:blipFill>
          <a:blip r:embed="rId4"/>
          <a:stretch/>
        </p:blipFill>
        <p:spPr>
          <a:xfrm>
            <a:off x="1172160" y="4006800"/>
            <a:ext cx="306720" cy="306720"/>
          </a:xfrm>
          <a:prstGeom prst="rect">
            <a:avLst/>
          </a:prstGeom>
          <a:ln w="0">
            <a:noFill/>
          </a:ln>
        </p:spPr>
      </p:pic>
      <p:sp>
        <p:nvSpPr>
          <p:cNvPr id="416" name="Text 16"/>
          <p:cNvSpPr/>
          <p:nvPr/>
        </p:nvSpPr>
        <p:spPr>
          <a:xfrm>
            <a:off x="1828800" y="3785760"/>
            <a:ext cx="20203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2233f"/>
                </a:solidFill>
                <a:latin typeface="Cambria"/>
                <a:ea typeface="Cambria"/>
              </a:rPr>
              <a:t>Visual, no redeploy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7" name="Text 17"/>
          <p:cNvSpPr/>
          <p:nvPr/>
        </p:nvSpPr>
        <p:spPr>
          <a:xfrm>
            <a:off x="960120" y="4553640"/>
            <a:ext cx="27518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b2a3a"/>
                </a:solidFill>
                <a:latin typeface="Calibri"/>
                <a:ea typeface="Calibri"/>
              </a:rPr>
              <a:t>Build and change pipelines in the browser — iterate at the speed of the business.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8" name="Shape 18"/>
          <p:cNvSpPr/>
          <p:nvPr/>
        </p:nvSpPr>
        <p:spPr>
          <a:xfrm>
            <a:off x="4398120" y="3474720"/>
            <a:ext cx="3391920" cy="178272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be3ee"/>
            </a:solidFill>
            <a:round/>
          </a:ln>
          <a:effectLst>
            <a:outerShdw algn="bl" blurRad="88920" dir="5400000" dist="38160" kx="0" ky="0" rotWithShape="0" sx="100000" sy="100000">
              <a:srgbClr val="9db0c4">
                <a:alpha val="2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9" name="Shape 19"/>
          <p:cNvSpPr/>
          <p:nvPr/>
        </p:nvSpPr>
        <p:spPr>
          <a:xfrm>
            <a:off x="4718160" y="3794760"/>
            <a:ext cx="731160" cy="731160"/>
          </a:xfrm>
          <a:prstGeom prst="ellipse">
            <a:avLst/>
          </a:prstGeom>
          <a:solidFill>
            <a:srgbClr val="00a89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20" name="Image 4" descr="preencoded.png"/>
          <p:cNvPicPr/>
          <p:nvPr/>
        </p:nvPicPr>
        <p:blipFill>
          <a:blip r:embed="rId5"/>
          <a:stretch/>
        </p:blipFill>
        <p:spPr>
          <a:xfrm>
            <a:off x="4930560" y="4006800"/>
            <a:ext cx="306720" cy="306720"/>
          </a:xfrm>
          <a:prstGeom prst="rect">
            <a:avLst/>
          </a:prstGeom>
          <a:ln w="0">
            <a:noFill/>
          </a:ln>
        </p:spPr>
      </p:pic>
      <p:sp>
        <p:nvSpPr>
          <p:cNvPr id="421" name="Text 20"/>
          <p:cNvSpPr/>
          <p:nvPr/>
        </p:nvSpPr>
        <p:spPr>
          <a:xfrm>
            <a:off x="5586840" y="3785760"/>
            <a:ext cx="20203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2233f"/>
                </a:solidFill>
                <a:latin typeface="Cambria"/>
                <a:ea typeface="Cambria"/>
              </a:rPr>
              <a:t>Governance built in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2" name="Text 21"/>
          <p:cNvSpPr/>
          <p:nvPr/>
        </p:nvSpPr>
        <p:spPr>
          <a:xfrm>
            <a:off x="4718160" y="4553640"/>
            <a:ext cx="27518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b2a3a"/>
                </a:solidFill>
                <a:latin typeface="Calibri"/>
                <a:ea typeface="Calibri"/>
              </a:rPr>
              <a:t>RBAC, scoped API keys, audit, and safe maintenance windows ship in the box.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3" name="Shape 22"/>
          <p:cNvSpPr/>
          <p:nvPr/>
        </p:nvSpPr>
        <p:spPr>
          <a:xfrm>
            <a:off x="8156520" y="3474720"/>
            <a:ext cx="3391920" cy="178272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be3ee"/>
            </a:solidFill>
            <a:round/>
          </a:ln>
          <a:effectLst>
            <a:outerShdw algn="bl" blurRad="88920" dir="5400000" dist="38160" kx="0" ky="0" rotWithShape="0" sx="100000" sy="100000">
              <a:srgbClr val="9db0c4">
                <a:alpha val="2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4" name="Shape 23"/>
          <p:cNvSpPr/>
          <p:nvPr/>
        </p:nvSpPr>
        <p:spPr>
          <a:xfrm>
            <a:off x="8476560" y="3794760"/>
            <a:ext cx="731160" cy="731160"/>
          </a:xfrm>
          <a:prstGeom prst="ellipse">
            <a:avLst/>
          </a:prstGeom>
          <a:solidFill>
            <a:srgbClr val="1223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25" name="Image 5" descr="preencoded.png"/>
          <p:cNvPicPr/>
          <p:nvPr/>
        </p:nvPicPr>
        <p:blipFill>
          <a:blip r:embed="rId6"/>
          <a:stretch/>
        </p:blipFill>
        <p:spPr>
          <a:xfrm>
            <a:off x="8688600" y="4006800"/>
            <a:ext cx="306720" cy="306720"/>
          </a:xfrm>
          <a:prstGeom prst="rect">
            <a:avLst/>
          </a:prstGeom>
          <a:ln w="0">
            <a:noFill/>
          </a:ln>
        </p:spPr>
      </p:pic>
      <p:sp>
        <p:nvSpPr>
          <p:cNvPr id="426" name="Text 24"/>
          <p:cNvSpPr/>
          <p:nvPr/>
        </p:nvSpPr>
        <p:spPr>
          <a:xfrm>
            <a:off x="9345240" y="3785760"/>
            <a:ext cx="20203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2233f"/>
                </a:solidFill>
                <a:latin typeface="Cambria"/>
                <a:ea typeface="Cambria"/>
              </a:rPr>
              <a:t>Columnar Arrow lane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7" name="Text 25"/>
          <p:cNvSpPr/>
          <p:nvPr/>
        </p:nvSpPr>
        <p:spPr>
          <a:xfrm>
            <a:off x="8476560" y="4553640"/>
            <a:ext cx="27518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b2a3a"/>
                </a:solidFill>
                <a:latin typeface="Calibri"/>
                <a:ea typeface="Calibri"/>
              </a:rPr>
              <a:t>On-demand vectorized throughput (~7.4x the row lane), bit-for-bit identical results.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2026-06-22T17:44:22Z</dcterms:created>
  <dc:creator>Ashutosh Sinha</dc:creator>
  <dc:description/>
  <dc:language>en-US</dc:language>
  <cp:lastModifiedBy>Ashutosh Sinha</cp:lastModifiedBy>
  <dcterms:modified xsi:type="dcterms:W3CDTF">2026-06-22T17:44:22Z</dcterms:modified>
  <cp:revision>1</cp:revision>
  <dc:subject>PptxGenJS Presentation</dc:subject>
  <dc:title>DishtaYantra — Executive Overview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22</vt:r8>
  </property>
  <property fmtid="{D5CDD505-2E9C-101B-9397-08002B2CF9AE}" pid="3" name="PresentationFormat">
    <vt:lpwstr>On-screen Show (16:9)</vt:lpwstr>
  </property>
  <property fmtid="{D5CDD505-2E9C-101B-9397-08002B2CF9AE}" pid="4" name="Slides">
    <vt:r8>22</vt:r8>
  </property>
</Properties>
</file>